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46304" cy="6858000"/>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00200"/>
            <a:ext cx="10058400" cy="274320"/>
          </a:xfrm>
          <a:prstGeom prst="rect">
            <a:avLst/>
          </a:prstGeom>
          <a:noFill/>
        </p:spPr>
        <p:txBody>
          <a:bodyPr wrap="square" lIns="0" rIns="0" tIns="0" bIns="0" anchor="t">
            <a:spAutoFit/>
          </a:bodyPr>
          <a:lstStyle/>
          <a:p>
            <a:pPr algn="l"/>
            <a:r>
              <a:rPr sz="1100" b="1" i="0">
                <a:solidFill>
                  <a:srgbClr val="29B5E8"/>
                </a:solidFill>
                <a:latin typeface="Calibri"/>
              </a:rPr>
              <a:t>ARKEMA  ·  PRICING COCKPIT  ·  APP PRODUCTIONALIZATION</a:t>
            </a:r>
          </a:p>
        </p:txBody>
      </p:sp>
      <p:sp>
        <p:nvSpPr>
          <p:cNvPr id="5" name="TextBox 4"/>
          <p:cNvSpPr txBox="1"/>
          <p:nvPr/>
        </p:nvSpPr>
        <p:spPr>
          <a:xfrm>
            <a:off x="1005840" y="2057400"/>
            <a:ext cx="10241280" cy="914400"/>
          </a:xfrm>
          <a:prstGeom prst="rect">
            <a:avLst/>
          </a:prstGeom>
          <a:noFill/>
        </p:spPr>
        <p:txBody>
          <a:bodyPr wrap="square" lIns="0" rIns="0" tIns="0" bIns="0" anchor="t">
            <a:spAutoFit/>
          </a:bodyPr>
          <a:lstStyle/>
          <a:p>
            <a:pPr algn="l"/>
            <a:r>
              <a:rPr sz="4400" b="1" i="0">
                <a:solidFill>
                  <a:srgbClr val="FFFFFF"/>
                </a:solidFill>
                <a:latin typeface="Calibri"/>
              </a:rPr>
              <a:t>ARC Architecture</a:t>
            </a:r>
          </a:p>
        </p:txBody>
      </p:sp>
      <p:sp>
        <p:nvSpPr>
          <p:cNvPr id="6" name="TextBox 5"/>
          <p:cNvSpPr txBox="1"/>
          <p:nvPr/>
        </p:nvSpPr>
        <p:spPr>
          <a:xfrm>
            <a:off x="1005840" y="2971800"/>
            <a:ext cx="9692640" cy="868680"/>
          </a:xfrm>
          <a:prstGeom prst="rect">
            <a:avLst/>
          </a:prstGeom>
          <a:noFill/>
        </p:spPr>
        <p:txBody>
          <a:bodyPr wrap="square" lIns="0" rIns="0" tIns="0" bIns="0" anchor="t">
            <a:spAutoFit/>
          </a:bodyPr>
          <a:lstStyle/>
          <a:p>
            <a:pPr algn="l"/>
            <a:r>
              <a:rPr sz="1500" b="0" i="0">
                <a:solidFill>
                  <a:srgbClr val="8A99AD"/>
                </a:solidFill>
                <a:latin typeface="Calibri"/>
              </a:rPr>
              <a:t>As-built architecture of the ARC / Pricing Cockpit application,</a:t>
            </a:r>
          </a:p>
          <a:p>
            <a:pPr algn="l"/>
            <a:r>
              <a:rPr sz="1500" b="0" i="0">
                <a:solidFill>
                  <a:srgbClr val="8A99AD"/>
                </a:solidFill>
                <a:latin typeface="Calibri"/>
              </a:rPr>
              <a:t>derived by reading the source repository directly.</a:t>
            </a:r>
          </a:p>
        </p:txBody>
      </p:sp>
      <p:sp>
        <p:nvSpPr>
          <p:cNvPr id="7" name="Rounded Rectangle 6"/>
          <p:cNvSpPr/>
          <p:nvPr/>
        </p:nvSpPr>
        <p:spPr>
          <a:xfrm>
            <a:off x="1005840" y="4069080"/>
            <a:ext cx="3840480" cy="27432"/>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343400"/>
            <a:ext cx="5120640" cy="1097280"/>
          </a:xfrm>
          <a:prstGeom prst="rect">
            <a:avLst/>
          </a:prstGeom>
          <a:noFill/>
        </p:spPr>
        <p:txBody>
          <a:bodyPr wrap="square" lIns="0" rIns="0" tIns="0" bIns="0" anchor="t">
            <a:spAutoFit/>
          </a:bodyPr>
          <a:lstStyle/>
          <a:p>
            <a:pPr algn="l">
              <a:spcAft>
                <a:spcPts val="300"/>
              </a:spcAft>
            </a:pPr>
            <a:r>
              <a:rPr sz="1100" b="0" i="0">
                <a:solidFill>
                  <a:srgbClr val="FFFFFF"/>
                </a:solidFill>
                <a:latin typeface="Calibri"/>
              </a:rPr>
              <a:t>William Lin</a:t>
            </a:r>
          </a:p>
          <a:p>
            <a:pPr algn="l">
              <a:spcAft>
                <a:spcPts val="300"/>
              </a:spcAft>
            </a:pPr>
            <a:r>
              <a:rPr sz="1100" b="0" i="0">
                <a:solidFill>
                  <a:srgbClr val="FFFFFF"/>
                </a:solidFill>
                <a:latin typeface="Calibri"/>
              </a:rPr>
              <a:t>Snowflake Professional Services</a:t>
            </a:r>
          </a:p>
          <a:p>
            <a:pPr algn="l">
              <a:spcAft>
                <a:spcPts val="300"/>
              </a:spcAft>
            </a:pPr>
            <a:r>
              <a:rPr sz="1100" b="0" i="0">
                <a:solidFill>
                  <a:srgbClr val="FFFFFF"/>
                </a:solidFill>
                <a:latin typeface="Calibri"/>
              </a:rPr>
              <a:t>App Productionalization workstream</a:t>
            </a:r>
          </a:p>
        </p:txBody>
      </p:sp>
      <p:sp>
        <p:nvSpPr>
          <p:cNvPr id="9" name="TextBox 8"/>
          <p:cNvSpPr txBox="1"/>
          <p:nvPr/>
        </p:nvSpPr>
        <p:spPr>
          <a:xfrm>
            <a:off x="6766560" y="4343400"/>
            <a:ext cx="4389120" cy="1280160"/>
          </a:xfrm>
          <a:prstGeom prst="rect">
            <a:avLst/>
          </a:prstGeom>
          <a:noFill/>
        </p:spPr>
        <p:txBody>
          <a:bodyPr wrap="square" lIns="0" rIns="0" tIns="0" bIns="0" anchor="t">
            <a:spAutoFit/>
          </a:bodyPr>
          <a:lstStyle/>
          <a:p>
            <a:pPr algn="l">
              <a:spcAft>
                <a:spcPts val="300"/>
              </a:spcAft>
            </a:pPr>
            <a:r>
              <a:rPr sz="1100" b="0" i="0">
                <a:solidFill>
                  <a:srgbClr val="8A99AD"/>
                </a:solidFill>
                <a:latin typeface="Calibri"/>
              </a:rPr>
              <a:t>September 18, 2026</a:t>
            </a:r>
          </a:p>
          <a:p>
            <a:pPr algn="l">
              <a:spcAft>
                <a:spcPts val="300"/>
              </a:spcAft>
            </a:pPr>
            <a:r>
              <a:rPr sz="1100" b="0" i="0">
                <a:solidFill>
                  <a:srgbClr val="8A99AD"/>
                </a:solidFill>
                <a:latin typeface="Calibri"/>
              </a:rPr>
              <a:t>Source:  arkema-pricing-ss/arc/</a:t>
            </a:r>
          </a:p>
          <a:p>
            <a:pPr algn="l">
              <a:spcAft>
                <a:spcPts val="300"/>
              </a:spcAft>
            </a:pPr>
            <a:r>
              <a:rPr sz="1100" b="0" i="0">
                <a:solidFill>
                  <a:srgbClr val="8A99AD"/>
                </a:solidFill>
                <a:latin typeface="Calibri"/>
              </a:rPr>
              <a:t>Detail:  20260918_Architecture.md</a:t>
            </a:r>
          </a:p>
        </p:txBody>
      </p:sp>
      <p:sp>
        <p:nvSpPr>
          <p:cNvPr id="10" name="Rounded Rectangle 9"/>
          <p:cNvSpPr/>
          <p:nvPr/>
        </p:nvSpPr>
        <p:spPr>
          <a:xfrm>
            <a:off x="1005840" y="5715000"/>
            <a:ext cx="8138160" cy="566928"/>
          </a:xfrm>
          <a:prstGeom prst="roundRect">
            <a:avLst/>
          </a:prstGeom>
          <a:solidFill>
            <a:srgbClr val="1C3655"/>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5833872"/>
            <a:ext cx="7772400" cy="365760"/>
          </a:xfrm>
          <a:prstGeom prst="rect">
            <a:avLst/>
          </a:prstGeom>
          <a:noFill/>
        </p:spPr>
        <p:txBody>
          <a:bodyPr wrap="square" lIns="0" rIns="0" tIns="0" bIns="0" anchor="t">
            <a:spAutoFit/>
          </a:bodyPr>
          <a:lstStyle/>
          <a:p>
            <a:pPr algn="l"/>
            <a:r>
              <a:rPr sz="1100" b="1" i="0">
                <a:solidFill>
                  <a:srgbClr val="FFFFFF"/>
                </a:solidFill>
                <a:latin typeface="Calibri"/>
              </a:rPr>
              <a:t>Key finding:  arc/ contains TWO complete applications, on two databases.  See slide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2 — TIER ARCHITECTURE</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One container, one connection, two routers</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Shared by both application variants. 93 FastAPI routes across 5 modules.</a:t>
            </a:r>
          </a:p>
        </p:txBody>
      </p:sp>
      <p:sp>
        <p:nvSpPr>
          <p:cNvPr id="7" name="Rounded Rectangle 6"/>
          <p:cNvSpPr/>
          <p:nvPr/>
        </p:nvSpPr>
        <p:spPr>
          <a:xfrm>
            <a:off x="685800" y="1298448"/>
            <a:ext cx="3108960" cy="749808"/>
          </a:xfrm>
          <a:prstGeom prst="roundRect">
            <a:avLst/>
          </a:prstGeom>
          <a:solidFill>
            <a:srgbClr val="F2F6FA"/>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389888"/>
            <a:ext cx="2889504" cy="274320"/>
          </a:xfrm>
          <a:prstGeom prst="rect">
            <a:avLst/>
          </a:prstGeom>
          <a:noFill/>
        </p:spPr>
        <p:txBody>
          <a:bodyPr wrap="square" lIns="0" rIns="0" tIns="0" bIns="0" anchor="t">
            <a:spAutoFit/>
          </a:bodyPr>
          <a:lstStyle/>
          <a:p>
            <a:pPr algn="ctr"/>
            <a:r>
              <a:rPr sz="1300" b="1" i="0">
                <a:solidFill>
                  <a:srgbClr val="11253F"/>
                </a:solidFill>
                <a:latin typeface="Calibri"/>
              </a:rPr>
              <a:t>Browser</a:t>
            </a:r>
          </a:p>
        </p:txBody>
      </p:sp>
      <p:sp>
        <p:nvSpPr>
          <p:cNvPr id="9" name="TextBox 8"/>
          <p:cNvSpPr txBox="1"/>
          <p:nvPr/>
        </p:nvSpPr>
        <p:spPr>
          <a:xfrm>
            <a:off x="795528" y="1645920"/>
            <a:ext cx="2889504" cy="347471"/>
          </a:xfrm>
          <a:prstGeom prst="rect">
            <a:avLst/>
          </a:prstGeom>
          <a:noFill/>
        </p:spPr>
        <p:txBody>
          <a:bodyPr wrap="square" lIns="0" rIns="0" tIns="0" bIns="0" anchor="t">
            <a:spAutoFit/>
          </a:bodyPr>
          <a:lstStyle/>
          <a:p>
            <a:pPr algn="ctr"/>
            <a:r>
              <a:rPr sz="850" b="0" i="0">
                <a:solidFill>
                  <a:srgbClr val="11253F"/>
                </a:solidFill>
                <a:latin typeface="Calibri"/>
              </a:rPr>
              <a:t>React 18 · TypeScript · Vite 5 · Tailwind</a:t>
            </a:r>
          </a:p>
          <a:p>
            <a:pPr algn="ctr"/>
            <a:r>
              <a:rPr sz="850" b="0" i="0">
                <a:solidFill>
                  <a:srgbClr val="11253F"/>
                </a:solidFill>
                <a:latin typeface="Calibri"/>
              </a:rPr>
              <a:t>Leaflet (map) · Vega-Lite · Recharts</a:t>
            </a:r>
          </a:p>
        </p:txBody>
      </p:sp>
      <p:sp>
        <p:nvSpPr>
          <p:cNvPr id="10" name="TextBox 9"/>
          <p:cNvSpPr txBox="1"/>
          <p:nvPr/>
        </p:nvSpPr>
        <p:spPr>
          <a:xfrm>
            <a:off x="3931920" y="1426464"/>
            <a:ext cx="2651760" cy="457200"/>
          </a:xfrm>
          <a:prstGeom prst="rect">
            <a:avLst/>
          </a:prstGeom>
          <a:noFill/>
        </p:spPr>
        <p:txBody>
          <a:bodyPr wrap="square" lIns="0" rIns="0" tIns="0" bIns="0" anchor="t">
            <a:spAutoFit/>
          </a:bodyPr>
          <a:lstStyle/>
          <a:p>
            <a:pPr algn="l"/>
            <a:r>
              <a:rPr sz="850" b="1" i="0">
                <a:solidFill>
                  <a:srgbClr val="C43B3B"/>
                </a:solidFill>
                <a:latin typeface="Calibri"/>
              </a:rPr>
              <a:t>HTTPS</a:t>
            </a:r>
          </a:p>
          <a:p>
            <a:pPr algn="l"/>
            <a:r>
              <a:rPr sz="850" b="1" i="0">
                <a:solidFill>
                  <a:srgbClr val="C43B3B"/>
                </a:solidFill>
                <a:latin typeface="Calibri"/>
              </a:rPr>
              <a:t>X-ARC-Persona header</a:t>
            </a:r>
          </a:p>
        </p:txBody>
      </p:sp>
      <p:cxnSp>
        <p:nvCxnSpPr>
          <p:cNvPr id="11" name="Connector 10"/>
          <p:cNvCxnSpPr/>
          <p:nvPr/>
        </p:nvCxnSpPr>
        <p:spPr>
          <a:xfrm>
            <a:off x="2240280" y="2048256"/>
            <a:ext cx="0" cy="347472"/>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 y="2395728"/>
            <a:ext cx="3108960" cy="566928"/>
          </a:xfrm>
          <a:prstGeom prst="roundRect">
            <a:avLst/>
          </a:prstGeom>
          <a:solidFill>
            <a:srgbClr val="F2F6FA"/>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2487168"/>
            <a:ext cx="2889504" cy="274320"/>
          </a:xfrm>
          <a:prstGeom prst="rect">
            <a:avLst/>
          </a:prstGeom>
          <a:noFill/>
        </p:spPr>
        <p:txBody>
          <a:bodyPr wrap="square" lIns="0" rIns="0" tIns="0" bIns="0" anchor="t">
            <a:spAutoFit/>
          </a:bodyPr>
          <a:lstStyle/>
          <a:p>
            <a:pPr algn="ctr"/>
            <a:r>
              <a:rPr sz="1200" b="1" i="0">
                <a:solidFill>
                  <a:srgbClr val="11253F"/>
                </a:solidFill>
                <a:latin typeface="Calibri"/>
              </a:rPr>
              <a:t>nginx</a:t>
            </a:r>
          </a:p>
        </p:txBody>
      </p:sp>
      <p:sp>
        <p:nvSpPr>
          <p:cNvPr id="14" name="TextBox 13"/>
          <p:cNvSpPr txBox="1"/>
          <p:nvPr/>
        </p:nvSpPr>
        <p:spPr>
          <a:xfrm>
            <a:off x="795528" y="2743200"/>
            <a:ext cx="2889504" cy="164592"/>
          </a:xfrm>
          <a:prstGeom prst="rect">
            <a:avLst/>
          </a:prstGeom>
          <a:noFill/>
        </p:spPr>
        <p:txBody>
          <a:bodyPr wrap="square" lIns="0" rIns="0" tIns="0" bIns="0" anchor="t">
            <a:spAutoFit/>
          </a:bodyPr>
          <a:lstStyle/>
          <a:p>
            <a:pPr algn="ctr"/>
            <a:r>
              <a:rPr sz="850" b="0" i="0">
                <a:solidFill>
                  <a:srgbClr val="11253F"/>
                </a:solidFill>
                <a:latin typeface="Calibri"/>
              </a:rPr>
              <a:t>static build + reverse proxy /api</a:t>
            </a:r>
          </a:p>
        </p:txBody>
      </p:sp>
      <p:cxnSp>
        <p:nvCxnSpPr>
          <p:cNvPr id="15" name="Connector 14"/>
          <p:cNvCxnSpPr/>
          <p:nvPr/>
        </p:nvCxnSpPr>
        <p:spPr>
          <a:xfrm>
            <a:off x="2240280" y="2962656"/>
            <a:ext cx="0" cy="347472"/>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3310128"/>
            <a:ext cx="3108960" cy="2103120"/>
          </a:xfrm>
          <a:prstGeom prst="roundRect">
            <a:avLst/>
          </a:prstGeom>
          <a:solidFill>
            <a:srgbClr val="FFFFFF"/>
          </a:solidFill>
          <a:ln w="1905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401568"/>
            <a:ext cx="2889504" cy="237744"/>
          </a:xfrm>
          <a:prstGeom prst="rect">
            <a:avLst/>
          </a:prstGeom>
          <a:noFill/>
        </p:spPr>
        <p:txBody>
          <a:bodyPr wrap="square" lIns="0" rIns="0" tIns="0" bIns="0" anchor="t">
            <a:spAutoFit/>
          </a:bodyPr>
          <a:lstStyle/>
          <a:p>
            <a:pPr algn="ctr"/>
            <a:r>
              <a:rPr sz="1250" b="1" i="0">
                <a:solidFill>
                  <a:srgbClr val="11253F"/>
                </a:solidFill>
                <a:latin typeface="Calibri"/>
              </a:rPr>
              <a:t>FastAPI  ·  Python 3.11</a:t>
            </a:r>
          </a:p>
        </p:txBody>
      </p:sp>
      <p:sp>
        <p:nvSpPr>
          <p:cNvPr id="18" name="TextBox 17"/>
          <p:cNvSpPr txBox="1"/>
          <p:nvPr/>
        </p:nvSpPr>
        <p:spPr>
          <a:xfrm>
            <a:off x="795528" y="3648456"/>
            <a:ext cx="2889504" cy="201168"/>
          </a:xfrm>
          <a:prstGeom prst="rect">
            <a:avLst/>
          </a:prstGeom>
          <a:noFill/>
        </p:spPr>
        <p:txBody>
          <a:bodyPr wrap="square" lIns="0" rIns="0" tIns="0" bIns="0" anchor="t">
            <a:spAutoFit/>
          </a:bodyPr>
          <a:lstStyle/>
          <a:p>
            <a:pPr algn="ctr"/>
            <a:r>
              <a:rPr sz="850" b="0" i="0">
                <a:solidFill>
                  <a:srgbClr val="3E506B"/>
                </a:solidFill>
                <a:latin typeface="Calibri"/>
              </a:rPr>
              <a:t>4,378 LOC  ·  93 routes</a:t>
            </a:r>
          </a:p>
        </p:txBody>
      </p:sp>
      <p:sp>
        <p:nvSpPr>
          <p:cNvPr id="19" name="Rounded Rectangle 18"/>
          <p:cNvSpPr/>
          <p:nvPr/>
        </p:nvSpPr>
        <p:spPr>
          <a:xfrm>
            <a:off x="868680" y="3913632"/>
            <a:ext cx="2743200" cy="402336"/>
          </a:xfrm>
          <a:prstGeom prst="roundRect">
            <a:avLst/>
          </a:prstGeom>
          <a:solidFill>
            <a:srgbClr val="F2F6FA"/>
          </a:solidFill>
          <a:ln w="9525">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913632"/>
            <a:ext cx="2560320" cy="402336"/>
          </a:xfrm>
          <a:prstGeom prst="rect">
            <a:avLst/>
          </a:prstGeom>
          <a:noFill/>
        </p:spPr>
        <p:txBody>
          <a:bodyPr wrap="square" lIns="0" rIns="0" tIns="0" bIns="0" anchor="ctr">
            <a:spAutoFit/>
          </a:bodyPr>
          <a:lstStyle/>
          <a:p>
            <a:pPr algn="ctr"/>
            <a:r>
              <a:rPr sz="850" b="1" i="0">
                <a:solidFill>
                  <a:srgbClr val="11253F"/>
                </a:solidFill>
                <a:latin typeface="Calibri"/>
              </a:rPr>
              <a:t>main.py  —  49 routes  (POC)</a:t>
            </a:r>
          </a:p>
        </p:txBody>
      </p:sp>
      <p:sp>
        <p:nvSpPr>
          <p:cNvPr id="21" name="Rounded Rectangle 20"/>
          <p:cNvSpPr/>
          <p:nvPr/>
        </p:nvSpPr>
        <p:spPr>
          <a:xfrm>
            <a:off x="868680" y="4352544"/>
            <a:ext cx="2743200" cy="402336"/>
          </a:xfrm>
          <a:prstGeom prst="roundRect">
            <a:avLst/>
          </a:prstGeom>
          <a:solidFill>
            <a:srgbClr val="F2F6FA"/>
          </a:solidFill>
          <a:ln w="9525">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352544"/>
            <a:ext cx="2560320" cy="402336"/>
          </a:xfrm>
          <a:prstGeom prst="rect">
            <a:avLst/>
          </a:prstGeom>
          <a:noFill/>
        </p:spPr>
        <p:txBody>
          <a:bodyPr wrap="square" lIns="0" rIns="0" tIns="0" bIns="0" anchor="ctr">
            <a:spAutoFit/>
          </a:bodyPr>
          <a:lstStyle/>
          <a:p>
            <a:pPr algn="ctr"/>
            <a:r>
              <a:rPr sz="850" b="1" i="0">
                <a:solidFill>
                  <a:srgbClr val="11253F"/>
                </a:solidFill>
                <a:latin typeface="Calibri"/>
              </a:rPr>
              <a:t>4 × mvp_*.py  —  44 routes  (MVP)</a:t>
            </a:r>
          </a:p>
        </p:txBody>
      </p:sp>
      <p:sp>
        <p:nvSpPr>
          <p:cNvPr id="23" name="Rounded Rectangle 22"/>
          <p:cNvSpPr/>
          <p:nvPr/>
        </p:nvSpPr>
        <p:spPr>
          <a:xfrm>
            <a:off x="868680" y="4791456"/>
            <a:ext cx="2743200" cy="475488"/>
          </a:xfrm>
          <a:prstGeom prst="roundRect">
            <a:avLst/>
          </a:prstGeom>
          <a:solidFill>
            <a:srgbClr val="F2F6FA"/>
          </a:solidFill>
          <a:ln w="9525">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791456"/>
            <a:ext cx="2560320" cy="475488"/>
          </a:xfrm>
          <a:prstGeom prst="rect">
            <a:avLst/>
          </a:prstGeom>
          <a:noFill/>
        </p:spPr>
        <p:txBody>
          <a:bodyPr wrap="square" lIns="0" rIns="0" tIns="0" bIns="0" anchor="ctr">
            <a:spAutoFit/>
          </a:bodyPr>
          <a:lstStyle/>
          <a:p>
            <a:pPr algn="ctr"/>
            <a:r>
              <a:rPr sz="800" b="1" i="0">
                <a:solidFill>
                  <a:srgbClr val="11253F"/>
                </a:solidFill>
                <a:latin typeface="Calibri"/>
              </a:rPr>
              <a:t>3 service modules</a:t>
            </a:r>
          </a:p>
          <a:p>
            <a:pPr algn="ctr"/>
            <a:r>
              <a:rPr sz="800" b="1" i="0">
                <a:solidFill>
                  <a:srgbClr val="11253F"/>
                </a:solidFill>
                <a:latin typeface="Calibri"/>
              </a:rPr>
              <a:t>arc_service · nlc2_service · arc_agent_client</a:t>
            </a:r>
          </a:p>
        </p:txBody>
      </p:sp>
      <p:cxnSp>
        <p:nvCxnSpPr>
          <p:cNvPr id="25" name="Connector 24"/>
          <p:cNvCxnSpPr/>
          <p:nvPr/>
        </p:nvCxnSpPr>
        <p:spPr>
          <a:xfrm>
            <a:off x="3794760" y="4352544"/>
            <a:ext cx="822960" cy="0"/>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03904" y="3986784"/>
            <a:ext cx="1737360" cy="347472"/>
          </a:xfrm>
          <a:prstGeom prst="rect">
            <a:avLst/>
          </a:prstGeom>
          <a:noFill/>
        </p:spPr>
        <p:txBody>
          <a:bodyPr wrap="square" lIns="0" rIns="0" tIns="0" bIns="0" anchor="t">
            <a:spAutoFit/>
          </a:bodyPr>
          <a:lstStyle/>
          <a:p>
            <a:pPr algn="l"/>
            <a:r>
              <a:rPr sz="800" b="1" i="0">
                <a:solidFill>
                  <a:srgbClr val="1F9D6B"/>
                </a:solidFill>
                <a:latin typeface="Calibri"/>
              </a:rPr>
              <a:t>SPCS OAuth token</a:t>
            </a:r>
          </a:p>
          <a:p>
            <a:pPr algn="l"/>
            <a:r>
              <a:rPr sz="800" b="1" i="0">
                <a:solidFill>
                  <a:srgbClr val="1F9D6B"/>
                </a:solidFill>
                <a:latin typeface="Calibri"/>
              </a:rPr>
              <a:t>/snowflake/session/token</a:t>
            </a:r>
          </a:p>
        </p:txBody>
      </p:sp>
      <p:sp>
        <p:nvSpPr>
          <p:cNvPr id="27" name="Rounded Rectangle 26"/>
          <p:cNvSpPr/>
          <p:nvPr/>
        </p:nvSpPr>
        <p:spPr>
          <a:xfrm>
            <a:off x="4617720" y="1298448"/>
            <a:ext cx="6858000" cy="4114800"/>
          </a:xfrm>
          <a:prstGeom prst="roundRect">
            <a:avLst/>
          </a:prstGeom>
          <a:solidFill>
            <a:srgbClr val="F7FBFE"/>
          </a:solidFill>
          <a:ln w="1905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1389888"/>
            <a:ext cx="6583680" cy="256032"/>
          </a:xfrm>
          <a:prstGeom prst="rect">
            <a:avLst/>
          </a:prstGeom>
          <a:noFill/>
        </p:spPr>
        <p:txBody>
          <a:bodyPr wrap="square" lIns="0" rIns="0" tIns="0" bIns="0" anchor="t">
            <a:spAutoFit/>
          </a:bodyPr>
          <a:lstStyle/>
          <a:p>
            <a:pPr algn="ctr"/>
            <a:r>
              <a:rPr sz="1250" b="1" i="0">
                <a:solidFill>
                  <a:srgbClr val="29B5E8"/>
                </a:solidFill>
                <a:latin typeface="Calibri"/>
              </a:rPr>
              <a:t>SNOWFLAKE</a:t>
            </a:r>
          </a:p>
        </p:txBody>
      </p:sp>
      <p:sp>
        <p:nvSpPr>
          <p:cNvPr id="29" name="Rounded Rectangle 28"/>
          <p:cNvSpPr/>
          <p:nvPr/>
        </p:nvSpPr>
        <p:spPr>
          <a:xfrm>
            <a:off x="4828032" y="1737360"/>
            <a:ext cx="3154680" cy="1170432"/>
          </a:xfrm>
          <a:prstGeom prst="roundRect">
            <a:avLst/>
          </a:prstGeom>
          <a:solidFill>
            <a:srgbClr val="FFFFFF"/>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1828800"/>
            <a:ext cx="2935224" cy="274320"/>
          </a:xfrm>
          <a:prstGeom prst="rect">
            <a:avLst/>
          </a:prstGeom>
          <a:noFill/>
        </p:spPr>
        <p:txBody>
          <a:bodyPr wrap="square" lIns="0" rIns="0" tIns="0" bIns="0" anchor="t">
            <a:spAutoFit/>
          </a:bodyPr>
          <a:lstStyle/>
          <a:p>
            <a:pPr algn="ctr"/>
            <a:r>
              <a:rPr sz="1050" b="1" i="0">
                <a:solidFill>
                  <a:srgbClr val="11253F"/>
                </a:solidFill>
                <a:latin typeface="Calibri"/>
              </a:rPr>
              <a:t>ARKEMA_PRICING_DB</a:t>
            </a:r>
          </a:p>
        </p:txBody>
      </p:sp>
      <p:sp>
        <p:nvSpPr>
          <p:cNvPr id="31" name="TextBox 30"/>
          <p:cNvSpPr txBox="1"/>
          <p:nvPr/>
        </p:nvSpPr>
        <p:spPr>
          <a:xfrm>
            <a:off x="4937760" y="2084832"/>
            <a:ext cx="2935224" cy="768096"/>
          </a:xfrm>
          <a:prstGeom prst="rect">
            <a:avLst/>
          </a:prstGeom>
          <a:noFill/>
        </p:spPr>
        <p:txBody>
          <a:bodyPr wrap="square" lIns="0" rIns="0" tIns="0" bIns="0" anchor="t">
            <a:spAutoFit/>
          </a:bodyPr>
          <a:lstStyle/>
          <a:p>
            <a:pPr algn="ctr"/>
            <a:r>
              <a:rPr sz="850" b="0" i="0">
                <a:solidFill>
                  <a:srgbClr val="11253F"/>
                </a:solidFill>
                <a:latin typeface="Calibri"/>
              </a:rPr>
              <a:t>Variant A — POC / NLC2</a:t>
            </a:r>
          </a:p>
          <a:p>
            <a:pPr algn="ctr"/>
            <a:r>
              <a:rPr sz="850" b="0" i="0">
                <a:solidFill>
                  <a:srgbClr val="11253F"/>
                </a:solidFill>
                <a:latin typeface="Calibri"/>
              </a:rPr>
              <a:t/>
            </a:r>
          </a:p>
          <a:p>
            <a:pPr algn="ctr"/>
            <a:r>
              <a:rPr sz="850" b="0" i="0">
                <a:solidFill>
                  <a:srgbClr val="11253F"/>
                </a:solidFill>
                <a:latin typeface="Calibri"/>
              </a:rPr>
              <a:t>RAW → ATOMIC → MART</a:t>
            </a:r>
          </a:p>
          <a:p>
            <a:pPr algn="ctr"/>
            <a:r>
              <a:rPr sz="850" b="0" i="0">
                <a:solidFill>
                  <a:srgbClr val="11253F"/>
                </a:solidFill>
                <a:latin typeface="Calibri"/>
              </a:rPr>
              <a:t>ML · GOV · DOCS · SPCS</a:t>
            </a:r>
          </a:p>
          <a:p>
            <a:pPr algn="ctr"/>
            <a:r>
              <a:rPr sz="850" b="0" i="0">
                <a:solidFill>
                  <a:srgbClr val="11253F"/>
                </a:solidFill>
                <a:latin typeface="Calibri"/>
              </a:rPr>
              <a:t>21 files · 3,298 lines DDL</a:t>
            </a:r>
          </a:p>
        </p:txBody>
      </p:sp>
      <p:sp>
        <p:nvSpPr>
          <p:cNvPr id="32" name="Rounded Rectangle 31"/>
          <p:cNvSpPr/>
          <p:nvPr/>
        </p:nvSpPr>
        <p:spPr>
          <a:xfrm>
            <a:off x="8119872" y="1737360"/>
            <a:ext cx="3154680" cy="1170432"/>
          </a:xfrm>
          <a:prstGeom prst="roundRect">
            <a:avLst/>
          </a:prstGeom>
          <a:solidFill>
            <a:srgbClr val="FFFFFF"/>
          </a:solidFill>
          <a:ln w="2222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1828800"/>
            <a:ext cx="2935224" cy="274320"/>
          </a:xfrm>
          <a:prstGeom prst="rect">
            <a:avLst/>
          </a:prstGeom>
          <a:noFill/>
        </p:spPr>
        <p:txBody>
          <a:bodyPr wrap="square" lIns="0" rIns="0" tIns="0" bIns="0" anchor="t">
            <a:spAutoFit/>
          </a:bodyPr>
          <a:lstStyle/>
          <a:p>
            <a:pPr algn="ctr"/>
            <a:r>
              <a:rPr sz="1050" b="1" i="0">
                <a:solidFill>
                  <a:srgbClr val="11253F"/>
                </a:solidFill>
                <a:latin typeface="Calibri"/>
              </a:rPr>
              <a:t>ARKEMA_PRICING_MVP</a:t>
            </a:r>
          </a:p>
        </p:txBody>
      </p:sp>
      <p:sp>
        <p:nvSpPr>
          <p:cNvPr id="34" name="TextBox 33"/>
          <p:cNvSpPr txBox="1"/>
          <p:nvPr/>
        </p:nvSpPr>
        <p:spPr>
          <a:xfrm>
            <a:off x="8229600" y="2084832"/>
            <a:ext cx="2935224" cy="768096"/>
          </a:xfrm>
          <a:prstGeom prst="rect">
            <a:avLst/>
          </a:prstGeom>
          <a:noFill/>
        </p:spPr>
        <p:txBody>
          <a:bodyPr wrap="square" lIns="0" rIns="0" tIns="0" bIns="0" anchor="t">
            <a:spAutoFit/>
          </a:bodyPr>
          <a:lstStyle/>
          <a:p>
            <a:pPr algn="ctr"/>
            <a:r>
              <a:rPr sz="850" b="0" i="0">
                <a:solidFill>
                  <a:srgbClr val="11253F"/>
                </a:solidFill>
                <a:latin typeface="Calibri"/>
              </a:rPr>
              <a:t>Variant B — MVP Cockpit</a:t>
            </a:r>
          </a:p>
          <a:p>
            <a:pPr algn="ctr"/>
            <a:r>
              <a:rPr sz="850" b="0" i="0">
                <a:solidFill>
                  <a:srgbClr val="11253F"/>
                </a:solidFill>
                <a:latin typeface="Calibri"/>
              </a:rPr>
              <a:t/>
            </a:r>
          </a:p>
          <a:p>
            <a:pPr algn="ctr"/>
            <a:r>
              <a:rPr sz="850" b="0" i="0">
                <a:solidFill>
                  <a:srgbClr val="11253F"/>
                </a:solidFill>
                <a:latin typeface="Calibri"/>
              </a:rPr>
              <a:t>LANDING → BRONZE → GOLD</a:t>
            </a:r>
          </a:p>
          <a:p>
            <a:pPr algn="ctr"/>
            <a:r>
              <a:rPr sz="850" b="0" i="0">
                <a:solidFill>
                  <a:srgbClr val="11253F"/>
                </a:solidFill>
                <a:latin typeface="Calibri"/>
              </a:rPr>
              <a:t>GOV · UTIL</a:t>
            </a:r>
          </a:p>
          <a:p>
            <a:pPr algn="ctr"/>
            <a:r>
              <a:rPr sz="850" b="0" i="0">
                <a:solidFill>
                  <a:srgbClr val="11253F"/>
                </a:solidFill>
                <a:latin typeface="Calibri"/>
              </a:rPr>
              <a:t>27 files · 10,098 lines DDL</a:t>
            </a:r>
          </a:p>
        </p:txBody>
      </p:sp>
      <p:sp>
        <p:nvSpPr>
          <p:cNvPr id="35" name="Rounded Rectangle 34"/>
          <p:cNvSpPr/>
          <p:nvPr/>
        </p:nvSpPr>
        <p:spPr>
          <a:xfrm>
            <a:off x="4828032" y="3035808"/>
            <a:ext cx="6446520" cy="841248"/>
          </a:xfrm>
          <a:prstGeom prst="roundRect">
            <a:avLst/>
          </a:prstGeom>
          <a:solidFill>
            <a:srgbClr val="FFFFFF"/>
          </a:solidFill>
          <a:ln w="15875">
            <a:solidFill>
              <a:srgbClr val="7A5A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0" y="3127248"/>
            <a:ext cx="6227064" cy="274320"/>
          </a:xfrm>
          <a:prstGeom prst="rect">
            <a:avLst/>
          </a:prstGeom>
          <a:noFill/>
        </p:spPr>
        <p:txBody>
          <a:bodyPr wrap="square" lIns="0" rIns="0" tIns="0" bIns="0" anchor="t">
            <a:spAutoFit/>
          </a:bodyPr>
          <a:lstStyle/>
          <a:p>
            <a:pPr algn="ctr"/>
            <a:r>
              <a:rPr sz="1050" b="1" i="0">
                <a:solidFill>
                  <a:srgbClr val="11253F"/>
                </a:solidFill>
                <a:latin typeface="Calibri"/>
              </a:rPr>
              <a:t>SNOWFLAKE_INTELLIGENCE.AGENTS</a:t>
            </a:r>
          </a:p>
        </p:txBody>
      </p:sp>
      <p:sp>
        <p:nvSpPr>
          <p:cNvPr id="37" name="TextBox 36"/>
          <p:cNvSpPr txBox="1"/>
          <p:nvPr/>
        </p:nvSpPr>
        <p:spPr>
          <a:xfrm>
            <a:off x="4937760" y="3383280"/>
            <a:ext cx="6227064" cy="438912"/>
          </a:xfrm>
          <a:prstGeom prst="rect">
            <a:avLst/>
          </a:prstGeom>
          <a:noFill/>
        </p:spPr>
        <p:txBody>
          <a:bodyPr wrap="square" lIns="0" rIns="0" tIns="0" bIns="0" anchor="t">
            <a:spAutoFit/>
          </a:bodyPr>
          <a:lstStyle/>
          <a:p>
            <a:pPr algn="ctr"/>
            <a:r>
              <a:rPr sz="850" b="0" i="0">
                <a:solidFill>
                  <a:srgbClr val="11253F"/>
                </a:solidFill>
                <a:latin typeface="Calibri"/>
              </a:rPr>
              <a:t>ARC_AGENT (v1, Snowsight UI)     ·     ARC_V2_AGENT (v2, CREATE AGENT DDL)</a:t>
            </a:r>
          </a:p>
          <a:p>
            <a:pPr algn="ctr"/>
            <a:r>
              <a:rPr sz="850" b="0" i="0">
                <a:solidFill>
                  <a:srgbClr val="11253F"/>
                </a:solidFill>
                <a:latin typeface="Calibri"/>
              </a:rPr>
              <a:t>reached over REST:  POST /api/v2/…/agents/{name}:run  (SSE stream)</a:t>
            </a:r>
          </a:p>
        </p:txBody>
      </p:sp>
      <p:sp>
        <p:nvSpPr>
          <p:cNvPr id="38" name="Rounded Rectangle 37"/>
          <p:cNvSpPr/>
          <p:nvPr/>
        </p:nvSpPr>
        <p:spPr>
          <a:xfrm>
            <a:off x="4828032" y="4005072"/>
            <a:ext cx="2057400" cy="1261872"/>
          </a:xfrm>
          <a:prstGeom prst="roundRect">
            <a:avLst/>
          </a:prstGeom>
          <a:solidFill>
            <a:srgbClr val="FFFFFF"/>
          </a:solidFill>
          <a:ln w="15875">
            <a:solidFill>
              <a:srgbClr val="7A5A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4096511"/>
            <a:ext cx="1837943" cy="274320"/>
          </a:xfrm>
          <a:prstGeom prst="rect">
            <a:avLst/>
          </a:prstGeom>
          <a:noFill/>
        </p:spPr>
        <p:txBody>
          <a:bodyPr wrap="square" lIns="0" rIns="0" tIns="0" bIns="0" anchor="t">
            <a:spAutoFit/>
          </a:bodyPr>
          <a:lstStyle/>
          <a:p>
            <a:pPr algn="ctr"/>
            <a:r>
              <a:rPr sz="1000" b="1" i="0">
                <a:solidFill>
                  <a:srgbClr val="11253F"/>
                </a:solidFill>
                <a:latin typeface="Calibri"/>
              </a:rPr>
              <a:t>Cortex Analyst</a:t>
            </a:r>
          </a:p>
        </p:txBody>
      </p:sp>
      <p:sp>
        <p:nvSpPr>
          <p:cNvPr id="40" name="TextBox 39"/>
          <p:cNvSpPr txBox="1"/>
          <p:nvPr/>
        </p:nvSpPr>
        <p:spPr>
          <a:xfrm>
            <a:off x="4937760" y="4352544"/>
            <a:ext cx="1837943" cy="859536"/>
          </a:xfrm>
          <a:prstGeom prst="rect">
            <a:avLst/>
          </a:prstGeom>
          <a:noFill/>
        </p:spPr>
        <p:txBody>
          <a:bodyPr wrap="square" lIns="0" rIns="0" tIns="0" bIns="0" anchor="t">
            <a:spAutoFit/>
          </a:bodyPr>
          <a:lstStyle/>
          <a:p>
            <a:pPr algn="ctr"/>
            <a:r>
              <a:rPr sz="800" b="0" i="0">
                <a:solidFill>
                  <a:srgbClr val="11253F"/>
                </a:solidFill>
                <a:latin typeface="Calibri"/>
              </a:rPr>
              <a:t>semantic model =</a:t>
            </a:r>
          </a:p>
          <a:p>
            <a:pPr algn="ctr"/>
            <a:r>
              <a:rPr sz="800" b="0" i="0">
                <a:solidFill>
                  <a:srgbClr val="11253F"/>
                </a:solidFill>
                <a:latin typeface="Calibri"/>
              </a:rPr>
              <a:t>YAML on stage</a:t>
            </a:r>
          </a:p>
          <a:p>
            <a:pPr algn="ctr"/>
            <a:r>
              <a:rPr sz="800" b="0" i="0">
                <a:solidFill>
                  <a:srgbClr val="11253F"/>
                </a:solidFill>
                <a:latin typeface="Calibri"/>
              </a:rPr>
              <a:t/>
            </a:r>
          </a:p>
          <a:p>
            <a:pPr algn="ctr"/>
            <a:r>
              <a:rPr sz="800" b="0" i="0">
                <a:solidFill>
                  <a:srgbClr val="11253F"/>
                </a:solidFill>
                <a:latin typeface="Calibri"/>
              </a:rPr>
              <a:t>@MART.</a:t>
            </a:r>
          </a:p>
          <a:p>
            <a:pPr algn="ctr"/>
            <a:r>
              <a:rPr sz="800" b="0" i="0">
                <a:solidFill>
                  <a:srgbClr val="11253F"/>
                </a:solidFill>
                <a:latin typeface="Calibri"/>
              </a:rPr>
              <a:t>SEMANTIC_MODELS/</a:t>
            </a:r>
          </a:p>
        </p:txBody>
      </p:sp>
      <p:sp>
        <p:nvSpPr>
          <p:cNvPr id="41" name="Rounded Rectangle 40"/>
          <p:cNvSpPr/>
          <p:nvPr/>
        </p:nvSpPr>
        <p:spPr>
          <a:xfrm>
            <a:off x="7022592" y="4005072"/>
            <a:ext cx="2057400" cy="1261872"/>
          </a:xfrm>
          <a:prstGeom prst="roundRect">
            <a:avLst/>
          </a:prstGeom>
          <a:solidFill>
            <a:srgbClr val="FFFFFF"/>
          </a:solidFill>
          <a:ln w="15875">
            <a:solidFill>
              <a:srgbClr val="7A5A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0" y="4096511"/>
            <a:ext cx="1837943" cy="274320"/>
          </a:xfrm>
          <a:prstGeom prst="rect">
            <a:avLst/>
          </a:prstGeom>
          <a:noFill/>
        </p:spPr>
        <p:txBody>
          <a:bodyPr wrap="square" lIns="0" rIns="0" tIns="0" bIns="0" anchor="t">
            <a:spAutoFit/>
          </a:bodyPr>
          <a:lstStyle/>
          <a:p>
            <a:pPr algn="ctr"/>
            <a:r>
              <a:rPr sz="1000" b="1" i="0">
                <a:solidFill>
                  <a:srgbClr val="11253F"/>
                </a:solidFill>
                <a:latin typeface="Calibri"/>
              </a:rPr>
              <a:t>Cortex Search</a:t>
            </a:r>
          </a:p>
        </p:txBody>
      </p:sp>
      <p:sp>
        <p:nvSpPr>
          <p:cNvPr id="43" name="TextBox 42"/>
          <p:cNvSpPr txBox="1"/>
          <p:nvPr/>
        </p:nvSpPr>
        <p:spPr>
          <a:xfrm>
            <a:off x="7132320" y="4352544"/>
            <a:ext cx="1837943" cy="859536"/>
          </a:xfrm>
          <a:prstGeom prst="rect">
            <a:avLst/>
          </a:prstGeom>
          <a:noFill/>
        </p:spPr>
        <p:txBody>
          <a:bodyPr wrap="square" lIns="0" rIns="0" tIns="0" bIns="0" anchor="t">
            <a:spAutoFit/>
          </a:bodyPr>
          <a:lstStyle/>
          <a:p>
            <a:pPr algn="ctr"/>
            <a:r>
              <a:rPr sz="800" b="0" i="0">
                <a:solidFill>
                  <a:srgbClr val="11253F"/>
                </a:solidFill>
                <a:latin typeface="Calibri"/>
              </a:rPr>
              <a:t>DOCS.</a:t>
            </a:r>
          </a:p>
          <a:p>
            <a:pPr algn="ctr"/>
            <a:r>
              <a:rPr sz="800" b="0" i="0">
                <a:solidFill>
                  <a:srgbClr val="11253F"/>
                </a:solidFill>
                <a:latin typeface="Calibri"/>
              </a:rPr>
              <a:t>ARC_MARKET_INTEL</a:t>
            </a:r>
          </a:p>
          <a:p>
            <a:pPr algn="ctr"/>
            <a:r>
              <a:rPr sz="800" b="0" i="0">
                <a:solidFill>
                  <a:srgbClr val="11253F"/>
                </a:solidFill>
                <a:latin typeface="Calibri"/>
              </a:rPr>
              <a:t>ARC_V2_MARKET_INTEL</a:t>
            </a:r>
          </a:p>
          <a:p>
            <a:pPr algn="ctr"/>
            <a:r>
              <a:rPr sz="800" b="0" i="0">
                <a:solidFill>
                  <a:srgbClr val="11253F"/>
                </a:solidFill>
                <a:latin typeface="Calibri"/>
              </a:rPr>
              <a:t/>
            </a:r>
          </a:p>
          <a:p>
            <a:pPr algn="ctr"/>
            <a:r>
              <a:rPr sz="800" b="0" i="0">
                <a:solidFill>
                  <a:srgbClr val="11253F"/>
                </a:solidFill>
                <a:latin typeface="Calibri"/>
              </a:rPr>
              <a:t>TARGET_LAG = 1 day</a:t>
            </a:r>
          </a:p>
        </p:txBody>
      </p:sp>
      <p:sp>
        <p:nvSpPr>
          <p:cNvPr id="44" name="Rounded Rectangle 43"/>
          <p:cNvSpPr/>
          <p:nvPr/>
        </p:nvSpPr>
        <p:spPr>
          <a:xfrm>
            <a:off x="9217152" y="4005072"/>
            <a:ext cx="2057400" cy="1261872"/>
          </a:xfrm>
          <a:prstGeom prst="roundRect">
            <a:avLst/>
          </a:prstGeom>
          <a:solidFill>
            <a:srgbClr val="FFFFFF"/>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26880" y="4096511"/>
            <a:ext cx="1837943" cy="274320"/>
          </a:xfrm>
          <a:prstGeom prst="rect">
            <a:avLst/>
          </a:prstGeom>
          <a:noFill/>
        </p:spPr>
        <p:txBody>
          <a:bodyPr wrap="square" lIns="0" rIns="0" tIns="0" bIns="0" anchor="t">
            <a:spAutoFit/>
          </a:bodyPr>
          <a:lstStyle/>
          <a:p>
            <a:pPr algn="ctr"/>
            <a:r>
              <a:rPr sz="1000" b="1" i="0">
                <a:solidFill>
                  <a:srgbClr val="11253F"/>
                </a:solidFill>
                <a:latin typeface="Calibri"/>
              </a:rPr>
              <a:t>ML  (Variant A)</a:t>
            </a:r>
          </a:p>
        </p:txBody>
      </p:sp>
      <p:sp>
        <p:nvSpPr>
          <p:cNvPr id="46" name="TextBox 45"/>
          <p:cNvSpPr txBox="1"/>
          <p:nvPr/>
        </p:nvSpPr>
        <p:spPr>
          <a:xfrm>
            <a:off x="9326880" y="4352544"/>
            <a:ext cx="1837943" cy="859536"/>
          </a:xfrm>
          <a:prstGeom prst="rect">
            <a:avLst/>
          </a:prstGeom>
          <a:noFill/>
        </p:spPr>
        <p:txBody>
          <a:bodyPr wrap="square" lIns="0" rIns="0" tIns="0" bIns="0" anchor="t">
            <a:spAutoFit/>
          </a:bodyPr>
          <a:lstStyle/>
          <a:p>
            <a:pPr algn="ctr"/>
            <a:r>
              <a:rPr sz="800" b="0" i="0">
                <a:solidFill>
                  <a:srgbClr val="11253F"/>
                </a:solidFill>
                <a:latin typeface="Calibri"/>
              </a:rPr>
              <a:t>M1 elasticity (OLS)</a:t>
            </a:r>
          </a:p>
          <a:p>
            <a:pPr algn="ctr"/>
            <a:r>
              <a:rPr sz="800" b="0" i="0">
                <a:solidFill>
                  <a:srgbClr val="11253F"/>
                </a:solidFill>
                <a:latin typeface="Calibri"/>
              </a:rPr>
              <a:t>M2 cross-elasticity</a:t>
            </a:r>
          </a:p>
          <a:p>
            <a:pPr algn="ctr"/>
            <a:r>
              <a:rPr sz="800" b="0" i="0">
                <a:solidFill>
                  <a:srgbClr val="11253F"/>
                </a:solidFill>
                <a:latin typeface="Calibri"/>
              </a:rPr>
              <a:t>M3 volume risk (XGB)</a:t>
            </a:r>
          </a:p>
          <a:p>
            <a:pPr algn="ctr"/>
            <a:r>
              <a:rPr sz="800" b="0" i="0">
                <a:solidFill>
                  <a:srgbClr val="11253F"/>
                </a:solidFill>
                <a:latin typeface="Calibri"/>
              </a:rPr>
              <a:t/>
            </a:r>
          </a:p>
          <a:p>
            <a:pPr algn="ctr"/>
            <a:r>
              <a:rPr sz="800" b="0" i="0">
                <a:solidFill>
                  <a:srgbClr val="11253F"/>
                </a:solidFill>
                <a:latin typeface="Calibri"/>
              </a:rPr>
              <a:t>5 tasks — inert stubs</a:t>
            </a:r>
          </a:p>
        </p:txBody>
      </p:sp>
      <p:sp>
        <p:nvSpPr>
          <p:cNvPr id="47" name="TextBox 46"/>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Measured from the repository. Route counts: main.py 49 · mvp_routes 30 · mvp_bom 5 · mvp_f9 5 · mvp_f10 4.</a:t>
            </a:r>
          </a:p>
        </p:txBody>
      </p:sp>
      <p:sp>
        <p:nvSpPr>
          <p:cNvPr id="48" name="TextBox 47"/>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3 — HEADLINE FINDING</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arc/ contains two complete applications, not one</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Not stated in the repo's own docs/ARCHITECTURE.md. This is the decision everything else waits on.</a:t>
            </a:r>
          </a:p>
        </p:txBody>
      </p:sp>
      <p:sp>
        <p:nvSpPr>
          <p:cNvPr id="7" name="Rounded Rectangle 6"/>
          <p:cNvSpPr/>
          <p:nvPr/>
        </p:nvSpPr>
        <p:spPr>
          <a:xfrm>
            <a:off x="685800" y="1188720"/>
            <a:ext cx="10789920" cy="566928"/>
          </a:xfrm>
          <a:prstGeom prst="roundRect">
            <a:avLst/>
          </a:prstGeom>
          <a:solidFill>
            <a:srgbClr val="FDF6E8"/>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80160"/>
            <a:ext cx="10424160" cy="402336"/>
          </a:xfrm>
          <a:prstGeom prst="rect">
            <a:avLst/>
          </a:prstGeom>
          <a:noFill/>
        </p:spPr>
        <p:txBody>
          <a:bodyPr wrap="square" lIns="0" rIns="0" tIns="0" bIns="0" anchor="t">
            <a:spAutoFit/>
          </a:bodyPr>
          <a:lstStyle/>
          <a:p>
            <a:pPr algn="l"/>
            <a:r>
              <a:rPr sz="950" b="0" i="1">
                <a:solidFill>
                  <a:srgbClr val="11253F"/>
                </a:solidFill>
                <a:latin typeface="Calibri"/>
              </a:rPr>
              <a:t>“The live POC SPCS service reads ARKEMA_PRICING_DB. A CREATE OR REPLACE in that database previously destroyed 18 live scenarios. … The POC keeps running untouched, and this database is a clean handover artifact for PS.”</a:t>
            </a:r>
          </a:p>
        </p:txBody>
      </p:sp>
      <p:sp>
        <p:nvSpPr>
          <p:cNvPr id="9" name="TextBox 8"/>
          <p:cNvSpPr txBox="1"/>
          <p:nvPr/>
        </p:nvSpPr>
        <p:spPr>
          <a:xfrm>
            <a:off x="868680" y="1773936"/>
            <a:ext cx="10424160" cy="182880"/>
          </a:xfrm>
          <a:prstGeom prst="rect">
            <a:avLst/>
          </a:prstGeom>
          <a:noFill/>
        </p:spPr>
        <p:txBody>
          <a:bodyPr wrap="square" lIns="0" rIns="0" tIns="0" bIns="0" anchor="t">
            <a:spAutoFit/>
          </a:bodyPr>
          <a:lstStyle/>
          <a:p>
            <a:pPr algn="l"/>
            <a:r>
              <a:rPr sz="800" b="0" i="0">
                <a:solidFill>
                  <a:srgbClr val="8A99AD"/>
                </a:solidFill>
                <a:latin typeface="Calibri"/>
              </a:rPr>
              <a:t>— ddl/mvp/000_mvp_database.sql, lines 8–14</a:t>
            </a:r>
          </a:p>
        </p:txBody>
      </p:sp>
      <p:sp>
        <p:nvSpPr>
          <p:cNvPr id="10" name="Rectangle 9"/>
          <p:cNvSpPr/>
          <p:nvPr/>
        </p:nvSpPr>
        <p:spPr>
          <a:xfrm>
            <a:off x="685800" y="2139696"/>
            <a:ext cx="2743200" cy="333756"/>
          </a:xfrm>
          <a:prstGeom prst="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2139696"/>
            <a:ext cx="4023360" cy="333756"/>
          </a:xfrm>
          <a:prstGeom prst="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139696"/>
            <a:ext cx="4023360" cy="333756"/>
          </a:xfrm>
          <a:prstGeom prst="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194560"/>
            <a:ext cx="2560320" cy="228600"/>
          </a:xfrm>
          <a:prstGeom prst="rect">
            <a:avLst/>
          </a:prstGeom>
          <a:noFill/>
        </p:spPr>
        <p:txBody>
          <a:bodyPr wrap="square" lIns="0" rIns="0" tIns="0" bIns="0" anchor="t">
            <a:spAutoFit/>
          </a:bodyPr>
          <a:lstStyle/>
          <a:p>
            <a:pPr algn="l"/>
            <a:r>
              <a:rPr sz="950" b="1" i="0">
                <a:solidFill>
                  <a:srgbClr val="FFFFFF"/>
                </a:solidFill>
                <a:latin typeface="Calibri"/>
              </a:rPr>
              <a:t/>
            </a:r>
          </a:p>
        </p:txBody>
      </p:sp>
      <p:sp>
        <p:nvSpPr>
          <p:cNvPr id="14" name="TextBox 13"/>
          <p:cNvSpPr txBox="1"/>
          <p:nvPr/>
        </p:nvSpPr>
        <p:spPr>
          <a:xfrm>
            <a:off x="3566160" y="2194560"/>
            <a:ext cx="3840480" cy="228600"/>
          </a:xfrm>
          <a:prstGeom prst="rect">
            <a:avLst/>
          </a:prstGeom>
          <a:noFill/>
        </p:spPr>
        <p:txBody>
          <a:bodyPr wrap="square" lIns="0" rIns="0" tIns="0" bIns="0" anchor="t">
            <a:spAutoFit/>
          </a:bodyPr>
          <a:lstStyle/>
          <a:p>
            <a:pPr algn="l"/>
            <a:r>
              <a:rPr sz="950" b="1" i="0">
                <a:solidFill>
                  <a:srgbClr val="FFFFFF"/>
                </a:solidFill>
                <a:latin typeface="Calibri"/>
              </a:rPr>
              <a:t>Variant A — POC / NLC2</a:t>
            </a:r>
          </a:p>
        </p:txBody>
      </p:sp>
      <p:sp>
        <p:nvSpPr>
          <p:cNvPr id="15" name="TextBox 14"/>
          <p:cNvSpPr txBox="1"/>
          <p:nvPr/>
        </p:nvSpPr>
        <p:spPr>
          <a:xfrm>
            <a:off x="7589520" y="2194560"/>
            <a:ext cx="3840480" cy="228600"/>
          </a:xfrm>
          <a:prstGeom prst="rect">
            <a:avLst/>
          </a:prstGeom>
          <a:noFill/>
        </p:spPr>
        <p:txBody>
          <a:bodyPr wrap="square" lIns="0" rIns="0" tIns="0" bIns="0" anchor="t">
            <a:spAutoFit/>
          </a:bodyPr>
          <a:lstStyle/>
          <a:p>
            <a:pPr algn="l"/>
            <a:r>
              <a:rPr sz="950" b="1" i="0">
                <a:solidFill>
                  <a:srgbClr val="FFFFFF"/>
                </a:solidFill>
                <a:latin typeface="Calibri"/>
              </a:rPr>
              <a:t>Variant B — MVP Cockpit</a:t>
            </a:r>
          </a:p>
        </p:txBody>
      </p:sp>
      <p:sp>
        <p:nvSpPr>
          <p:cNvPr id="16" name="Rectangle 15"/>
          <p:cNvSpPr/>
          <p:nvPr/>
        </p:nvSpPr>
        <p:spPr>
          <a:xfrm>
            <a:off x="685800" y="2473452"/>
            <a:ext cx="274320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2473452"/>
            <a:ext cx="402336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2473452"/>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528316"/>
            <a:ext cx="2560320" cy="228600"/>
          </a:xfrm>
          <a:prstGeom prst="rect">
            <a:avLst/>
          </a:prstGeom>
          <a:noFill/>
        </p:spPr>
        <p:txBody>
          <a:bodyPr wrap="square" lIns="0" rIns="0" tIns="0" bIns="0" anchor="t">
            <a:spAutoFit/>
          </a:bodyPr>
          <a:lstStyle/>
          <a:p>
            <a:pPr algn="l"/>
            <a:r>
              <a:rPr sz="950" b="1" i="0">
                <a:solidFill>
                  <a:srgbClr val="11253F"/>
                </a:solidFill>
                <a:latin typeface="Calibri"/>
              </a:rPr>
              <a:t>Database</a:t>
            </a:r>
          </a:p>
        </p:txBody>
      </p:sp>
      <p:sp>
        <p:nvSpPr>
          <p:cNvPr id="20" name="TextBox 19"/>
          <p:cNvSpPr txBox="1"/>
          <p:nvPr/>
        </p:nvSpPr>
        <p:spPr>
          <a:xfrm>
            <a:off x="3566160" y="2528316"/>
            <a:ext cx="3840480" cy="228600"/>
          </a:xfrm>
          <a:prstGeom prst="rect">
            <a:avLst/>
          </a:prstGeom>
          <a:noFill/>
        </p:spPr>
        <p:txBody>
          <a:bodyPr wrap="square" lIns="0" rIns="0" tIns="0" bIns="0" anchor="t">
            <a:spAutoFit/>
          </a:bodyPr>
          <a:lstStyle/>
          <a:p>
            <a:pPr algn="l"/>
            <a:r>
              <a:rPr sz="950" b="0" i="0">
                <a:solidFill>
                  <a:srgbClr val="11253F"/>
                </a:solidFill>
                <a:latin typeface="Calibri"/>
              </a:rPr>
              <a:t>ARKEMA_PRICING_DB</a:t>
            </a:r>
          </a:p>
        </p:txBody>
      </p:sp>
      <p:sp>
        <p:nvSpPr>
          <p:cNvPr id="21" name="TextBox 20"/>
          <p:cNvSpPr txBox="1"/>
          <p:nvPr/>
        </p:nvSpPr>
        <p:spPr>
          <a:xfrm>
            <a:off x="7589520" y="2528316"/>
            <a:ext cx="3840480" cy="228600"/>
          </a:xfrm>
          <a:prstGeom prst="rect">
            <a:avLst/>
          </a:prstGeom>
          <a:noFill/>
        </p:spPr>
        <p:txBody>
          <a:bodyPr wrap="square" lIns="0" rIns="0" tIns="0" bIns="0" anchor="t">
            <a:spAutoFit/>
          </a:bodyPr>
          <a:lstStyle/>
          <a:p>
            <a:pPr algn="l"/>
            <a:r>
              <a:rPr sz="950" b="0" i="0">
                <a:solidFill>
                  <a:srgbClr val="11253F"/>
                </a:solidFill>
                <a:latin typeface="Calibri"/>
              </a:rPr>
              <a:t>ARKEMA_PRICING_MVP</a:t>
            </a:r>
          </a:p>
        </p:txBody>
      </p:sp>
      <p:sp>
        <p:nvSpPr>
          <p:cNvPr id="22" name="Rectangle 21"/>
          <p:cNvSpPr/>
          <p:nvPr/>
        </p:nvSpPr>
        <p:spPr>
          <a:xfrm>
            <a:off x="685800" y="2807208"/>
            <a:ext cx="274320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29000" y="2807208"/>
            <a:ext cx="402336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52360" y="2807208"/>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2862072"/>
            <a:ext cx="2560320" cy="228600"/>
          </a:xfrm>
          <a:prstGeom prst="rect">
            <a:avLst/>
          </a:prstGeom>
          <a:noFill/>
        </p:spPr>
        <p:txBody>
          <a:bodyPr wrap="square" lIns="0" rIns="0" tIns="0" bIns="0" anchor="t">
            <a:spAutoFit/>
          </a:bodyPr>
          <a:lstStyle/>
          <a:p>
            <a:pPr algn="l"/>
            <a:r>
              <a:rPr sz="950" b="1" i="0">
                <a:solidFill>
                  <a:srgbClr val="11253F"/>
                </a:solidFill>
                <a:latin typeface="Calibri"/>
              </a:rPr>
              <a:t>Data architecture</a:t>
            </a:r>
          </a:p>
        </p:txBody>
      </p:sp>
      <p:sp>
        <p:nvSpPr>
          <p:cNvPr id="26" name="TextBox 25"/>
          <p:cNvSpPr txBox="1"/>
          <p:nvPr/>
        </p:nvSpPr>
        <p:spPr>
          <a:xfrm>
            <a:off x="3566160" y="2862072"/>
            <a:ext cx="3840480" cy="228600"/>
          </a:xfrm>
          <a:prstGeom prst="rect">
            <a:avLst/>
          </a:prstGeom>
          <a:noFill/>
        </p:spPr>
        <p:txBody>
          <a:bodyPr wrap="square" lIns="0" rIns="0" tIns="0" bIns="0" anchor="t">
            <a:spAutoFit/>
          </a:bodyPr>
          <a:lstStyle/>
          <a:p>
            <a:pPr algn="l"/>
            <a:r>
              <a:rPr sz="950" b="0" i="0">
                <a:solidFill>
                  <a:srgbClr val="11253F"/>
                </a:solidFill>
                <a:latin typeface="Calibri"/>
              </a:rPr>
              <a:t>RAW → ATOMIC → MART + ML/GOV/DOCS</a:t>
            </a:r>
          </a:p>
        </p:txBody>
      </p:sp>
      <p:sp>
        <p:nvSpPr>
          <p:cNvPr id="27" name="TextBox 26"/>
          <p:cNvSpPr txBox="1"/>
          <p:nvPr/>
        </p:nvSpPr>
        <p:spPr>
          <a:xfrm>
            <a:off x="7589520" y="2862072"/>
            <a:ext cx="3840480" cy="228600"/>
          </a:xfrm>
          <a:prstGeom prst="rect">
            <a:avLst/>
          </a:prstGeom>
          <a:noFill/>
        </p:spPr>
        <p:txBody>
          <a:bodyPr wrap="square" lIns="0" rIns="0" tIns="0" bIns="0" anchor="t">
            <a:spAutoFit/>
          </a:bodyPr>
          <a:lstStyle/>
          <a:p>
            <a:pPr algn="l"/>
            <a:r>
              <a:rPr sz="950" b="0" i="0">
                <a:solidFill>
                  <a:srgbClr val="11253F"/>
                </a:solidFill>
                <a:latin typeface="Calibri"/>
              </a:rPr>
              <a:t>LANDING → BRONZE → GOLD + GOV/UTIL</a:t>
            </a:r>
          </a:p>
        </p:txBody>
      </p:sp>
      <p:sp>
        <p:nvSpPr>
          <p:cNvPr id="28" name="Rectangle 27"/>
          <p:cNvSpPr/>
          <p:nvPr/>
        </p:nvSpPr>
        <p:spPr>
          <a:xfrm>
            <a:off x="685800" y="3140964"/>
            <a:ext cx="274320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29000" y="3140964"/>
            <a:ext cx="402336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52360" y="3140964"/>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3195828"/>
            <a:ext cx="2560320" cy="228600"/>
          </a:xfrm>
          <a:prstGeom prst="rect">
            <a:avLst/>
          </a:prstGeom>
          <a:noFill/>
        </p:spPr>
        <p:txBody>
          <a:bodyPr wrap="square" lIns="0" rIns="0" tIns="0" bIns="0" anchor="t">
            <a:spAutoFit/>
          </a:bodyPr>
          <a:lstStyle/>
          <a:p>
            <a:pPr algn="l"/>
            <a:r>
              <a:rPr sz="950" b="1" i="0">
                <a:solidFill>
                  <a:srgbClr val="11253F"/>
                </a:solidFill>
                <a:latin typeface="Calibri"/>
              </a:rPr>
              <a:t>DDL volume</a:t>
            </a:r>
          </a:p>
        </p:txBody>
      </p:sp>
      <p:sp>
        <p:nvSpPr>
          <p:cNvPr id="32" name="TextBox 31"/>
          <p:cNvSpPr txBox="1"/>
          <p:nvPr/>
        </p:nvSpPr>
        <p:spPr>
          <a:xfrm>
            <a:off x="3566160" y="3195828"/>
            <a:ext cx="3840480" cy="228600"/>
          </a:xfrm>
          <a:prstGeom prst="rect">
            <a:avLst/>
          </a:prstGeom>
          <a:noFill/>
        </p:spPr>
        <p:txBody>
          <a:bodyPr wrap="square" lIns="0" rIns="0" tIns="0" bIns="0" anchor="t">
            <a:spAutoFit/>
          </a:bodyPr>
          <a:lstStyle/>
          <a:p>
            <a:pPr algn="l"/>
            <a:r>
              <a:rPr sz="950" b="0" i="0">
                <a:solidFill>
                  <a:srgbClr val="11253F"/>
                </a:solidFill>
                <a:latin typeface="Calibri"/>
              </a:rPr>
              <a:t>21 files · 3,298 lines</a:t>
            </a:r>
          </a:p>
        </p:txBody>
      </p:sp>
      <p:sp>
        <p:nvSpPr>
          <p:cNvPr id="33" name="TextBox 32"/>
          <p:cNvSpPr txBox="1"/>
          <p:nvPr/>
        </p:nvSpPr>
        <p:spPr>
          <a:xfrm>
            <a:off x="7589520" y="3195828"/>
            <a:ext cx="3840480" cy="228600"/>
          </a:xfrm>
          <a:prstGeom prst="rect">
            <a:avLst/>
          </a:prstGeom>
          <a:noFill/>
        </p:spPr>
        <p:txBody>
          <a:bodyPr wrap="square" lIns="0" rIns="0" tIns="0" bIns="0" anchor="t">
            <a:spAutoFit/>
          </a:bodyPr>
          <a:lstStyle/>
          <a:p>
            <a:pPr algn="l"/>
            <a:r>
              <a:rPr sz="950" b="0" i="0">
                <a:solidFill>
                  <a:srgbClr val="11253F"/>
                </a:solidFill>
                <a:latin typeface="Calibri"/>
              </a:rPr>
              <a:t>27 files · 10,098 lines</a:t>
            </a:r>
          </a:p>
        </p:txBody>
      </p:sp>
      <p:sp>
        <p:nvSpPr>
          <p:cNvPr id="34" name="Rectangle 33"/>
          <p:cNvSpPr/>
          <p:nvPr/>
        </p:nvSpPr>
        <p:spPr>
          <a:xfrm>
            <a:off x="685800" y="3474720"/>
            <a:ext cx="274320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29000" y="3474720"/>
            <a:ext cx="402336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52360" y="3474720"/>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3529584"/>
            <a:ext cx="2560320" cy="228600"/>
          </a:xfrm>
          <a:prstGeom prst="rect">
            <a:avLst/>
          </a:prstGeom>
          <a:noFill/>
        </p:spPr>
        <p:txBody>
          <a:bodyPr wrap="square" lIns="0" rIns="0" tIns="0" bIns="0" anchor="t">
            <a:spAutoFit/>
          </a:bodyPr>
          <a:lstStyle/>
          <a:p>
            <a:pPr algn="l"/>
            <a:r>
              <a:rPr sz="950" b="1" i="0">
                <a:solidFill>
                  <a:srgbClr val="11253F"/>
                </a:solidFill>
                <a:latin typeface="Calibri"/>
              </a:rPr>
              <a:t>Frontend</a:t>
            </a:r>
          </a:p>
        </p:txBody>
      </p:sp>
      <p:sp>
        <p:nvSpPr>
          <p:cNvPr id="38" name="TextBox 37"/>
          <p:cNvSpPr txBox="1"/>
          <p:nvPr/>
        </p:nvSpPr>
        <p:spPr>
          <a:xfrm>
            <a:off x="3566160" y="3529584"/>
            <a:ext cx="3840480" cy="228600"/>
          </a:xfrm>
          <a:prstGeom prst="rect">
            <a:avLst/>
          </a:prstGeom>
          <a:noFill/>
        </p:spPr>
        <p:txBody>
          <a:bodyPr wrap="square" lIns="0" rIns="0" tIns="0" bIns="0" anchor="t">
            <a:spAutoFit/>
          </a:bodyPr>
          <a:lstStyle/>
          <a:p>
            <a:pPr algn="l"/>
            <a:r>
              <a:rPr sz="950" b="0" i="0">
                <a:solidFill>
                  <a:srgbClr val="11253F"/>
                </a:solidFill>
                <a:latin typeface="Calibri"/>
              </a:rPr>
              <a:t>12 pages</a:t>
            </a:r>
          </a:p>
        </p:txBody>
      </p:sp>
      <p:sp>
        <p:nvSpPr>
          <p:cNvPr id="39" name="TextBox 38"/>
          <p:cNvSpPr txBox="1"/>
          <p:nvPr/>
        </p:nvSpPr>
        <p:spPr>
          <a:xfrm>
            <a:off x="7589520" y="3529584"/>
            <a:ext cx="3840480" cy="228600"/>
          </a:xfrm>
          <a:prstGeom prst="rect">
            <a:avLst/>
          </a:prstGeom>
          <a:noFill/>
        </p:spPr>
        <p:txBody>
          <a:bodyPr wrap="square" lIns="0" rIns="0" tIns="0" bIns="0" anchor="t">
            <a:spAutoFit/>
          </a:bodyPr>
          <a:lstStyle/>
          <a:p>
            <a:pPr algn="l"/>
            <a:r>
              <a:rPr sz="950" b="0" i="0">
                <a:solidFill>
                  <a:srgbClr val="11253F"/>
                </a:solidFill>
                <a:latin typeface="Calibri"/>
              </a:rPr>
              <a:t>11 pages · 16 registered views</a:t>
            </a:r>
          </a:p>
        </p:txBody>
      </p:sp>
      <p:sp>
        <p:nvSpPr>
          <p:cNvPr id="40" name="Rectangle 39"/>
          <p:cNvSpPr/>
          <p:nvPr/>
        </p:nvSpPr>
        <p:spPr>
          <a:xfrm>
            <a:off x="685800" y="3808476"/>
            <a:ext cx="274320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429000" y="3808476"/>
            <a:ext cx="402336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3808476"/>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3863340"/>
            <a:ext cx="2560320" cy="228600"/>
          </a:xfrm>
          <a:prstGeom prst="rect">
            <a:avLst/>
          </a:prstGeom>
          <a:noFill/>
        </p:spPr>
        <p:txBody>
          <a:bodyPr wrap="square" lIns="0" rIns="0" tIns="0" bIns="0" anchor="t">
            <a:spAutoFit/>
          </a:bodyPr>
          <a:lstStyle/>
          <a:p>
            <a:pPr algn="l"/>
            <a:r>
              <a:rPr sz="950" b="1" i="0">
                <a:solidFill>
                  <a:srgbClr val="11253F"/>
                </a:solidFill>
                <a:latin typeface="Calibri"/>
              </a:rPr>
              <a:t>Backend routes</a:t>
            </a:r>
          </a:p>
        </p:txBody>
      </p:sp>
      <p:sp>
        <p:nvSpPr>
          <p:cNvPr id="44" name="TextBox 43"/>
          <p:cNvSpPr txBox="1"/>
          <p:nvPr/>
        </p:nvSpPr>
        <p:spPr>
          <a:xfrm>
            <a:off x="3566160" y="3863340"/>
            <a:ext cx="3840480" cy="228600"/>
          </a:xfrm>
          <a:prstGeom prst="rect">
            <a:avLst/>
          </a:prstGeom>
          <a:noFill/>
        </p:spPr>
        <p:txBody>
          <a:bodyPr wrap="square" lIns="0" rIns="0" tIns="0" bIns="0" anchor="t">
            <a:spAutoFit/>
          </a:bodyPr>
          <a:lstStyle/>
          <a:p>
            <a:pPr algn="l"/>
            <a:r>
              <a:rPr sz="950" b="0" i="0">
                <a:solidFill>
                  <a:srgbClr val="11253F"/>
                </a:solidFill>
                <a:latin typeface="Calibri"/>
              </a:rPr>
              <a:t>49</a:t>
            </a:r>
          </a:p>
        </p:txBody>
      </p:sp>
      <p:sp>
        <p:nvSpPr>
          <p:cNvPr id="45" name="TextBox 44"/>
          <p:cNvSpPr txBox="1"/>
          <p:nvPr/>
        </p:nvSpPr>
        <p:spPr>
          <a:xfrm>
            <a:off x="7589520" y="3863340"/>
            <a:ext cx="3840480" cy="228600"/>
          </a:xfrm>
          <a:prstGeom prst="rect">
            <a:avLst/>
          </a:prstGeom>
          <a:noFill/>
        </p:spPr>
        <p:txBody>
          <a:bodyPr wrap="square" lIns="0" rIns="0" tIns="0" bIns="0" anchor="t">
            <a:spAutoFit/>
          </a:bodyPr>
          <a:lstStyle/>
          <a:p>
            <a:pPr algn="l"/>
            <a:r>
              <a:rPr sz="950" b="0" i="0">
                <a:solidFill>
                  <a:srgbClr val="11253F"/>
                </a:solidFill>
                <a:latin typeface="Calibri"/>
              </a:rPr>
              <a:t>44</a:t>
            </a:r>
          </a:p>
        </p:txBody>
      </p:sp>
      <p:sp>
        <p:nvSpPr>
          <p:cNvPr id="46" name="Rectangle 45"/>
          <p:cNvSpPr/>
          <p:nvPr/>
        </p:nvSpPr>
        <p:spPr>
          <a:xfrm>
            <a:off x="685800" y="4142232"/>
            <a:ext cx="274320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29000" y="4142232"/>
            <a:ext cx="402336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52360" y="4142232"/>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 y="4197096"/>
            <a:ext cx="2560320" cy="228600"/>
          </a:xfrm>
          <a:prstGeom prst="rect">
            <a:avLst/>
          </a:prstGeom>
          <a:noFill/>
        </p:spPr>
        <p:txBody>
          <a:bodyPr wrap="square" lIns="0" rIns="0" tIns="0" bIns="0" anchor="t">
            <a:spAutoFit/>
          </a:bodyPr>
          <a:lstStyle/>
          <a:p>
            <a:pPr algn="l"/>
            <a:r>
              <a:rPr sz="950" b="1" i="0">
                <a:solidFill>
                  <a:srgbClr val="11253F"/>
                </a:solidFill>
                <a:latin typeface="Calibri"/>
              </a:rPr>
              <a:t>Personas</a:t>
            </a:r>
          </a:p>
        </p:txBody>
      </p:sp>
      <p:sp>
        <p:nvSpPr>
          <p:cNvPr id="50" name="TextBox 49"/>
          <p:cNvSpPr txBox="1"/>
          <p:nvPr/>
        </p:nvSpPr>
        <p:spPr>
          <a:xfrm>
            <a:off x="3566160" y="4197096"/>
            <a:ext cx="3840480" cy="228600"/>
          </a:xfrm>
          <a:prstGeom prst="rect">
            <a:avLst/>
          </a:prstGeom>
          <a:noFill/>
        </p:spPr>
        <p:txBody>
          <a:bodyPr wrap="square" lIns="0" rIns="0" tIns="0" bIns="0" anchor="t">
            <a:spAutoFit/>
          </a:bodyPr>
          <a:lstStyle/>
          <a:p>
            <a:pPr algn="l"/>
            <a:r>
              <a:rPr sz="950" b="0" i="0">
                <a:solidFill>
                  <a:srgbClr val="11253F"/>
                </a:solidFill>
                <a:latin typeface="Calibri"/>
              </a:rPr>
              <a:t>4</a:t>
            </a:r>
          </a:p>
        </p:txBody>
      </p:sp>
      <p:sp>
        <p:nvSpPr>
          <p:cNvPr id="51" name="TextBox 50"/>
          <p:cNvSpPr txBox="1"/>
          <p:nvPr/>
        </p:nvSpPr>
        <p:spPr>
          <a:xfrm>
            <a:off x="7589520" y="4197096"/>
            <a:ext cx="3840480" cy="228600"/>
          </a:xfrm>
          <a:prstGeom prst="rect">
            <a:avLst/>
          </a:prstGeom>
          <a:noFill/>
        </p:spPr>
        <p:txBody>
          <a:bodyPr wrap="square" lIns="0" rIns="0" tIns="0" bIns="0" anchor="t">
            <a:spAutoFit/>
          </a:bodyPr>
          <a:lstStyle/>
          <a:p>
            <a:pPr algn="l"/>
            <a:r>
              <a:rPr sz="950" b="0" i="0">
                <a:solidFill>
                  <a:srgbClr val="11253F"/>
                </a:solidFill>
                <a:latin typeface="Calibri"/>
              </a:rPr>
              <a:t>6</a:t>
            </a:r>
          </a:p>
        </p:txBody>
      </p:sp>
      <p:sp>
        <p:nvSpPr>
          <p:cNvPr id="52" name="Rectangle 51"/>
          <p:cNvSpPr/>
          <p:nvPr/>
        </p:nvSpPr>
        <p:spPr>
          <a:xfrm>
            <a:off x="685800" y="4475988"/>
            <a:ext cx="274320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429000" y="4475988"/>
            <a:ext cx="402336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52360" y="4475988"/>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4530852"/>
            <a:ext cx="2560320" cy="228600"/>
          </a:xfrm>
          <a:prstGeom prst="rect">
            <a:avLst/>
          </a:prstGeom>
          <a:noFill/>
        </p:spPr>
        <p:txBody>
          <a:bodyPr wrap="square" lIns="0" rIns="0" tIns="0" bIns="0" anchor="t">
            <a:spAutoFit/>
          </a:bodyPr>
          <a:lstStyle/>
          <a:p>
            <a:pPr algn="l"/>
            <a:r>
              <a:rPr sz="950" b="1" i="0">
                <a:solidFill>
                  <a:srgbClr val="11253F"/>
                </a:solidFill>
                <a:latin typeface="Calibri"/>
              </a:rPr>
              <a:t>AI layer</a:t>
            </a:r>
          </a:p>
        </p:txBody>
      </p:sp>
      <p:sp>
        <p:nvSpPr>
          <p:cNvPr id="56" name="TextBox 55"/>
          <p:cNvSpPr txBox="1"/>
          <p:nvPr/>
        </p:nvSpPr>
        <p:spPr>
          <a:xfrm>
            <a:off x="3566160" y="4530852"/>
            <a:ext cx="3840480" cy="228600"/>
          </a:xfrm>
          <a:prstGeom prst="rect">
            <a:avLst/>
          </a:prstGeom>
          <a:noFill/>
        </p:spPr>
        <p:txBody>
          <a:bodyPr wrap="square" lIns="0" rIns="0" tIns="0" bIns="0" anchor="t">
            <a:spAutoFit/>
          </a:bodyPr>
          <a:lstStyle/>
          <a:p>
            <a:pPr algn="l"/>
            <a:r>
              <a:rPr sz="950" b="0" i="0">
                <a:solidFill>
                  <a:srgbClr val="11253F"/>
                </a:solidFill>
                <a:latin typeface="Calibri"/>
              </a:rPr>
              <a:t>Agent + Search + Analyst</a:t>
            </a:r>
          </a:p>
        </p:txBody>
      </p:sp>
      <p:sp>
        <p:nvSpPr>
          <p:cNvPr id="57" name="TextBox 56"/>
          <p:cNvSpPr txBox="1"/>
          <p:nvPr/>
        </p:nvSpPr>
        <p:spPr>
          <a:xfrm>
            <a:off x="7589520" y="4530852"/>
            <a:ext cx="3840480" cy="228600"/>
          </a:xfrm>
          <a:prstGeom prst="rect">
            <a:avLst/>
          </a:prstGeom>
          <a:noFill/>
        </p:spPr>
        <p:txBody>
          <a:bodyPr wrap="square" lIns="0" rIns="0" tIns="0" bIns="0" anchor="t">
            <a:spAutoFit/>
          </a:bodyPr>
          <a:lstStyle/>
          <a:p>
            <a:pPr algn="l"/>
            <a:r>
              <a:rPr sz="950" b="0" i="0">
                <a:solidFill>
                  <a:srgbClr val="11253F"/>
                </a:solidFill>
                <a:latin typeface="Calibri"/>
              </a:rPr>
              <a:t>GenAI view exists — NOT wired</a:t>
            </a:r>
          </a:p>
        </p:txBody>
      </p:sp>
      <p:sp>
        <p:nvSpPr>
          <p:cNvPr id="58" name="Rectangle 57"/>
          <p:cNvSpPr/>
          <p:nvPr/>
        </p:nvSpPr>
        <p:spPr>
          <a:xfrm>
            <a:off x="685800" y="4809744"/>
            <a:ext cx="274320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429000" y="4809744"/>
            <a:ext cx="402336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52360" y="4809744"/>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960" y="4864608"/>
            <a:ext cx="2560320" cy="228600"/>
          </a:xfrm>
          <a:prstGeom prst="rect">
            <a:avLst/>
          </a:prstGeom>
          <a:noFill/>
        </p:spPr>
        <p:txBody>
          <a:bodyPr wrap="square" lIns="0" rIns="0" tIns="0" bIns="0" anchor="t">
            <a:spAutoFit/>
          </a:bodyPr>
          <a:lstStyle/>
          <a:p>
            <a:pPr algn="l"/>
            <a:r>
              <a:rPr sz="950" b="1" i="0">
                <a:solidFill>
                  <a:srgbClr val="11253F"/>
                </a:solidFill>
                <a:latin typeface="Calibri"/>
              </a:rPr>
              <a:t>ML</a:t>
            </a:r>
          </a:p>
        </p:txBody>
      </p:sp>
      <p:sp>
        <p:nvSpPr>
          <p:cNvPr id="62" name="TextBox 61"/>
          <p:cNvSpPr txBox="1"/>
          <p:nvPr/>
        </p:nvSpPr>
        <p:spPr>
          <a:xfrm>
            <a:off x="3566160" y="4864608"/>
            <a:ext cx="3840480" cy="228600"/>
          </a:xfrm>
          <a:prstGeom prst="rect">
            <a:avLst/>
          </a:prstGeom>
          <a:noFill/>
        </p:spPr>
        <p:txBody>
          <a:bodyPr wrap="square" lIns="0" rIns="0" tIns="0" bIns="0" anchor="t">
            <a:spAutoFit/>
          </a:bodyPr>
          <a:lstStyle/>
          <a:p>
            <a:pPr algn="l"/>
            <a:r>
              <a:rPr sz="950" b="0" i="0">
                <a:solidFill>
                  <a:srgbClr val="11253F"/>
                </a:solidFill>
                <a:latin typeface="Calibri"/>
              </a:rPr>
              <a:t>M1 / M2 / M3  (975 LOC)</a:t>
            </a:r>
          </a:p>
        </p:txBody>
      </p:sp>
      <p:sp>
        <p:nvSpPr>
          <p:cNvPr id="63" name="TextBox 62"/>
          <p:cNvSpPr txBox="1"/>
          <p:nvPr/>
        </p:nvSpPr>
        <p:spPr>
          <a:xfrm>
            <a:off x="7589520" y="4864608"/>
            <a:ext cx="3840480" cy="228600"/>
          </a:xfrm>
          <a:prstGeom prst="rect">
            <a:avLst/>
          </a:prstGeom>
          <a:noFill/>
        </p:spPr>
        <p:txBody>
          <a:bodyPr wrap="square" lIns="0" rIns="0" tIns="0" bIns="0" anchor="t">
            <a:spAutoFit/>
          </a:bodyPr>
          <a:lstStyle/>
          <a:p>
            <a:pPr algn="l"/>
            <a:r>
              <a:rPr sz="950" b="0" i="0">
                <a:solidFill>
                  <a:srgbClr val="11253F"/>
                </a:solidFill>
                <a:latin typeface="Calibri"/>
              </a:rPr>
              <a:t>none of its own</a:t>
            </a:r>
          </a:p>
        </p:txBody>
      </p:sp>
      <p:sp>
        <p:nvSpPr>
          <p:cNvPr id="64" name="Rectangle 63"/>
          <p:cNvSpPr/>
          <p:nvPr/>
        </p:nvSpPr>
        <p:spPr>
          <a:xfrm>
            <a:off x="685800" y="5143500"/>
            <a:ext cx="274320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429000" y="5143500"/>
            <a:ext cx="4023360" cy="3337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452360" y="5143500"/>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2960" y="5198364"/>
            <a:ext cx="2560320" cy="228600"/>
          </a:xfrm>
          <a:prstGeom prst="rect">
            <a:avLst/>
          </a:prstGeom>
          <a:noFill/>
        </p:spPr>
        <p:txBody>
          <a:bodyPr wrap="square" lIns="0" rIns="0" tIns="0" bIns="0" anchor="t">
            <a:spAutoFit/>
          </a:bodyPr>
          <a:lstStyle/>
          <a:p>
            <a:pPr algn="l"/>
            <a:r>
              <a:rPr sz="950" b="1" i="0">
                <a:solidFill>
                  <a:srgbClr val="11253F"/>
                </a:solidFill>
                <a:latin typeface="Calibri"/>
              </a:rPr>
              <a:t>Only source of</a:t>
            </a:r>
          </a:p>
        </p:txBody>
      </p:sp>
      <p:sp>
        <p:nvSpPr>
          <p:cNvPr id="68" name="TextBox 67"/>
          <p:cNvSpPr txBox="1"/>
          <p:nvPr/>
        </p:nvSpPr>
        <p:spPr>
          <a:xfrm>
            <a:off x="3566160" y="5198364"/>
            <a:ext cx="3840480" cy="228600"/>
          </a:xfrm>
          <a:prstGeom prst="rect">
            <a:avLst/>
          </a:prstGeom>
          <a:noFill/>
        </p:spPr>
        <p:txBody>
          <a:bodyPr wrap="square" lIns="0" rIns="0" tIns="0" bIns="0" anchor="t">
            <a:spAutoFit/>
          </a:bodyPr>
          <a:lstStyle/>
          <a:p>
            <a:pPr algn="l"/>
            <a:r>
              <a:rPr sz="950" b="0" i="0">
                <a:solidFill>
                  <a:srgbClr val="11253F"/>
                </a:solidFill>
                <a:latin typeface="Calibri"/>
              </a:rPr>
              <a:t>F6 ML · F8 GenAI</a:t>
            </a:r>
          </a:p>
        </p:txBody>
      </p:sp>
      <p:sp>
        <p:nvSpPr>
          <p:cNvPr id="69" name="TextBox 68"/>
          <p:cNvSpPr txBox="1"/>
          <p:nvPr/>
        </p:nvSpPr>
        <p:spPr>
          <a:xfrm>
            <a:off x="7589520" y="5198364"/>
            <a:ext cx="3840480" cy="228600"/>
          </a:xfrm>
          <a:prstGeom prst="rect">
            <a:avLst/>
          </a:prstGeom>
          <a:noFill/>
        </p:spPr>
        <p:txBody>
          <a:bodyPr wrap="square" lIns="0" rIns="0" tIns="0" bIns="0" anchor="t">
            <a:spAutoFit/>
          </a:bodyPr>
          <a:lstStyle/>
          <a:p>
            <a:pPr algn="l"/>
            <a:r>
              <a:rPr sz="950" b="0" i="0">
                <a:solidFill>
                  <a:srgbClr val="11253F"/>
                </a:solidFill>
                <a:latin typeface="Calibri"/>
              </a:rPr>
              <a:t>F12 · F13 · F14</a:t>
            </a:r>
          </a:p>
        </p:txBody>
      </p:sp>
      <p:sp>
        <p:nvSpPr>
          <p:cNvPr id="70" name="Rectangle 69"/>
          <p:cNvSpPr/>
          <p:nvPr/>
        </p:nvSpPr>
        <p:spPr>
          <a:xfrm>
            <a:off x="685800" y="5477256"/>
            <a:ext cx="274320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429000" y="5477256"/>
            <a:ext cx="4023360" cy="333756"/>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452360" y="5477256"/>
            <a:ext cx="4023360" cy="333756"/>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5532120"/>
            <a:ext cx="2560320" cy="228600"/>
          </a:xfrm>
          <a:prstGeom prst="rect">
            <a:avLst/>
          </a:prstGeom>
          <a:noFill/>
        </p:spPr>
        <p:txBody>
          <a:bodyPr wrap="square" lIns="0" rIns="0" tIns="0" bIns="0" anchor="t">
            <a:spAutoFit/>
          </a:bodyPr>
          <a:lstStyle/>
          <a:p>
            <a:pPr algn="l"/>
            <a:r>
              <a:rPr sz="950" b="1" i="0">
                <a:solidFill>
                  <a:srgbClr val="11253F"/>
                </a:solidFill>
                <a:latin typeface="Calibri"/>
              </a:rPr>
              <a:t>Built to</a:t>
            </a:r>
          </a:p>
        </p:txBody>
      </p:sp>
      <p:sp>
        <p:nvSpPr>
          <p:cNvPr id="74" name="TextBox 73"/>
          <p:cNvSpPr txBox="1"/>
          <p:nvPr/>
        </p:nvSpPr>
        <p:spPr>
          <a:xfrm>
            <a:off x="3566160" y="5532120"/>
            <a:ext cx="3840480" cy="228600"/>
          </a:xfrm>
          <a:prstGeom prst="rect">
            <a:avLst/>
          </a:prstGeom>
          <a:noFill/>
        </p:spPr>
        <p:txBody>
          <a:bodyPr wrap="square" lIns="0" rIns="0" tIns="0" bIns="0" anchor="t">
            <a:spAutoFit/>
          </a:bodyPr>
          <a:lstStyle/>
          <a:p>
            <a:pPr algn="l"/>
            <a:r>
              <a:rPr sz="950" b="0" i="0">
                <a:solidFill>
                  <a:srgbClr val="11253F"/>
                </a:solidFill>
                <a:latin typeface="Calibri"/>
              </a:rPr>
              <a:t>POC, currently running</a:t>
            </a:r>
          </a:p>
        </p:txBody>
      </p:sp>
      <p:sp>
        <p:nvSpPr>
          <p:cNvPr id="75" name="TextBox 74"/>
          <p:cNvSpPr txBox="1"/>
          <p:nvPr/>
        </p:nvSpPr>
        <p:spPr>
          <a:xfrm>
            <a:off x="7589520" y="5532120"/>
            <a:ext cx="3840480" cy="228600"/>
          </a:xfrm>
          <a:prstGeom prst="rect">
            <a:avLst/>
          </a:prstGeom>
          <a:noFill/>
        </p:spPr>
        <p:txBody>
          <a:bodyPr wrap="square" lIns="0" rIns="0" tIns="0" bIns="0" anchor="t">
            <a:spAutoFit/>
          </a:bodyPr>
          <a:lstStyle/>
          <a:p>
            <a:pPr algn="l"/>
            <a:r>
              <a:rPr sz="950" b="0" i="0">
                <a:solidFill>
                  <a:srgbClr val="11253F"/>
                </a:solidFill>
                <a:latin typeface="Calibri"/>
              </a:rPr>
              <a:t>PRD v2.22 — the authoritative PRD</a:t>
            </a:r>
          </a:p>
        </p:txBody>
      </p:sp>
      <p:sp>
        <p:nvSpPr>
          <p:cNvPr id="76" name="Rounded Rectangle 75"/>
          <p:cNvSpPr/>
          <p:nvPr/>
        </p:nvSpPr>
        <p:spPr>
          <a:xfrm>
            <a:off x="685800" y="5902452"/>
            <a:ext cx="10789920" cy="4754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8680" y="6012180"/>
            <a:ext cx="10424160" cy="274320"/>
          </a:xfrm>
          <a:prstGeom prst="rect">
            <a:avLst/>
          </a:prstGeom>
          <a:noFill/>
        </p:spPr>
        <p:txBody>
          <a:bodyPr wrap="square" lIns="0" rIns="0" tIns="0" bIns="0" anchor="t">
            <a:spAutoFit/>
          </a:bodyPr>
          <a:lstStyle/>
          <a:p>
            <a:pPr algn="l"/>
            <a:r>
              <a:rPr sz="1050" b="1" i="0">
                <a:solidFill>
                  <a:srgbClr val="FFFFFF"/>
                </a:solidFill>
                <a:latin typeface="Calibri"/>
              </a:rPr>
              <a:t>Neither variant covers the full PRD.  The likely answer is “Variant B plus Variant A’s AI layer” — an integration nobody has scoped.</a:t>
            </a:r>
          </a:p>
        </p:txBody>
      </p:sp>
      <p:sp>
        <p:nvSpPr>
          <p:cNvPr id="78" name="TextBox 77"/>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Variant B's header calls it “a clean handover artifact for PS”. F8 GenAI is a customer-confirmed Must (Michael THAI, written, Sep 16).</a:t>
            </a:r>
          </a:p>
        </p:txBody>
      </p:sp>
      <p:sp>
        <p:nvSpPr>
          <p:cNvPr id="79" name="TextBox 78"/>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4 — DATA ARCHITECTURE</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Two layer models, side by side</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Object counts measured from CREATE statements in the DDL.</a:t>
            </a:r>
          </a:p>
        </p:txBody>
      </p:sp>
      <p:sp>
        <p:nvSpPr>
          <p:cNvPr id="7" name="Rounded Rectangle 6"/>
          <p:cNvSpPr/>
          <p:nvPr/>
        </p:nvSpPr>
        <p:spPr>
          <a:xfrm>
            <a:off x="685800" y="1207008"/>
            <a:ext cx="5212080" cy="4828032"/>
          </a:xfrm>
          <a:prstGeom prst="roundRect">
            <a:avLst/>
          </a:prstGeom>
          <a:solidFill>
            <a:srgbClr val="F7FBFE"/>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16736"/>
            <a:ext cx="4846320" cy="256032"/>
          </a:xfrm>
          <a:prstGeom prst="rect">
            <a:avLst/>
          </a:prstGeom>
          <a:noFill/>
        </p:spPr>
        <p:txBody>
          <a:bodyPr wrap="square" lIns="0" rIns="0" tIns="0" bIns="0" anchor="t">
            <a:spAutoFit/>
          </a:bodyPr>
          <a:lstStyle/>
          <a:p>
            <a:pPr algn="ctr"/>
            <a:r>
              <a:rPr sz="1200" b="1" i="0">
                <a:solidFill>
                  <a:srgbClr val="11253F"/>
                </a:solidFill>
                <a:latin typeface="Calibri"/>
              </a:rPr>
              <a:t>VARIANT A  ·  ARKEMA_PRICING_DB</a:t>
            </a:r>
          </a:p>
        </p:txBody>
      </p:sp>
      <p:sp>
        <p:nvSpPr>
          <p:cNvPr id="9" name="Rounded Rectangle 8"/>
          <p:cNvSpPr/>
          <p:nvPr/>
        </p:nvSpPr>
        <p:spPr>
          <a:xfrm>
            <a:off x="868680" y="1664208"/>
            <a:ext cx="4846320" cy="576072"/>
          </a:xfrm>
          <a:prstGeom prst="roundRect">
            <a:avLst/>
          </a:prstGeom>
          <a:solidFill>
            <a:srgbClr val="FFFFFF"/>
          </a:solidFill>
          <a:ln w="13970">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1664208"/>
            <a:ext cx="68580" cy="576072"/>
          </a:xfrm>
          <a:prstGeom prst="rect">
            <a:avLst/>
          </a:prstGeom>
          <a:solidFill>
            <a:srgbClr val="3E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1714500"/>
            <a:ext cx="1143000" cy="219456"/>
          </a:xfrm>
          <a:prstGeom prst="rect">
            <a:avLst/>
          </a:prstGeom>
          <a:noFill/>
        </p:spPr>
        <p:txBody>
          <a:bodyPr wrap="square" lIns="0" rIns="0" tIns="0" bIns="0" anchor="t">
            <a:spAutoFit/>
          </a:bodyPr>
          <a:lstStyle/>
          <a:p>
            <a:pPr algn="l"/>
            <a:r>
              <a:rPr sz="1050" b="1" i="0">
                <a:solidFill>
                  <a:srgbClr val="3E506B"/>
                </a:solidFill>
                <a:latin typeface="Calibri"/>
              </a:rPr>
              <a:t>RAW</a:t>
            </a:r>
          </a:p>
        </p:txBody>
      </p:sp>
      <p:sp>
        <p:nvSpPr>
          <p:cNvPr id="12" name="TextBox 11"/>
          <p:cNvSpPr txBox="1"/>
          <p:nvPr/>
        </p:nvSpPr>
        <p:spPr>
          <a:xfrm>
            <a:off x="2194560" y="1705356"/>
            <a:ext cx="3429000" cy="219456"/>
          </a:xfrm>
          <a:prstGeom prst="rect">
            <a:avLst/>
          </a:prstGeom>
          <a:noFill/>
        </p:spPr>
        <p:txBody>
          <a:bodyPr wrap="square" lIns="0" rIns="0" tIns="0" bIns="0" anchor="t">
            <a:spAutoFit/>
          </a:bodyPr>
          <a:lstStyle/>
          <a:p>
            <a:pPr algn="l"/>
            <a:r>
              <a:rPr sz="780" b="0" i="0">
                <a:solidFill>
                  <a:srgbClr val="3E506B"/>
                </a:solidFill>
                <a:latin typeface="Calibri"/>
              </a:rPr>
              <a:t>Landing zone + marketplace passthrough</a:t>
            </a:r>
          </a:p>
        </p:txBody>
      </p:sp>
      <p:sp>
        <p:nvSpPr>
          <p:cNvPr id="13" name="TextBox 12"/>
          <p:cNvSpPr txBox="1"/>
          <p:nvPr/>
        </p:nvSpPr>
        <p:spPr>
          <a:xfrm>
            <a:off x="1042415" y="1975104"/>
            <a:ext cx="4572000" cy="219456"/>
          </a:xfrm>
          <a:prstGeom prst="rect">
            <a:avLst/>
          </a:prstGeom>
          <a:noFill/>
        </p:spPr>
        <p:txBody>
          <a:bodyPr wrap="square" lIns="0" rIns="0" tIns="0" bIns="0" anchor="t">
            <a:spAutoFit/>
          </a:bodyPr>
          <a:lstStyle/>
          <a:p>
            <a:pPr algn="l"/>
            <a:r>
              <a:rPr sz="819" b="1" i="0">
                <a:solidFill>
                  <a:srgbClr val="11253F"/>
                </a:solidFill>
                <a:latin typeface="Calibri"/>
              </a:rPr>
              <a:t>8 tables · 1 stage · 2 file formats</a:t>
            </a:r>
          </a:p>
        </p:txBody>
      </p:sp>
      <p:sp>
        <p:nvSpPr>
          <p:cNvPr id="14" name="Rounded Rectangle 13"/>
          <p:cNvSpPr/>
          <p:nvPr/>
        </p:nvSpPr>
        <p:spPr>
          <a:xfrm>
            <a:off x="868680" y="2281428"/>
            <a:ext cx="4846320" cy="576072"/>
          </a:xfrm>
          <a:prstGeom prst="roundRect">
            <a:avLst/>
          </a:prstGeom>
          <a:solidFill>
            <a:srgbClr val="FFFFFF"/>
          </a:solidFill>
          <a:ln w="13970">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281428"/>
            <a:ext cx="68580" cy="576072"/>
          </a:xfrm>
          <a:prstGeom prst="rect">
            <a:avLst/>
          </a:prstGeom>
          <a:solidFill>
            <a:srgbClr val="3E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5" y="2331720"/>
            <a:ext cx="1143000" cy="219456"/>
          </a:xfrm>
          <a:prstGeom prst="rect">
            <a:avLst/>
          </a:prstGeom>
          <a:noFill/>
        </p:spPr>
        <p:txBody>
          <a:bodyPr wrap="square" lIns="0" rIns="0" tIns="0" bIns="0" anchor="t">
            <a:spAutoFit/>
          </a:bodyPr>
          <a:lstStyle/>
          <a:p>
            <a:pPr algn="l"/>
            <a:r>
              <a:rPr sz="1050" b="1" i="0">
                <a:solidFill>
                  <a:srgbClr val="3E506B"/>
                </a:solidFill>
                <a:latin typeface="Calibri"/>
              </a:rPr>
              <a:t>ATOMIC</a:t>
            </a:r>
          </a:p>
        </p:txBody>
      </p:sp>
      <p:sp>
        <p:nvSpPr>
          <p:cNvPr id="17" name="TextBox 16"/>
          <p:cNvSpPr txBox="1"/>
          <p:nvPr/>
        </p:nvSpPr>
        <p:spPr>
          <a:xfrm>
            <a:off x="2194560" y="2322576"/>
            <a:ext cx="3429000" cy="219456"/>
          </a:xfrm>
          <a:prstGeom prst="rect">
            <a:avLst/>
          </a:prstGeom>
          <a:noFill/>
        </p:spPr>
        <p:txBody>
          <a:bodyPr wrap="square" lIns="0" rIns="0" tIns="0" bIns="0" anchor="t">
            <a:spAutoFit/>
          </a:bodyPr>
          <a:lstStyle/>
          <a:p>
            <a:pPr algn="l"/>
            <a:r>
              <a:rPr sz="780" b="0" i="0">
                <a:solidFill>
                  <a:srgbClr val="3E506B"/>
                </a:solidFill>
                <a:latin typeface="Calibri"/>
              </a:rPr>
              <a:t>Normalized enterprise data model</a:t>
            </a:r>
          </a:p>
        </p:txBody>
      </p:sp>
      <p:sp>
        <p:nvSpPr>
          <p:cNvPr id="18" name="TextBox 17"/>
          <p:cNvSpPr txBox="1"/>
          <p:nvPr/>
        </p:nvSpPr>
        <p:spPr>
          <a:xfrm>
            <a:off x="1042415" y="2592324"/>
            <a:ext cx="4572000" cy="219456"/>
          </a:xfrm>
          <a:prstGeom prst="rect">
            <a:avLst/>
          </a:prstGeom>
          <a:noFill/>
        </p:spPr>
        <p:txBody>
          <a:bodyPr wrap="square" lIns="0" rIns="0" tIns="0" bIns="0" anchor="t">
            <a:spAutoFit/>
          </a:bodyPr>
          <a:lstStyle/>
          <a:p>
            <a:pPr algn="l"/>
            <a:r>
              <a:rPr sz="819" b="1" i="0">
                <a:solidFill>
                  <a:srgbClr val="11253F"/>
                </a:solidFill>
                <a:latin typeface="Calibri"/>
              </a:rPr>
              <a:t>13 views</a:t>
            </a:r>
          </a:p>
        </p:txBody>
      </p:sp>
      <p:sp>
        <p:nvSpPr>
          <p:cNvPr id="19" name="Rounded Rectangle 18"/>
          <p:cNvSpPr/>
          <p:nvPr/>
        </p:nvSpPr>
        <p:spPr>
          <a:xfrm>
            <a:off x="868680" y="2898648"/>
            <a:ext cx="4846320" cy="576072"/>
          </a:xfrm>
          <a:prstGeom prst="roundRect">
            <a:avLst/>
          </a:prstGeom>
          <a:solidFill>
            <a:srgbClr val="FFFFFF"/>
          </a:solidFill>
          <a:ln w="1397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2898648"/>
            <a:ext cx="68580" cy="576072"/>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5" y="2948940"/>
            <a:ext cx="1143000" cy="219456"/>
          </a:xfrm>
          <a:prstGeom prst="rect">
            <a:avLst/>
          </a:prstGeom>
          <a:noFill/>
        </p:spPr>
        <p:txBody>
          <a:bodyPr wrap="square" lIns="0" rIns="0" tIns="0" bIns="0" anchor="t">
            <a:spAutoFit/>
          </a:bodyPr>
          <a:lstStyle/>
          <a:p>
            <a:pPr algn="l"/>
            <a:r>
              <a:rPr sz="1050" b="1" i="0">
                <a:solidFill>
                  <a:srgbClr val="29B5E8"/>
                </a:solidFill>
                <a:latin typeface="Calibri"/>
              </a:rPr>
              <a:t>MART</a:t>
            </a:r>
          </a:p>
        </p:txBody>
      </p:sp>
      <p:sp>
        <p:nvSpPr>
          <p:cNvPr id="22" name="TextBox 21"/>
          <p:cNvSpPr txBox="1"/>
          <p:nvPr/>
        </p:nvSpPr>
        <p:spPr>
          <a:xfrm>
            <a:off x="2194560" y="2939796"/>
            <a:ext cx="3429000" cy="219456"/>
          </a:xfrm>
          <a:prstGeom prst="rect">
            <a:avLst/>
          </a:prstGeom>
          <a:noFill/>
        </p:spPr>
        <p:txBody>
          <a:bodyPr wrap="square" lIns="0" rIns="0" tIns="0" bIns="0" anchor="t">
            <a:spAutoFit/>
          </a:bodyPr>
          <a:lstStyle/>
          <a:p>
            <a:pPr algn="l"/>
            <a:r>
              <a:rPr sz="780" b="0" i="0">
                <a:solidFill>
                  <a:srgbClr val="3E506B"/>
                </a:solidFill>
                <a:latin typeface="Calibri"/>
              </a:rPr>
              <a:t>Analytics views &amp; data products</a:t>
            </a:r>
          </a:p>
        </p:txBody>
      </p:sp>
      <p:sp>
        <p:nvSpPr>
          <p:cNvPr id="23" name="TextBox 22"/>
          <p:cNvSpPr txBox="1"/>
          <p:nvPr/>
        </p:nvSpPr>
        <p:spPr>
          <a:xfrm>
            <a:off x="1042415" y="3209544"/>
            <a:ext cx="4572000" cy="219456"/>
          </a:xfrm>
          <a:prstGeom prst="rect">
            <a:avLst/>
          </a:prstGeom>
          <a:noFill/>
        </p:spPr>
        <p:txBody>
          <a:bodyPr wrap="square" lIns="0" rIns="0" tIns="0" bIns="0" anchor="t">
            <a:spAutoFit/>
          </a:bodyPr>
          <a:lstStyle/>
          <a:p>
            <a:pPr algn="l"/>
            <a:r>
              <a:rPr sz="819" b="1" i="0">
                <a:solidFill>
                  <a:srgbClr val="11253F"/>
                </a:solidFill>
                <a:latin typeface="Calibri"/>
              </a:rPr>
              <a:t>~12 tables · 6 views · 6 procs · SEMANTIC_MODELS stage</a:t>
            </a:r>
          </a:p>
        </p:txBody>
      </p:sp>
      <p:sp>
        <p:nvSpPr>
          <p:cNvPr id="24" name="Rounded Rectangle 23"/>
          <p:cNvSpPr/>
          <p:nvPr/>
        </p:nvSpPr>
        <p:spPr>
          <a:xfrm>
            <a:off x="868680" y="3515868"/>
            <a:ext cx="4846320" cy="576072"/>
          </a:xfrm>
          <a:prstGeom prst="roundRect">
            <a:avLst/>
          </a:prstGeom>
          <a:solidFill>
            <a:srgbClr val="FFFFFF"/>
          </a:solidFill>
          <a:ln w="13970">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3515868"/>
            <a:ext cx="68580" cy="576072"/>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5" y="3566160"/>
            <a:ext cx="1143000" cy="219456"/>
          </a:xfrm>
          <a:prstGeom prst="rect">
            <a:avLst/>
          </a:prstGeom>
          <a:noFill/>
        </p:spPr>
        <p:txBody>
          <a:bodyPr wrap="square" lIns="0" rIns="0" tIns="0" bIns="0" anchor="t">
            <a:spAutoFit/>
          </a:bodyPr>
          <a:lstStyle/>
          <a:p>
            <a:pPr algn="l"/>
            <a:r>
              <a:rPr sz="1050" b="1" i="0">
                <a:solidFill>
                  <a:srgbClr val="C43B3B"/>
                </a:solidFill>
                <a:latin typeface="Calibri"/>
              </a:rPr>
              <a:t>ML</a:t>
            </a:r>
          </a:p>
        </p:txBody>
      </p:sp>
      <p:sp>
        <p:nvSpPr>
          <p:cNvPr id="27" name="TextBox 26"/>
          <p:cNvSpPr txBox="1"/>
          <p:nvPr/>
        </p:nvSpPr>
        <p:spPr>
          <a:xfrm>
            <a:off x="2194560" y="3557015"/>
            <a:ext cx="3429000" cy="219456"/>
          </a:xfrm>
          <a:prstGeom prst="rect">
            <a:avLst/>
          </a:prstGeom>
          <a:noFill/>
        </p:spPr>
        <p:txBody>
          <a:bodyPr wrap="square" lIns="0" rIns="0" tIns="0" bIns="0" anchor="t">
            <a:spAutoFit/>
          </a:bodyPr>
          <a:lstStyle/>
          <a:p>
            <a:pPr algn="l"/>
            <a:r>
              <a:rPr sz="780" b="0" i="0">
                <a:solidFill>
                  <a:srgbClr val="3E506B"/>
                </a:solidFill>
                <a:latin typeface="Calibri"/>
              </a:rPr>
              <a:t>Models, predictions, explainability</a:t>
            </a:r>
          </a:p>
        </p:txBody>
      </p:sp>
      <p:sp>
        <p:nvSpPr>
          <p:cNvPr id="28" name="TextBox 27"/>
          <p:cNvSpPr txBox="1"/>
          <p:nvPr/>
        </p:nvSpPr>
        <p:spPr>
          <a:xfrm>
            <a:off x="1042415" y="3826763"/>
            <a:ext cx="4572000" cy="219456"/>
          </a:xfrm>
          <a:prstGeom prst="rect">
            <a:avLst/>
          </a:prstGeom>
          <a:noFill/>
        </p:spPr>
        <p:txBody>
          <a:bodyPr wrap="square" lIns="0" rIns="0" tIns="0" bIns="0" anchor="t">
            <a:spAutoFit/>
          </a:bodyPr>
          <a:lstStyle/>
          <a:p>
            <a:pPr algn="l"/>
            <a:r>
              <a:rPr sz="819" b="1" i="0">
                <a:solidFill>
                  <a:srgbClr val="11253F"/>
                </a:solidFill>
                <a:latin typeface="Calibri"/>
              </a:rPr>
              <a:t>4 tables · 2 procs · 5 tasks (inert)</a:t>
            </a:r>
          </a:p>
        </p:txBody>
      </p:sp>
      <p:sp>
        <p:nvSpPr>
          <p:cNvPr id="29" name="Rounded Rectangle 28"/>
          <p:cNvSpPr/>
          <p:nvPr/>
        </p:nvSpPr>
        <p:spPr>
          <a:xfrm>
            <a:off x="868680" y="4133087"/>
            <a:ext cx="4846320" cy="576072"/>
          </a:xfrm>
          <a:prstGeom prst="roundRect">
            <a:avLst/>
          </a:prstGeom>
          <a:solidFill>
            <a:srgbClr val="FFFFFF"/>
          </a:solidFill>
          <a:ln w="1397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8680" y="4133087"/>
            <a:ext cx="68580" cy="576072"/>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5" y="4183379"/>
            <a:ext cx="1143000" cy="219456"/>
          </a:xfrm>
          <a:prstGeom prst="rect">
            <a:avLst/>
          </a:prstGeom>
          <a:noFill/>
        </p:spPr>
        <p:txBody>
          <a:bodyPr wrap="square" lIns="0" rIns="0" tIns="0" bIns="0" anchor="t">
            <a:spAutoFit/>
          </a:bodyPr>
          <a:lstStyle/>
          <a:p>
            <a:pPr algn="l"/>
            <a:r>
              <a:rPr sz="1050" b="1" i="0">
                <a:solidFill>
                  <a:srgbClr val="1F9D6B"/>
                </a:solidFill>
                <a:latin typeface="Calibri"/>
              </a:rPr>
              <a:t>GOV</a:t>
            </a:r>
          </a:p>
        </p:txBody>
      </p:sp>
      <p:sp>
        <p:nvSpPr>
          <p:cNvPr id="32" name="TextBox 31"/>
          <p:cNvSpPr txBox="1"/>
          <p:nvPr/>
        </p:nvSpPr>
        <p:spPr>
          <a:xfrm>
            <a:off x="2194560" y="4174235"/>
            <a:ext cx="3429000" cy="219456"/>
          </a:xfrm>
          <a:prstGeom prst="rect">
            <a:avLst/>
          </a:prstGeom>
          <a:noFill/>
        </p:spPr>
        <p:txBody>
          <a:bodyPr wrap="square" lIns="0" rIns="0" tIns="0" bIns="0" anchor="t">
            <a:spAutoFit/>
          </a:bodyPr>
          <a:lstStyle/>
          <a:p>
            <a:pPr algn="l"/>
            <a:r>
              <a:rPr sz="780" b="0" i="0">
                <a:solidFill>
                  <a:srgbClr val="3E506B"/>
                </a:solidFill>
                <a:latin typeface="Calibri"/>
              </a:rPr>
              <a:t>Data quality, lineage, governance</a:t>
            </a:r>
          </a:p>
        </p:txBody>
      </p:sp>
      <p:sp>
        <p:nvSpPr>
          <p:cNvPr id="33" name="TextBox 32"/>
          <p:cNvSpPr txBox="1"/>
          <p:nvPr/>
        </p:nvSpPr>
        <p:spPr>
          <a:xfrm>
            <a:off x="1042415" y="4443983"/>
            <a:ext cx="4572000" cy="219456"/>
          </a:xfrm>
          <a:prstGeom prst="rect">
            <a:avLst/>
          </a:prstGeom>
          <a:noFill/>
        </p:spPr>
        <p:txBody>
          <a:bodyPr wrap="square" lIns="0" rIns="0" tIns="0" bIns="0" anchor="t">
            <a:spAutoFit/>
          </a:bodyPr>
          <a:lstStyle/>
          <a:p>
            <a:pPr algn="l"/>
            <a:r>
              <a:rPr sz="819" b="1" i="0">
                <a:solidFill>
                  <a:srgbClr val="11253F"/>
                </a:solidFill>
                <a:latin typeface="Calibri"/>
              </a:rPr>
              <a:t>14 views · 4 tables</a:t>
            </a:r>
          </a:p>
        </p:txBody>
      </p:sp>
      <p:sp>
        <p:nvSpPr>
          <p:cNvPr id="34" name="Rounded Rectangle 33"/>
          <p:cNvSpPr/>
          <p:nvPr/>
        </p:nvSpPr>
        <p:spPr>
          <a:xfrm>
            <a:off x="868680" y="4750307"/>
            <a:ext cx="4846320" cy="576072"/>
          </a:xfrm>
          <a:prstGeom prst="roundRect">
            <a:avLst/>
          </a:prstGeom>
          <a:solidFill>
            <a:srgbClr val="FFFFFF"/>
          </a:solidFill>
          <a:ln w="13970">
            <a:solidFill>
              <a:srgbClr val="7A5A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8680" y="4750307"/>
            <a:ext cx="68580" cy="576072"/>
          </a:xfrm>
          <a:prstGeom prst="rect">
            <a:avLst/>
          </a:prstGeom>
          <a:solidFill>
            <a:srgbClr val="7A5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5" y="4800599"/>
            <a:ext cx="1143000" cy="219456"/>
          </a:xfrm>
          <a:prstGeom prst="rect">
            <a:avLst/>
          </a:prstGeom>
          <a:noFill/>
        </p:spPr>
        <p:txBody>
          <a:bodyPr wrap="square" lIns="0" rIns="0" tIns="0" bIns="0" anchor="t">
            <a:spAutoFit/>
          </a:bodyPr>
          <a:lstStyle/>
          <a:p>
            <a:pPr algn="l"/>
            <a:r>
              <a:rPr sz="1050" b="1" i="0">
                <a:solidFill>
                  <a:srgbClr val="7A5AF8"/>
                </a:solidFill>
                <a:latin typeface="Calibri"/>
              </a:rPr>
              <a:t>DOCS</a:t>
            </a:r>
          </a:p>
        </p:txBody>
      </p:sp>
      <p:sp>
        <p:nvSpPr>
          <p:cNvPr id="37" name="TextBox 36"/>
          <p:cNvSpPr txBox="1"/>
          <p:nvPr/>
        </p:nvSpPr>
        <p:spPr>
          <a:xfrm>
            <a:off x="2194560" y="4791455"/>
            <a:ext cx="3429000" cy="219456"/>
          </a:xfrm>
          <a:prstGeom prst="rect">
            <a:avLst/>
          </a:prstGeom>
          <a:noFill/>
        </p:spPr>
        <p:txBody>
          <a:bodyPr wrap="square" lIns="0" rIns="0" tIns="0" bIns="0" anchor="t">
            <a:spAutoFit/>
          </a:bodyPr>
          <a:lstStyle/>
          <a:p>
            <a:pPr algn="l"/>
            <a:r>
              <a:rPr sz="780" b="0" i="0">
                <a:solidFill>
                  <a:srgbClr val="3E506B"/>
                </a:solidFill>
                <a:latin typeface="Calibri"/>
              </a:rPr>
              <a:t>Unstructured market notes for Cortex Search</a:t>
            </a:r>
          </a:p>
        </p:txBody>
      </p:sp>
      <p:sp>
        <p:nvSpPr>
          <p:cNvPr id="38" name="TextBox 37"/>
          <p:cNvSpPr txBox="1"/>
          <p:nvPr/>
        </p:nvSpPr>
        <p:spPr>
          <a:xfrm>
            <a:off x="1042415" y="5061203"/>
            <a:ext cx="4572000" cy="219456"/>
          </a:xfrm>
          <a:prstGeom prst="rect">
            <a:avLst/>
          </a:prstGeom>
          <a:noFill/>
        </p:spPr>
        <p:txBody>
          <a:bodyPr wrap="square" lIns="0" rIns="0" tIns="0" bIns="0" anchor="t">
            <a:spAutoFit/>
          </a:bodyPr>
          <a:lstStyle/>
          <a:p>
            <a:pPr algn="l"/>
            <a:r>
              <a:rPr sz="819" b="1" i="0">
                <a:solidFill>
                  <a:srgbClr val="11253F"/>
                </a:solidFill>
                <a:latin typeface="Calibri"/>
              </a:rPr>
              <a:t>MARKET_NOTES + stage · 13 notes</a:t>
            </a:r>
          </a:p>
        </p:txBody>
      </p:sp>
      <p:sp>
        <p:nvSpPr>
          <p:cNvPr id="39" name="Rounded Rectangle 38"/>
          <p:cNvSpPr/>
          <p:nvPr/>
        </p:nvSpPr>
        <p:spPr>
          <a:xfrm>
            <a:off x="868680" y="5367527"/>
            <a:ext cx="4846320" cy="576072"/>
          </a:xfrm>
          <a:prstGeom prst="roundRect">
            <a:avLst/>
          </a:prstGeom>
          <a:solidFill>
            <a:srgbClr val="FFFFFF"/>
          </a:solidFill>
          <a:ln w="1397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8680" y="5367527"/>
            <a:ext cx="68580" cy="576072"/>
          </a:xfrm>
          <a:prstGeom prst="rect">
            <a:avLst/>
          </a:prstGeom>
          <a:solidFill>
            <a:srgbClr val="8A9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2415" y="5417819"/>
            <a:ext cx="1143000" cy="219456"/>
          </a:xfrm>
          <a:prstGeom prst="rect">
            <a:avLst/>
          </a:prstGeom>
          <a:noFill/>
        </p:spPr>
        <p:txBody>
          <a:bodyPr wrap="square" lIns="0" rIns="0" tIns="0" bIns="0" anchor="t">
            <a:spAutoFit/>
          </a:bodyPr>
          <a:lstStyle/>
          <a:p>
            <a:pPr algn="l"/>
            <a:r>
              <a:rPr sz="1050" b="1" i="0">
                <a:solidFill>
                  <a:srgbClr val="8A99AD"/>
                </a:solidFill>
                <a:latin typeface="Calibri"/>
              </a:rPr>
              <a:t>SPCS</a:t>
            </a:r>
          </a:p>
        </p:txBody>
      </p:sp>
      <p:sp>
        <p:nvSpPr>
          <p:cNvPr id="42" name="TextBox 41"/>
          <p:cNvSpPr txBox="1"/>
          <p:nvPr/>
        </p:nvSpPr>
        <p:spPr>
          <a:xfrm>
            <a:off x="2194560" y="5408675"/>
            <a:ext cx="3429000" cy="219456"/>
          </a:xfrm>
          <a:prstGeom prst="rect">
            <a:avLst/>
          </a:prstGeom>
          <a:noFill/>
        </p:spPr>
        <p:txBody>
          <a:bodyPr wrap="square" lIns="0" rIns="0" tIns="0" bIns="0" anchor="t">
            <a:spAutoFit/>
          </a:bodyPr>
          <a:lstStyle/>
          <a:p>
            <a:pPr algn="l"/>
            <a:r>
              <a:rPr sz="780" b="0" i="0">
                <a:solidFill>
                  <a:srgbClr val="3E506B"/>
                </a:solidFill>
                <a:latin typeface="Calibri"/>
              </a:rPr>
              <a:t>Container Services artifacts</a:t>
            </a:r>
          </a:p>
        </p:txBody>
      </p:sp>
      <p:sp>
        <p:nvSpPr>
          <p:cNvPr id="43" name="TextBox 42"/>
          <p:cNvSpPr txBox="1"/>
          <p:nvPr/>
        </p:nvSpPr>
        <p:spPr>
          <a:xfrm>
            <a:off x="1042415" y="5678423"/>
            <a:ext cx="4572000" cy="219456"/>
          </a:xfrm>
          <a:prstGeom prst="rect">
            <a:avLst/>
          </a:prstGeom>
          <a:noFill/>
        </p:spPr>
        <p:txBody>
          <a:bodyPr wrap="square" lIns="0" rIns="0" tIns="0" bIns="0" anchor="t">
            <a:spAutoFit/>
          </a:bodyPr>
          <a:lstStyle/>
          <a:p>
            <a:pPr algn="l"/>
            <a:r>
              <a:rPr sz="819" b="1" i="0">
                <a:solidFill>
                  <a:srgbClr val="11253F"/>
                </a:solidFill>
                <a:latin typeface="Calibri"/>
              </a:rPr>
              <a:t>ARC_IMAGES image repository</a:t>
            </a:r>
          </a:p>
        </p:txBody>
      </p:sp>
      <p:sp>
        <p:nvSpPr>
          <p:cNvPr id="44" name="Rounded Rectangle 43"/>
          <p:cNvSpPr/>
          <p:nvPr/>
        </p:nvSpPr>
        <p:spPr>
          <a:xfrm>
            <a:off x="6263640" y="1207008"/>
            <a:ext cx="5212080" cy="4828032"/>
          </a:xfrm>
          <a:prstGeom prst="roundRect">
            <a:avLst/>
          </a:prstGeom>
          <a:solidFill>
            <a:srgbClr val="FDF6E8"/>
          </a:solidFill>
          <a:ln w="1905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46520" y="1316736"/>
            <a:ext cx="4846320" cy="256032"/>
          </a:xfrm>
          <a:prstGeom prst="rect">
            <a:avLst/>
          </a:prstGeom>
          <a:noFill/>
        </p:spPr>
        <p:txBody>
          <a:bodyPr wrap="square" lIns="0" rIns="0" tIns="0" bIns="0" anchor="t">
            <a:spAutoFit/>
          </a:bodyPr>
          <a:lstStyle/>
          <a:p>
            <a:pPr algn="ctr"/>
            <a:r>
              <a:rPr sz="1200" b="1" i="0">
                <a:solidFill>
                  <a:srgbClr val="11253F"/>
                </a:solidFill>
                <a:latin typeface="Calibri"/>
              </a:rPr>
              <a:t>VARIANT B  ·  ARKEMA_PRICING_MVP</a:t>
            </a:r>
          </a:p>
        </p:txBody>
      </p:sp>
      <p:sp>
        <p:nvSpPr>
          <p:cNvPr id="46" name="Rounded Rectangle 45"/>
          <p:cNvSpPr/>
          <p:nvPr/>
        </p:nvSpPr>
        <p:spPr>
          <a:xfrm>
            <a:off x="6446520" y="1664208"/>
            <a:ext cx="4846320" cy="731520"/>
          </a:xfrm>
          <a:prstGeom prst="roundRect">
            <a:avLst/>
          </a:prstGeom>
          <a:solidFill>
            <a:srgbClr val="FFFFFF"/>
          </a:solidFill>
          <a:ln w="13970">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46520" y="1664208"/>
            <a:ext cx="68580" cy="731520"/>
          </a:xfrm>
          <a:prstGeom prst="rect">
            <a:avLst/>
          </a:prstGeom>
          <a:solidFill>
            <a:srgbClr val="3E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0256" y="1719072"/>
            <a:ext cx="1371600" cy="219456"/>
          </a:xfrm>
          <a:prstGeom prst="rect">
            <a:avLst/>
          </a:prstGeom>
          <a:noFill/>
        </p:spPr>
        <p:txBody>
          <a:bodyPr wrap="square" lIns="0" rIns="0" tIns="0" bIns="0" anchor="t">
            <a:spAutoFit/>
          </a:bodyPr>
          <a:lstStyle/>
          <a:p>
            <a:pPr algn="l"/>
            <a:r>
              <a:rPr sz="1050" b="1" i="0">
                <a:solidFill>
                  <a:srgbClr val="3E506B"/>
                </a:solidFill>
                <a:latin typeface="Calibri"/>
              </a:rPr>
              <a:t>LANDING</a:t>
            </a:r>
          </a:p>
        </p:txBody>
      </p:sp>
      <p:sp>
        <p:nvSpPr>
          <p:cNvPr id="49" name="TextBox 48"/>
          <p:cNvSpPr txBox="1"/>
          <p:nvPr/>
        </p:nvSpPr>
        <p:spPr>
          <a:xfrm>
            <a:off x="7973568" y="1709928"/>
            <a:ext cx="3246120" cy="384048"/>
          </a:xfrm>
          <a:prstGeom prst="rect">
            <a:avLst/>
          </a:prstGeom>
          <a:noFill/>
        </p:spPr>
        <p:txBody>
          <a:bodyPr wrap="square" lIns="0" rIns="0" tIns="0" bIns="0" anchor="t">
            <a:spAutoFit/>
          </a:bodyPr>
          <a:lstStyle/>
          <a:p>
            <a:pPr algn="l"/>
            <a:r>
              <a:rPr sz="780" b="0" i="0">
                <a:solidFill>
                  <a:srgbClr val="3E506B"/>
                </a:solidFill>
                <a:latin typeface="Calibri"/>
              </a:rPr>
              <a:t>File formats + stages; files land before COPY INTO</a:t>
            </a:r>
          </a:p>
        </p:txBody>
      </p:sp>
      <p:sp>
        <p:nvSpPr>
          <p:cNvPr id="50" name="TextBox 49"/>
          <p:cNvSpPr txBox="1"/>
          <p:nvPr/>
        </p:nvSpPr>
        <p:spPr>
          <a:xfrm>
            <a:off x="6620256" y="2121408"/>
            <a:ext cx="4572000" cy="219456"/>
          </a:xfrm>
          <a:prstGeom prst="rect">
            <a:avLst/>
          </a:prstGeom>
          <a:noFill/>
        </p:spPr>
        <p:txBody>
          <a:bodyPr wrap="square" lIns="0" rIns="0" tIns="0" bIns="0" anchor="t">
            <a:spAutoFit/>
          </a:bodyPr>
          <a:lstStyle/>
          <a:p>
            <a:pPr algn="l"/>
            <a:r>
              <a:rPr sz="819" b="1" i="0">
                <a:solidFill>
                  <a:srgbClr val="11253F"/>
                </a:solidFill>
                <a:latin typeface="Calibri"/>
              </a:rPr>
              <a:t>1 stage</a:t>
            </a:r>
          </a:p>
        </p:txBody>
      </p:sp>
      <p:sp>
        <p:nvSpPr>
          <p:cNvPr id="51" name="Rounded Rectangle 50"/>
          <p:cNvSpPr/>
          <p:nvPr/>
        </p:nvSpPr>
        <p:spPr>
          <a:xfrm>
            <a:off x="6446520" y="2446020"/>
            <a:ext cx="4846320" cy="731520"/>
          </a:xfrm>
          <a:prstGeom prst="roundRect">
            <a:avLst/>
          </a:prstGeom>
          <a:solidFill>
            <a:srgbClr val="FFFFFF"/>
          </a:solidFill>
          <a:ln w="13970">
            <a:solidFill>
              <a:srgbClr val="A96B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46520" y="2446020"/>
            <a:ext cx="68580" cy="731520"/>
          </a:xfrm>
          <a:prstGeom prst="rect">
            <a:avLst/>
          </a:prstGeom>
          <a:solidFill>
            <a:srgbClr val="A9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20256" y="2500884"/>
            <a:ext cx="1371600" cy="219456"/>
          </a:xfrm>
          <a:prstGeom prst="rect">
            <a:avLst/>
          </a:prstGeom>
          <a:noFill/>
        </p:spPr>
        <p:txBody>
          <a:bodyPr wrap="square" lIns="0" rIns="0" tIns="0" bIns="0" anchor="t">
            <a:spAutoFit/>
          </a:bodyPr>
          <a:lstStyle/>
          <a:p>
            <a:pPr algn="l"/>
            <a:r>
              <a:rPr sz="1050" b="1" i="0">
                <a:solidFill>
                  <a:srgbClr val="A96B2E"/>
                </a:solidFill>
                <a:latin typeface="Calibri"/>
              </a:rPr>
              <a:t>BRONZE</a:t>
            </a:r>
          </a:p>
        </p:txBody>
      </p:sp>
      <p:sp>
        <p:nvSpPr>
          <p:cNvPr id="54" name="TextBox 53"/>
          <p:cNvSpPr txBox="1"/>
          <p:nvPr/>
        </p:nvSpPr>
        <p:spPr>
          <a:xfrm>
            <a:off x="7973568" y="2491739"/>
            <a:ext cx="3246120" cy="384048"/>
          </a:xfrm>
          <a:prstGeom prst="rect">
            <a:avLst/>
          </a:prstGeom>
          <a:noFill/>
        </p:spPr>
        <p:txBody>
          <a:bodyPr wrap="square" lIns="0" rIns="0" tIns="0" bIns="0" anchor="t">
            <a:spAutoFit/>
          </a:bodyPr>
          <a:lstStyle/>
          <a:p>
            <a:pPr algn="l"/>
            <a:r>
              <a:rPr sz="780" b="0" i="0">
                <a:solidFill>
                  <a:srgbClr val="3E506B"/>
                </a:solidFill>
                <a:latin typeface="Calibri"/>
              </a:rPr>
              <a:t>Raw landed source, 1:1 with extracts. No logic, no filters</a:t>
            </a:r>
          </a:p>
        </p:txBody>
      </p:sp>
      <p:sp>
        <p:nvSpPr>
          <p:cNvPr id="55" name="TextBox 54"/>
          <p:cNvSpPr txBox="1"/>
          <p:nvPr/>
        </p:nvSpPr>
        <p:spPr>
          <a:xfrm>
            <a:off x="6620256" y="2903220"/>
            <a:ext cx="4572000" cy="219456"/>
          </a:xfrm>
          <a:prstGeom prst="rect">
            <a:avLst/>
          </a:prstGeom>
          <a:noFill/>
        </p:spPr>
        <p:txBody>
          <a:bodyPr wrap="square" lIns="0" rIns="0" tIns="0" bIns="0" anchor="t">
            <a:spAutoFit/>
          </a:bodyPr>
          <a:lstStyle/>
          <a:p>
            <a:pPr algn="l"/>
            <a:r>
              <a:rPr sz="819" b="1" i="0">
                <a:solidFill>
                  <a:srgbClr val="11253F"/>
                </a:solidFill>
                <a:latin typeface="Calibri"/>
              </a:rPr>
              <a:t>12 tables</a:t>
            </a:r>
          </a:p>
        </p:txBody>
      </p:sp>
      <p:sp>
        <p:nvSpPr>
          <p:cNvPr id="56" name="Rounded Rectangle 55"/>
          <p:cNvSpPr/>
          <p:nvPr/>
        </p:nvSpPr>
        <p:spPr>
          <a:xfrm>
            <a:off x="6446520" y="3227832"/>
            <a:ext cx="4846320" cy="731520"/>
          </a:xfrm>
          <a:prstGeom prst="roundRect">
            <a:avLst/>
          </a:prstGeom>
          <a:solidFill>
            <a:srgbClr val="FFFFFF"/>
          </a:solidFill>
          <a:ln w="1397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46520" y="3227832"/>
            <a:ext cx="68580" cy="731520"/>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20256" y="3282696"/>
            <a:ext cx="1371600" cy="219456"/>
          </a:xfrm>
          <a:prstGeom prst="rect">
            <a:avLst/>
          </a:prstGeom>
          <a:noFill/>
        </p:spPr>
        <p:txBody>
          <a:bodyPr wrap="square" lIns="0" rIns="0" tIns="0" bIns="0" anchor="t">
            <a:spAutoFit/>
          </a:bodyPr>
          <a:lstStyle/>
          <a:p>
            <a:pPr algn="l"/>
            <a:r>
              <a:rPr sz="1050" b="1" i="0">
                <a:solidFill>
                  <a:srgbClr val="E88A1A"/>
                </a:solidFill>
                <a:latin typeface="Calibri"/>
              </a:rPr>
              <a:t>GOLD</a:t>
            </a:r>
          </a:p>
        </p:txBody>
      </p:sp>
      <p:sp>
        <p:nvSpPr>
          <p:cNvPr id="59" name="TextBox 58"/>
          <p:cNvSpPr txBox="1"/>
          <p:nvPr/>
        </p:nvSpPr>
        <p:spPr>
          <a:xfrm>
            <a:off x="7973568" y="3273551"/>
            <a:ext cx="3246120" cy="384048"/>
          </a:xfrm>
          <a:prstGeom prst="rect">
            <a:avLst/>
          </a:prstGeom>
          <a:noFill/>
        </p:spPr>
        <p:txBody>
          <a:bodyPr wrap="square" lIns="0" rIns="0" tIns="0" bIns="0" anchor="t">
            <a:spAutoFit/>
          </a:bodyPr>
          <a:lstStyle/>
          <a:p>
            <a:pPr algn="l"/>
            <a:r>
              <a:rPr sz="780" b="0" i="0">
                <a:solidFill>
                  <a:srgbClr val="3E506B"/>
                </a:solidFill>
                <a:latin typeface="Calibri"/>
              </a:rPr>
              <a:t>Curated facts/dims/refs per catalog v1.5. Silver logic as views</a:t>
            </a:r>
          </a:p>
        </p:txBody>
      </p:sp>
      <p:sp>
        <p:nvSpPr>
          <p:cNvPr id="60" name="TextBox 59"/>
          <p:cNvSpPr txBox="1"/>
          <p:nvPr/>
        </p:nvSpPr>
        <p:spPr>
          <a:xfrm>
            <a:off x="6620256" y="3685031"/>
            <a:ext cx="4572000" cy="219456"/>
          </a:xfrm>
          <a:prstGeom prst="rect">
            <a:avLst/>
          </a:prstGeom>
          <a:noFill/>
        </p:spPr>
        <p:txBody>
          <a:bodyPr wrap="square" lIns="0" rIns="0" tIns="0" bIns="0" anchor="t">
            <a:spAutoFit/>
          </a:bodyPr>
          <a:lstStyle/>
          <a:p>
            <a:pPr algn="l"/>
            <a:r>
              <a:rPr sz="819" b="1" i="0">
                <a:solidFill>
                  <a:srgbClr val="11253F"/>
                </a:solidFill>
                <a:latin typeface="Calibri"/>
              </a:rPr>
              <a:t>57 views · 24 tables</a:t>
            </a:r>
          </a:p>
        </p:txBody>
      </p:sp>
      <p:sp>
        <p:nvSpPr>
          <p:cNvPr id="61" name="Rounded Rectangle 60"/>
          <p:cNvSpPr/>
          <p:nvPr/>
        </p:nvSpPr>
        <p:spPr>
          <a:xfrm>
            <a:off x="6446520" y="4009644"/>
            <a:ext cx="4846320" cy="731520"/>
          </a:xfrm>
          <a:prstGeom prst="roundRect">
            <a:avLst/>
          </a:prstGeom>
          <a:solidFill>
            <a:srgbClr val="FFFFFF"/>
          </a:solidFill>
          <a:ln w="1397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446520" y="4009644"/>
            <a:ext cx="68580" cy="731520"/>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20256" y="4064507"/>
            <a:ext cx="1371600" cy="219456"/>
          </a:xfrm>
          <a:prstGeom prst="rect">
            <a:avLst/>
          </a:prstGeom>
          <a:noFill/>
        </p:spPr>
        <p:txBody>
          <a:bodyPr wrap="square" lIns="0" rIns="0" tIns="0" bIns="0" anchor="t">
            <a:spAutoFit/>
          </a:bodyPr>
          <a:lstStyle/>
          <a:p>
            <a:pPr algn="l"/>
            <a:r>
              <a:rPr sz="1050" b="1" i="0">
                <a:solidFill>
                  <a:srgbClr val="1F9D6B"/>
                </a:solidFill>
                <a:latin typeface="Calibri"/>
              </a:rPr>
              <a:t>GOV</a:t>
            </a:r>
          </a:p>
        </p:txBody>
      </p:sp>
      <p:sp>
        <p:nvSpPr>
          <p:cNvPr id="64" name="TextBox 63"/>
          <p:cNvSpPr txBox="1"/>
          <p:nvPr/>
        </p:nvSpPr>
        <p:spPr>
          <a:xfrm>
            <a:off x="7973568" y="4055363"/>
            <a:ext cx="3246120" cy="384048"/>
          </a:xfrm>
          <a:prstGeom prst="rect">
            <a:avLst/>
          </a:prstGeom>
          <a:noFill/>
        </p:spPr>
        <p:txBody>
          <a:bodyPr wrap="square" lIns="0" rIns="0" tIns="0" bIns="0" anchor="t">
            <a:spAutoFit/>
          </a:bodyPr>
          <a:lstStyle/>
          <a:p>
            <a:pPr algn="l"/>
            <a:r>
              <a:rPr sz="780" b="0" i="0">
                <a:solidFill>
                  <a:srgbClr val="3E506B"/>
                </a:solidFill>
                <a:latin typeface="Calibri"/>
              </a:rPr>
              <a:t>DQ, contract tests, reconciliation. MVP_PARAMETER, MVP_CHECK_SUMMARY</a:t>
            </a:r>
          </a:p>
        </p:txBody>
      </p:sp>
      <p:sp>
        <p:nvSpPr>
          <p:cNvPr id="65" name="TextBox 64"/>
          <p:cNvSpPr txBox="1"/>
          <p:nvPr/>
        </p:nvSpPr>
        <p:spPr>
          <a:xfrm>
            <a:off x="6620256" y="4466844"/>
            <a:ext cx="4572000" cy="219456"/>
          </a:xfrm>
          <a:prstGeom prst="rect">
            <a:avLst/>
          </a:prstGeom>
          <a:noFill/>
        </p:spPr>
        <p:txBody>
          <a:bodyPr wrap="square" lIns="0" rIns="0" tIns="0" bIns="0" anchor="t">
            <a:spAutoFit/>
          </a:bodyPr>
          <a:lstStyle/>
          <a:p>
            <a:pPr algn="l"/>
            <a:r>
              <a:rPr sz="819" b="1" i="0">
                <a:solidFill>
                  <a:srgbClr val="11253F"/>
                </a:solidFill>
                <a:latin typeface="Calibri"/>
              </a:rPr>
              <a:t>43 views · 4 tables</a:t>
            </a:r>
          </a:p>
        </p:txBody>
      </p:sp>
      <p:sp>
        <p:nvSpPr>
          <p:cNvPr id="66" name="Rounded Rectangle 65"/>
          <p:cNvSpPr/>
          <p:nvPr/>
        </p:nvSpPr>
        <p:spPr>
          <a:xfrm>
            <a:off x="6446520" y="4791456"/>
            <a:ext cx="4846320" cy="731520"/>
          </a:xfrm>
          <a:prstGeom prst="roundRect">
            <a:avLst/>
          </a:prstGeom>
          <a:solidFill>
            <a:srgbClr val="FFFFFF"/>
          </a:solidFill>
          <a:ln w="13970">
            <a:solidFill>
              <a:srgbClr val="7A5A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446520" y="4791456"/>
            <a:ext cx="68580" cy="731520"/>
          </a:xfrm>
          <a:prstGeom prst="rect">
            <a:avLst/>
          </a:prstGeom>
          <a:solidFill>
            <a:srgbClr val="7A5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620256" y="4846320"/>
            <a:ext cx="1371600" cy="219456"/>
          </a:xfrm>
          <a:prstGeom prst="rect">
            <a:avLst/>
          </a:prstGeom>
          <a:noFill/>
        </p:spPr>
        <p:txBody>
          <a:bodyPr wrap="square" lIns="0" rIns="0" tIns="0" bIns="0" anchor="t">
            <a:spAutoFit/>
          </a:bodyPr>
          <a:lstStyle/>
          <a:p>
            <a:pPr algn="l"/>
            <a:r>
              <a:rPr sz="1050" b="1" i="0">
                <a:solidFill>
                  <a:srgbClr val="7A5AF8"/>
                </a:solidFill>
                <a:latin typeface="Calibri"/>
              </a:rPr>
              <a:t>UTIL</a:t>
            </a:r>
          </a:p>
        </p:txBody>
      </p:sp>
      <p:sp>
        <p:nvSpPr>
          <p:cNvPr id="69" name="TextBox 68"/>
          <p:cNvSpPr txBox="1"/>
          <p:nvPr/>
        </p:nvSpPr>
        <p:spPr>
          <a:xfrm>
            <a:off x="7973568" y="4837176"/>
            <a:ext cx="3246120" cy="384048"/>
          </a:xfrm>
          <a:prstGeom prst="rect">
            <a:avLst/>
          </a:prstGeom>
          <a:noFill/>
        </p:spPr>
        <p:txBody>
          <a:bodyPr wrap="square" lIns="0" rIns="0" tIns="0" bIns="0" anchor="t">
            <a:spAutoFit/>
          </a:bodyPr>
          <a:lstStyle/>
          <a:p>
            <a:pPr algn="l"/>
            <a:r>
              <a:rPr sz="780" b="0" i="0">
                <a:solidFill>
                  <a:srgbClr val="3E506B"/>
                </a:solidFill>
                <a:latin typeface="Calibri"/>
              </a:rPr>
              <a:t>Shared contract functions — “every ingest MUST use these”</a:t>
            </a:r>
          </a:p>
        </p:txBody>
      </p:sp>
      <p:sp>
        <p:nvSpPr>
          <p:cNvPr id="70" name="TextBox 69"/>
          <p:cNvSpPr txBox="1"/>
          <p:nvPr/>
        </p:nvSpPr>
        <p:spPr>
          <a:xfrm>
            <a:off x="6620256" y="5248656"/>
            <a:ext cx="4572000" cy="219456"/>
          </a:xfrm>
          <a:prstGeom prst="rect">
            <a:avLst/>
          </a:prstGeom>
          <a:noFill/>
        </p:spPr>
        <p:txBody>
          <a:bodyPr wrap="square" lIns="0" rIns="0" tIns="0" bIns="0" anchor="t">
            <a:spAutoFit/>
          </a:bodyPr>
          <a:lstStyle/>
          <a:p>
            <a:pPr algn="l"/>
            <a:r>
              <a:rPr sz="819" b="1" i="0">
                <a:solidFill>
                  <a:srgbClr val="11253F"/>
                </a:solidFill>
                <a:latin typeface="Calibri"/>
              </a:rPr>
              <a:t>contract functions</a:t>
            </a:r>
          </a:p>
        </p:txBody>
      </p:sp>
      <p:sp>
        <p:nvSpPr>
          <p:cNvPr id="71" name="TextBox 70"/>
          <p:cNvSpPr txBox="1"/>
          <p:nvPr/>
        </p:nvSpPr>
        <p:spPr>
          <a:xfrm>
            <a:off x="6446520" y="5609844"/>
            <a:ext cx="4846320" cy="475488"/>
          </a:xfrm>
          <a:prstGeom prst="rect">
            <a:avLst/>
          </a:prstGeom>
          <a:noFill/>
        </p:spPr>
        <p:txBody>
          <a:bodyPr wrap="square" lIns="0" rIns="0" tIns="0" bIns="0" anchor="t">
            <a:spAutoFit/>
          </a:bodyPr>
          <a:lstStyle/>
          <a:p>
            <a:pPr algn="l"/>
            <a:r>
              <a:rPr sz="860" b="0" i="1">
                <a:solidFill>
                  <a:srgbClr val="11253F"/>
                </a:solidFill>
                <a:latin typeface="Calibri"/>
              </a:rPr>
              <a:t>No separate silver layer at MVP — by design.</a:t>
            </a:r>
          </a:p>
          <a:p>
            <a:pPr algn="l"/>
            <a:r>
              <a:rPr sz="860" b="0" i="1">
                <a:solidFill>
                  <a:srgbClr val="11253F"/>
                </a:solidFill>
                <a:latin typeface="Calibri"/>
              </a:rPr>
              <a:t>Variant B is 3× the DDL of Variant A.</a:t>
            </a:r>
          </a:p>
        </p:txBody>
      </p:sp>
      <p:sp>
        <p:nvSpPr>
          <p:cNvPr id="72" name="TextBox 71"/>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Isolation between the two databases is a deliberate safety control after a CREATE OR REPLACE destroyed 18 live scenarios.</a:t>
            </a:r>
          </a:p>
        </p:txBody>
      </p:sp>
      <p:sp>
        <p:nvSpPr>
          <p:cNvPr id="73" name="TextBox 72"/>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5 — AI LAYER  (VARIANT A ONLY)</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Cortex Agent, Search and Analyst — and four agent tools</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None of these objects exist in the Arkema account BR68104 today.</a:t>
            </a:r>
          </a:p>
        </p:txBody>
      </p:sp>
      <p:sp>
        <p:nvSpPr>
          <p:cNvPr id="7" name="Rounded Rectangle 6"/>
          <p:cNvSpPr/>
          <p:nvPr/>
        </p:nvSpPr>
        <p:spPr>
          <a:xfrm>
            <a:off x="685800" y="1243584"/>
            <a:ext cx="3200400" cy="731520"/>
          </a:xfrm>
          <a:prstGeom prst="roundRect">
            <a:avLst/>
          </a:prstGeom>
          <a:solidFill>
            <a:srgbClr val="F2F6FA"/>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335024"/>
            <a:ext cx="2980944" cy="274320"/>
          </a:xfrm>
          <a:prstGeom prst="rect">
            <a:avLst/>
          </a:prstGeom>
          <a:noFill/>
        </p:spPr>
        <p:txBody>
          <a:bodyPr wrap="square" lIns="0" rIns="0" tIns="0" bIns="0" anchor="t">
            <a:spAutoFit/>
          </a:bodyPr>
          <a:lstStyle/>
          <a:p>
            <a:pPr algn="ctr"/>
            <a:r>
              <a:rPr sz="1150" b="1" i="0">
                <a:solidFill>
                  <a:srgbClr val="11253F"/>
                </a:solidFill>
                <a:latin typeface="Calibri"/>
              </a:rPr>
              <a:t>Ask ARC  /  GenAI screen</a:t>
            </a:r>
          </a:p>
        </p:txBody>
      </p:sp>
      <p:sp>
        <p:nvSpPr>
          <p:cNvPr id="9" name="TextBox 8"/>
          <p:cNvSpPr txBox="1"/>
          <p:nvPr/>
        </p:nvSpPr>
        <p:spPr>
          <a:xfrm>
            <a:off x="795528" y="1591056"/>
            <a:ext cx="2980944" cy="329184"/>
          </a:xfrm>
          <a:prstGeom prst="rect">
            <a:avLst/>
          </a:prstGeom>
          <a:noFill/>
        </p:spPr>
        <p:txBody>
          <a:bodyPr wrap="square" lIns="0" rIns="0" tIns="0" bIns="0" anchor="t">
            <a:spAutoFit/>
          </a:bodyPr>
          <a:lstStyle/>
          <a:p>
            <a:pPr algn="ctr"/>
            <a:r>
              <a:rPr sz="850" b="0" i="0">
                <a:solidFill>
                  <a:srgbClr val="11253F"/>
                </a:solidFill>
                <a:latin typeface="Calibri"/>
              </a:rPr>
              <a:t>frontend/src/pages/AskARC.tsx</a:t>
            </a:r>
          </a:p>
        </p:txBody>
      </p:sp>
      <p:cxnSp>
        <p:nvCxnSpPr>
          <p:cNvPr id="10" name="Connector 9"/>
          <p:cNvCxnSpPr/>
          <p:nvPr/>
        </p:nvCxnSpPr>
        <p:spPr>
          <a:xfrm>
            <a:off x="3886200" y="1609344"/>
            <a:ext cx="731520" cy="0"/>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617720" y="1243584"/>
            <a:ext cx="3200400" cy="731520"/>
          </a:xfrm>
          <a:prstGeom prst="roundRect">
            <a:avLst/>
          </a:prstGeom>
          <a:solidFill>
            <a:srgbClr val="F2F6FA"/>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335024"/>
            <a:ext cx="2980944" cy="274320"/>
          </a:xfrm>
          <a:prstGeom prst="rect">
            <a:avLst/>
          </a:prstGeom>
          <a:noFill/>
        </p:spPr>
        <p:txBody>
          <a:bodyPr wrap="square" lIns="0" rIns="0" tIns="0" bIns="0" anchor="t">
            <a:spAutoFit/>
          </a:bodyPr>
          <a:lstStyle/>
          <a:p>
            <a:pPr algn="ctr"/>
            <a:r>
              <a:rPr sz="1150" b="1" i="0">
                <a:solidFill>
                  <a:srgbClr val="11253F"/>
                </a:solidFill>
                <a:latin typeface="Calibri"/>
              </a:rPr>
              <a:t>ArcAgentClient</a:t>
            </a:r>
          </a:p>
        </p:txBody>
      </p:sp>
      <p:sp>
        <p:nvSpPr>
          <p:cNvPr id="13" name="TextBox 12"/>
          <p:cNvSpPr txBox="1"/>
          <p:nvPr/>
        </p:nvSpPr>
        <p:spPr>
          <a:xfrm>
            <a:off x="4727448" y="1591056"/>
            <a:ext cx="2980944" cy="329184"/>
          </a:xfrm>
          <a:prstGeom prst="rect">
            <a:avLst/>
          </a:prstGeom>
          <a:noFill/>
        </p:spPr>
        <p:txBody>
          <a:bodyPr wrap="square" lIns="0" rIns="0" tIns="0" bIns="0" anchor="t">
            <a:spAutoFit/>
          </a:bodyPr>
          <a:lstStyle/>
          <a:p>
            <a:pPr algn="ctr"/>
            <a:r>
              <a:rPr sz="850" b="0" i="0">
                <a:solidFill>
                  <a:srgbClr val="11253F"/>
                </a:solidFill>
                <a:latin typeface="Calibri"/>
              </a:rPr>
              <a:t>REST · SSE stream</a:t>
            </a:r>
          </a:p>
          <a:p>
            <a:pPr algn="ctr"/>
            <a:r>
              <a:rPr sz="850" b="0" i="0">
                <a:solidFill>
                  <a:srgbClr val="11253F"/>
                </a:solidFill>
                <a:latin typeface="Calibri"/>
              </a:rPr>
              <a:t>arc_agent_client.py:36</a:t>
            </a:r>
          </a:p>
        </p:txBody>
      </p:sp>
      <p:cxnSp>
        <p:nvCxnSpPr>
          <p:cNvPr id="14" name="Connector 13"/>
          <p:cNvCxnSpPr/>
          <p:nvPr/>
        </p:nvCxnSpPr>
        <p:spPr>
          <a:xfrm>
            <a:off x="7818120" y="1609344"/>
            <a:ext cx="731520" cy="0"/>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49640" y="1243584"/>
            <a:ext cx="2926080" cy="731520"/>
          </a:xfrm>
          <a:prstGeom prst="roundRect">
            <a:avLst/>
          </a:prstGeom>
          <a:solidFill>
            <a:srgbClr val="FFFFFF"/>
          </a:solidFill>
          <a:ln w="22225">
            <a:solidFill>
              <a:srgbClr val="7A5A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9367" y="1335024"/>
            <a:ext cx="2706624" cy="274320"/>
          </a:xfrm>
          <a:prstGeom prst="rect">
            <a:avLst/>
          </a:prstGeom>
          <a:noFill/>
        </p:spPr>
        <p:txBody>
          <a:bodyPr wrap="square" lIns="0" rIns="0" tIns="0" bIns="0" anchor="t">
            <a:spAutoFit/>
          </a:bodyPr>
          <a:lstStyle/>
          <a:p>
            <a:pPr algn="ctr"/>
            <a:r>
              <a:rPr sz="1150" b="1" i="0">
                <a:solidFill>
                  <a:srgbClr val="11253F"/>
                </a:solidFill>
                <a:latin typeface="Calibri"/>
              </a:rPr>
              <a:t>ARC_V2_AGENT</a:t>
            </a:r>
          </a:p>
        </p:txBody>
      </p:sp>
      <p:sp>
        <p:nvSpPr>
          <p:cNvPr id="17" name="TextBox 16"/>
          <p:cNvSpPr txBox="1"/>
          <p:nvPr/>
        </p:nvSpPr>
        <p:spPr>
          <a:xfrm>
            <a:off x="8659367" y="1591056"/>
            <a:ext cx="2706624" cy="329184"/>
          </a:xfrm>
          <a:prstGeom prst="rect">
            <a:avLst/>
          </a:prstGeom>
          <a:noFill/>
        </p:spPr>
        <p:txBody>
          <a:bodyPr wrap="square" lIns="0" rIns="0" tIns="0" bIns="0" anchor="t">
            <a:spAutoFit/>
          </a:bodyPr>
          <a:lstStyle/>
          <a:p>
            <a:pPr algn="ctr"/>
            <a:r>
              <a:rPr sz="850" b="0" i="0">
                <a:solidFill>
                  <a:srgbClr val="11253F"/>
                </a:solidFill>
                <a:latin typeface="Calibri"/>
              </a:rPr>
              <a:t>SNOWFLAKE_INTELLIGENCE</a:t>
            </a:r>
          </a:p>
          <a:p>
            <a:pPr algn="ctr"/>
            <a:r>
              <a:rPr sz="850" b="0" i="0">
                <a:solidFill>
                  <a:srgbClr val="11253F"/>
                </a:solidFill>
                <a:latin typeface="Calibri"/>
              </a:rPr>
              <a:t>.AGENTS</a:t>
            </a:r>
          </a:p>
        </p:txBody>
      </p:sp>
      <p:sp>
        <p:nvSpPr>
          <p:cNvPr id="18" name="TextBox 17"/>
          <p:cNvSpPr txBox="1"/>
          <p:nvPr/>
        </p:nvSpPr>
        <p:spPr>
          <a:xfrm>
            <a:off x="685800" y="2157984"/>
            <a:ext cx="10789920" cy="237744"/>
          </a:xfrm>
          <a:prstGeom prst="rect">
            <a:avLst/>
          </a:prstGeom>
          <a:noFill/>
        </p:spPr>
        <p:txBody>
          <a:bodyPr wrap="square" lIns="0" rIns="0" tIns="0" bIns="0" anchor="t">
            <a:spAutoFit/>
          </a:bodyPr>
          <a:lstStyle/>
          <a:p>
            <a:pPr algn="l"/>
            <a:r>
              <a:rPr sz="1050" b="1" i="0">
                <a:solidFill>
                  <a:srgbClr val="7A5AF8"/>
                </a:solidFill>
                <a:latin typeface="Calibri"/>
              </a:rPr>
              <a:t>THE AGENT'S FOUR TOOLS</a:t>
            </a:r>
          </a:p>
        </p:txBody>
      </p:sp>
      <p:sp>
        <p:nvSpPr>
          <p:cNvPr id="19" name="Rounded Rectangle 18"/>
          <p:cNvSpPr/>
          <p:nvPr/>
        </p:nvSpPr>
        <p:spPr>
          <a:xfrm>
            <a:off x="685800" y="2468880"/>
            <a:ext cx="2615184" cy="1755648"/>
          </a:xfrm>
          <a:prstGeom prst="roundRect">
            <a:avLst/>
          </a:prstGeom>
          <a:solidFill>
            <a:srgbClr val="FFFFFF"/>
          </a:solidFill>
          <a:ln w="1778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2578608"/>
            <a:ext cx="2359152" cy="219456"/>
          </a:xfrm>
          <a:prstGeom prst="rect">
            <a:avLst/>
          </a:prstGeom>
          <a:noFill/>
        </p:spPr>
        <p:txBody>
          <a:bodyPr wrap="square" lIns="0" rIns="0" tIns="0" bIns="0" anchor="t">
            <a:spAutoFit/>
          </a:bodyPr>
          <a:lstStyle/>
          <a:p>
            <a:pPr algn="l"/>
            <a:r>
              <a:rPr sz="1050" b="1" i="0">
                <a:solidFill>
                  <a:srgbClr val="11253F"/>
                </a:solidFill>
                <a:latin typeface="Calibri"/>
              </a:rPr>
              <a:t>data_analyst</a:t>
            </a:r>
          </a:p>
        </p:txBody>
      </p:sp>
      <p:sp>
        <p:nvSpPr>
          <p:cNvPr id="21" name="TextBox 20"/>
          <p:cNvSpPr txBox="1"/>
          <p:nvPr/>
        </p:nvSpPr>
        <p:spPr>
          <a:xfrm>
            <a:off x="813816" y="2816352"/>
            <a:ext cx="2359152" cy="201168"/>
          </a:xfrm>
          <a:prstGeom prst="rect">
            <a:avLst/>
          </a:prstGeom>
          <a:noFill/>
        </p:spPr>
        <p:txBody>
          <a:bodyPr wrap="square" lIns="0" rIns="0" tIns="0" bIns="0" anchor="t">
            <a:spAutoFit/>
          </a:bodyPr>
          <a:lstStyle/>
          <a:p>
            <a:pPr algn="l"/>
            <a:r>
              <a:rPr sz="780" b="0" i="1">
                <a:solidFill>
                  <a:srgbClr val="3E506B"/>
                </a:solidFill>
                <a:latin typeface="Calibri"/>
              </a:rPr>
              <a:t>cortex_analyst_text_to_sql</a:t>
            </a:r>
          </a:p>
        </p:txBody>
      </p:sp>
      <p:sp>
        <p:nvSpPr>
          <p:cNvPr id="22" name="TextBox 21"/>
          <p:cNvSpPr txBox="1"/>
          <p:nvPr/>
        </p:nvSpPr>
        <p:spPr>
          <a:xfrm>
            <a:off x="813816" y="3108960"/>
            <a:ext cx="2359152" cy="749808"/>
          </a:xfrm>
          <a:prstGeom prst="rect">
            <a:avLst/>
          </a:prstGeom>
          <a:noFill/>
        </p:spPr>
        <p:txBody>
          <a:bodyPr wrap="square" lIns="0" rIns="0" tIns="0" bIns="0" anchor="t">
            <a:spAutoFit/>
          </a:bodyPr>
          <a:lstStyle/>
          <a:p>
            <a:pPr algn="l"/>
            <a:r>
              <a:rPr sz="819" b="0" i="0">
                <a:solidFill>
                  <a:srgbClr val="11253F"/>
                </a:solidFill>
                <a:latin typeface="Calibri"/>
              </a:rPr>
              <a:t>semantic model YAML on stage</a:t>
            </a:r>
          </a:p>
          <a:p>
            <a:pPr algn="l"/>
            <a:r>
              <a:rPr sz="819" b="0" i="0">
                <a:solidFill>
                  <a:srgbClr val="11253F"/>
                </a:solidFill>
                <a:latin typeface="Calibri"/>
              </a:rPr>
              <a:t>@ARKEMA_PRICING_DB.MART.</a:t>
            </a:r>
          </a:p>
          <a:p>
            <a:pPr algn="l"/>
            <a:r>
              <a:rPr sz="819" b="0" i="0">
                <a:solidFill>
                  <a:srgbClr val="11253F"/>
                </a:solidFill>
                <a:latin typeface="Calibri"/>
              </a:rPr>
              <a:t>SEMANTIC_MODELS/…yaml</a:t>
            </a:r>
          </a:p>
        </p:txBody>
      </p:sp>
      <p:sp>
        <p:nvSpPr>
          <p:cNvPr id="23" name="Rectangle 22"/>
          <p:cNvSpPr/>
          <p:nvPr/>
        </p:nvSpPr>
        <p:spPr>
          <a:xfrm>
            <a:off x="813816" y="3895344"/>
            <a:ext cx="841248" cy="219456"/>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 y="3918204"/>
            <a:ext cx="841248" cy="182880"/>
          </a:xfrm>
          <a:prstGeom prst="rect">
            <a:avLst/>
          </a:prstGeom>
          <a:noFill/>
        </p:spPr>
        <p:txBody>
          <a:bodyPr wrap="square" lIns="0" rIns="0" tIns="0" bIns="0" anchor="t">
            <a:spAutoFit/>
          </a:bodyPr>
          <a:lstStyle/>
          <a:p>
            <a:pPr algn="ctr"/>
            <a:r>
              <a:rPr sz="780" b="1" i="0">
                <a:solidFill>
                  <a:srgbClr val="FFFFFF"/>
                </a:solidFill>
                <a:latin typeface="Calibri"/>
              </a:rPr>
              <a:t>READ</a:t>
            </a:r>
          </a:p>
        </p:txBody>
      </p:sp>
      <p:sp>
        <p:nvSpPr>
          <p:cNvPr id="25" name="Rounded Rectangle 24"/>
          <p:cNvSpPr/>
          <p:nvPr/>
        </p:nvSpPr>
        <p:spPr>
          <a:xfrm>
            <a:off x="3392424" y="2468880"/>
            <a:ext cx="2615184" cy="1755648"/>
          </a:xfrm>
          <a:prstGeom prst="roundRect">
            <a:avLst/>
          </a:prstGeom>
          <a:solidFill>
            <a:srgbClr val="FFFFFF"/>
          </a:solidFill>
          <a:ln w="1778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0440" y="2578608"/>
            <a:ext cx="2359152" cy="219456"/>
          </a:xfrm>
          <a:prstGeom prst="rect">
            <a:avLst/>
          </a:prstGeom>
          <a:noFill/>
        </p:spPr>
        <p:txBody>
          <a:bodyPr wrap="square" lIns="0" rIns="0" tIns="0" bIns="0" anchor="t">
            <a:spAutoFit/>
          </a:bodyPr>
          <a:lstStyle/>
          <a:p>
            <a:pPr algn="l"/>
            <a:r>
              <a:rPr sz="1050" b="1" i="0">
                <a:solidFill>
                  <a:srgbClr val="11253F"/>
                </a:solidFill>
                <a:latin typeface="Calibri"/>
              </a:rPr>
              <a:t>market_intel</a:t>
            </a:r>
          </a:p>
        </p:txBody>
      </p:sp>
      <p:sp>
        <p:nvSpPr>
          <p:cNvPr id="27" name="TextBox 26"/>
          <p:cNvSpPr txBox="1"/>
          <p:nvPr/>
        </p:nvSpPr>
        <p:spPr>
          <a:xfrm>
            <a:off x="3520440" y="2816352"/>
            <a:ext cx="2359152" cy="201168"/>
          </a:xfrm>
          <a:prstGeom prst="rect">
            <a:avLst/>
          </a:prstGeom>
          <a:noFill/>
        </p:spPr>
        <p:txBody>
          <a:bodyPr wrap="square" lIns="0" rIns="0" tIns="0" bIns="0" anchor="t">
            <a:spAutoFit/>
          </a:bodyPr>
          <a:lstStyle/>
          <a:p>
            <a:pPr algn="l"/>
            <a:r>
              <a:rPr sz="780" b="0" i="1">
                <a:solidFill>
                  <a:srgbClr val="3E506B"/>
                </a:solidFill>
                <a:latin typeface="Calibri"/>
              </a:rPr>
              <a:t>cortex_search</a:t>
            </a:r>
          </a:p>
        </p:txBody>
      </p:sp>
      <p:sp>
        <p:nvSpPr>
          <p:cNvPr id="28" name="TextBox 27"/>
          <p:cNvSpPr txBox="1"/>
          <p:nvPr/>
        </p:nvSpPr>
        <p:spPr>
          <a:xfrm>
            <a:off x="3520440" y="3108960"/>
            <a:ext cx="2359152" cy="749808"/>
          </a:xfrm>
          <a:prstGeom prst="rect">
            <a:avLst/>
          </a:prstGeom>
          <a:noFill/>
        </p:spPr>
        <p:txBody>
          <a:bodyPr wrap="square" lIns="0" rIns="0" tIns="0" bIns="0" anchor="t">
            <a:spAutoFit/>
          </a:bodyPr>
          <a:lstStyle/>
          <a:p>
            <a:pPr algn="l"/>
            <a:r>
              <a:rPr sz="819" b="0" i="0">
                <a:solidFill>
                  <a:srgbClr val="11253F"/>
                </a:solidFill>
                <a:latin typeface="Calibri"/>
              </a:rPr>
              <a:t>ARKEMA_PRICING_DB.DOCS.</a:t>
            </a:r>
          </a:p>
          <a:p>
            <a:pPr algn="l"/>
            <a:r>
              <a:rPr sz="819" b="0" i="0">
                <a:solidFill>
                  <a:srgbClr val="11253F"/>
                </a:solidFill>
                <a:latin typeface="Calibri"/>
              </a:rPr>
              <a:t>ARC_V2_MARKET_INTEL</a:t>
            </a:r>
          </a:p>
          <a:p>
            <a:pPr algn="l"/>
            <a:r>
              <a:rPr sz="819" b="0" i="0">
                <a:solidFill>
                  <a:srgbClr val="11253F"/>
                </a:solidFill>
                <a:latin typeface="Calibri"/>
              </a:rPr>
              <a:t>TARGET_LAG = 1 day</a:t>
            </a:r>
          </a:p>
        </p:txBody>
      </p:sp>
      <p:sp>
        <p:nvSpPr>
          <p:cNvPr id="29" name="Rectangle 28"/>
          <p:cNvSpPr/>
          <p:nvPr/>
        </p:nvSpPr>
        <p:spPr>
          <a:xfrm>
            <a:off x="3520440" y="3895344"/>
            <a:ext cx="841248" cy="219456"/>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20440" y="3918204"/>
            <a:ext cx="841248" cy="182880"/>
          </a:xfrm>
          <a:prstGeom prst="rect">
            <a:avLst/>
          </a:prstGeom>
          <a:noFill/>
        </p:spPr>
        <p:txBody>
          <a:bodyPr wrap="square" lIns="0" rIns="0" tIns="0" bIns="0" anchor="t">
            <a:spAutoFit/>
          </a:bodyPr>
          <a:lstStyle/>
          <a:p>
            <a:pPr algn="ctr"/>
            <a:r>
              <a:rPr sz="780" b="1" i="0">
                <a:solidFill>
                  <a:srgbClr val="FFFFFF"/>
                </a:solidFill>
                <a:latin typeface="Calibri"/>
              </a:rPr>
              <a:t>READ</a:t>
            </a:r>
          </a:p>
        </p:txBody>
      </p:sp>
      <p:sp>
        <p:nvSpPr>
          <p:cNvPr id="31" name="Rounded Rectangle 30"/>
          <p:cNvSpPr/>
          <p:nvPr/>
        </p:nvSpPr>
        <p:spPr>
          <a:xfrm>
            <a:off x="6099048" y="2468880"/>
            <a:ext cx="2615184" cy="1755648"/>
          </a:xfrm>
          <a:prstGeom prst="roundRect">
            <a:avLst/>
          </a:prstGeom>
          <a:solidFill>
            <a:srgbClr val="FFFFFF"/>
          </a:solidFill>
          <a:ln w="17780">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7064" y="2578608"/>
            <a:ext cx="2359152" cy="219456"/>
          </a:xfrm>
          <a:prstGeom prst="rect">
            <a:avLst/>
          </a:prstGeom>
          <a:noFill/>
        </p:spPr>
        <p:txBody>
          <a:bodyPr wrap="square" lIns="0" rIns="0" tIns="0" bIns="0" anchor="t">
            <a:spAutoFit/>
          </a:bodyPr>
          <a:lstStyle/>
          <a:p>
            <a:pPr algn="l"/>
            <a:r>
              <a:rPr sz="1050" b="1" i="0">
                <a:solidFill>
                  <a:srgbClr val="11253F"/>
                </a:solidFill>
                <a:latin typeface="Calibri"/>
              </a:rPr>
              <a:t>run_simulation</a:t>
            </a:r>
          </a:p>
        </p:txBody>
      </p:sp>
      <p:sp>
        <p:nvSpPr>
          <p:cNvPr id="33" name="TextBox 32"/>
          <p:cNvSpPr txBox="1"/>
          <p:nvPr/>
        </p:nvSpPr>
        <p:spPr>
          <a:xfrm>
            <a:off x="6227064" y="2816352"/>
            <a:ext cx="2359152" cy="201168"/>
          </a:xfrm>
          <a:prstGeom prst="rect">
            <a:avLst/>
          </a:prstGeom>
          <a:noFill/>
        </p:spPr>
        <p:txBody>
          <a:bodyPr wrap="square" lIns="0" rIns="0" tIns="0" bIns="0" anchor="t">
            <a:spAutoFit/>
          </a:bodyPr>
          <a:lstStyle/>
          <a:p>
            <a:pPr algn="l"/>
            <a:r>
              <a:rPr sz="780" b="0" i="1">
                <a:solidFill>
                  <a:srgbClr val="3E506B"/>
                </a:solidFill>
                <a:latin typeface="Calibri"/>
              </a:rPr>
              <a:t>generic → stored procedure</a:t>
            </a:r>
          </a:p>
        </p:txBody>
      </p:sp>
      <p:sp>
        <p:nvSpPr>
          <p:cNvPr id="34" name="TextBox 33"/>
          <p:cNvSpPr txBox="1"/>
          <p:nvPr/>
        </p:nvSpPr>
        <p:spPr>
          <a:xfrm>
            <a:off x="6227064" y="3108960"/>
            <a:ext cx="2359152" cy="749808"/>
          </a:xfrm>
          <a:prstGeom prst="rect">
            <a:avLst/>
          </a:prstGeom>
          <a:noFill/>
        </p:spPr>
        <p:txBody>
          <a:bodyPr wrap="square" lIns="0" rIns="0" tIns="0" bIns="0" anchor="t">
            <a:spAutoFit/>
          </a:bodyPr>
          <a:lstStyle/>
          <a:p>
            <a:pPr algn="l"/>
            <a:r>
              <a:rPr sz="819" b="0" i="0">
                <a:solidFill>
                  <a:srgbClr val="11253F"/>
                </a:solidFill>
                <a:latin typeface="Calibri"/>
              </a:rPr>
              <a:t>ARKEMA_PRICING_DB.MART.</a:t>
            </a:r>
          </a:p>
          <a:p>
            <a:pPr algn="l"/>
            <a:r>
              <a:rPr sz="819" b="0" i="0">
                <a:solidFill>
                  <a:srgbClr val="11253F"/>
                </a:solidFill>
                <a:latin typeface="Calibri"/>
              </a:rPr>
              <a:t>SP_NLC2_AGENT_SIMULATE</a:t>
            </a:r>
          </a:p>
          <a:p>
            <a:pPr algn="l"/>
            <a:r>
              <a:rPr sz="819" b="0" i="0">
                <a:solidFill>
                  <a:srgbClr val="11253F"/>
                </a:solidFill>
                <a:latin typeface="Calibri"/>
              </a:rPr>
              <a:t>writes a new scenario</a:t>
            </a:r>
          </a:p>
        </p:txBody>
      </p:sp>
      <p:sp>
        <p:nvSpPr>
          <p:cNvPr id="35" name="Rectangle 34"/>
          <p:cNvSpPr/>
          <p:nvPr/>
        </p:nvSpPr>
        <p:spPr>
          <a:xfrm>
            <a:off x="6227064" y="3895344"/>
            <a:ext cx="841248" cy="219456"/>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7064" y="3918204"/>
            <a:ext cx="841248" cy="182880"/>
          </a:xfrm>
          <a:prstGeom prst="rect">
            <a:avLst/>
          </a:prstGeom>
          <a:noFill/>
        </p:spPr>
        <p:txBody>
          <a:bodyPr wrap="square" lIns="0" rIns="0" tIns="0" bIns="0" anchor="t">
            <a:spAutoFit/>
          </a:bodyPr>
          <a:lstStyle/>
          <a:p>
            <a:pPr algn="ctr"/>
            <a:r>
              <a:rPr sz="780" b="1" i="0">
                <a:solidFill>
                  <a:srgbClr val="FFFFFF"/>
                </a:solidFill>
                <a:latin typeface="Calibri"/>
              </a:rPr>
              <a:t>WRITES</a:t>
            </a:r>
          </a:p>
        </p:txBody>
      </p:sp>
      <p:sp>
        <p:nvSpPr>
          <p:cNvPr id="37" name="Rounded Rectangle 36"/>
          <p:cNvSpPr/>
          <p:nvPr/>
        </p:nvSpPr>
        <p:spPr>
          <a:xfrm>
            <a:off x="8805672" y="2468880"/>
            <a:ext cx="2615184" cy="1755648"/>
          </a:xfrm>
          <a:prstGeom prst="roundRect">
            <a:avLst/>
          </a:prstGeom>
          <a:solidFill>
            <a:srgbClr val="FFFFFF"/>
          </a:solidFill>
          <a:ln w="17780">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33688" y="2578608"/>
            <a:ext cx="2359152" cy="219456"/>
          </a:xfrm>
          <a:prstGeom prst="rect">
            <a:avLst/>
          </a:prstGeom>
          <a:noFill/>
        </p:spPr>
        <p:txBody>
          <a:bodyPr wrap="square" lIns="0" rIns="0" tIns="0" bIns="0" anchor="t">
            <a:spAutoFit/>
          </a:bodyPr>
          <a:lstStyle/>
          <a:p>
            <a:pPr algn="l"/>
            <a:r>
              <a:rPr sz="1050" b="1" i="0">
                <a:solidFill>
                  <a:srgbClr val="11253F"/>
                </a:solidFill>
                <a:latin typeface="Calibri"/>
              </a:rPr>
              <a:t>run_recommendations</a:t>
            </a:r>
          </a:p>
        </p:txBody>
      </p:sp>
      <p:sp>
        <p:nvSpPr>
          <p:cNvPr id="39" name="TextBox 38"/>
          <p:cNvSpPr txBox="1"/>
          <p:nvPr/>
        </p:nvSpPr>
        <p:spPr>
          <a:xfrm>
            <a:off x="8933688" y="2816352"/>
            <a:ext cx="2359152" cy="201168"/>
          </a:xfrm>
          <a:prstGeom prst="rect">
            <a:avLst/>
          </a:prstGeom>
          <a:noFill/>
        </p:spPr>
        <p:txBody>
          <a:bodyPr wrap="square" lIns="0" rIns="0" tIns="0" bIns="0" anchor="t">
            <a:spAutoFit/>
          </a:bodyPr>
          <a:lstStyle/>
          <a:p>
            <a:pPr algn="l"/>
            <a:r>
              <a:rPr sz="780" b="0" i="1">
                <a:solidFill>
                  <a:srgbClr val="3E506B"/>
                </a:solidFill>
                <a:latin typeface="Calibri"/>
              </a:rPr>
              <a:t>generic → stored procedure</a:t>
            </a:r>
          </a:p>
        </p:txBody>
      </p:sp>
      <p:sp>
        <p:nvSpPr>
          <p:cNvPr id="40" name="TextBox 39"/>
          <p:cNvSpPr txBox="1"/>
          <p:nvPr/>
        </p:nvSpPr>
        <p:spPr>
          <a:xfrm>
            <a:off x="8933688" y="3108960"/>
            <a:ext cx="2359152" cy="749808"/>
          </a:xfrm>
          <a:prstGeom prst="rect">
            <a:avLst/>
          </a:prstGeom>
          <a:noFill/>
        </p:spPr>
        <p:txBody>
          <a:bodyPr wrap="square" lIns="0" rIns="0" tIns="0" bIns="0" anchor="t">
            <a:spAutoFit/>
          </a:bodyPr>
          <a:lstStyle/>
          <a:p>
            <a:pPr algn="l"/>
            <a:r>
              <a:rPr sz="819" b="0" i="0">
                <a:solidFill>
                  <a:srgbClr val="11253F"/>
                </a:solidFill>
                <a:latin typeface="Calibri"/>
              </a:rPr>
              <a:t>ARKEMA_PRICING_DB.ML.</a:t>
            </a:r>
          </a:p>
          <a:p>
            <a:pPr algn="l"/>
            <a:r>
              <a:rPr sz="819" b="0" i="0">
                <a:solidFill>
                  <a:srgbClr val="11253F"/>
                </a:solidFill>
                <a:latin typeface="Calibri"/>
              </a:rPr>
              <a:t>SP_NLC2_AGENT_RECOMMEND</a:t>
            </a:r>
          </a:p>
          <a:p>
            <a:pPr algn="l"/>
            <a:r>
              <a:rPr sz="819" b="0" i="0">
                <a:solidFill>
                  <a:srgbClr val="11253F"/>
                </a:solidFill>
                <a:latin typeface="Calibri"/>
              </a:rPr>
              <a:t>runs the ML pricing engine</a:t>
            </a:r>
          </a:p>
        </p:txBody>
      </p:sp>
      <p:sp>
        <p:nvSpPr>
          <p:cNvPr id="41" name="Rectangle 40"/>
          <p:cNvSpPr/>
          <p:nvPr/>
        </p:nvSpPr>
        <p:spPr>
          <a:xfrm>
            <a:off x="8933688" y="3895344"/>
            <a:ext cx="841248" cy="219456"/>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33688" y="3918204"/>
            <a:ext cx="841248" cy="182880"/>
          </a:xfrm>
          <a:prstGeom prst="rect">
            <a:avLst/>
          </a:prstGeom>
          <a:noFill/>
        </p:spPr>
        <p:txBody>
          <a:bodyPr wrap="square" lIns="0" rIns="0" tIns="0" bIns="0" anchor="t">
            <a:spAutoFit/>
          </a:bodyPr>
          <a:lstStyle/>
          <a:p>
            <a:pPr algn="ctr"/>
            <a:r>
              <a:rPr sz="780" b="1" i="0">
                <a:solidFill>
                  <a:srgbClr val="FFFFFF"/>
                </a:solidFill>
                <a:latin typeface="Calibri"/>
              </a:rPr>
              <a:t>WRITES</a:t>
            </a:r>
          </a:p>
        </p:txBody>
      </p:sp>
      <p:sp>
        <p:nvSpPr>
          <p:cNvPr id="43" name="Rounded Rectangle 42"/>
          <p:cNvSpPr/>
          <p:nvPr/>
        </p:nvSpPr>
        <p:spPr>
          <a:xfrm>
            <a:off x="685800" y="4443984"/>
            <a:ext cx="10789920" cy="731520"/>
          </a:xfrm>
          <a:prstGeom prst="roundRect">
            <a:avLst/>
          </a:prstGeom>
          <a:solidFill>
            <a:srgbClr val="FBECEC"/>
          </a:solidFill>
          <a:ln w="19050">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4553712"/>
            <a:ext cx="10424160" cy="530352"/>
          </a:xfrm>
          <a:prstGeom prst="rect">
            <a:avLst/>
          </a:prstGeom>
          <a:noFill/>
        </p:spPr>
        <p:txBody>
          <a:bodyPr wrap="square" lIns="0" rIns="0" tIns="0" bIns="0" anchor="t">
            <a:spAutoFit/>
          </a:bodyPr>
          <a:lstStyle/>
          <a:p>
            <a:pPr algn="l"/>
            <a:r>
              <a:rPr sz="1000" b="1" i="0">
                <a:solidFill>
                  <a:srgbClr val="11253F"/>
                </a:solidFill>
                <a:latin typeface="Calibri"/>
              </a:rPr>
              <a:t>SECURITY:  cortex/deploy_agent_v2.sql ends with  GRANT USAGE ON AGENT … ARC_V2_AGENT TO ROLE PUBLIC.</a:t>
            </a:r>
          </a:p>
          <a:p>
            <a:pPr algn="l"/>
            <a:r>
              <a:rPr sz="1000" b="1" i="0">
                <a:solidFill>
                  <a:srgbClr val="11253F"/>
                </a:solidFill>
                <a:latin typeface="Calibri"/>
              </a:rPr>
              <a:t>Because two of the four tools WRITE, that would let any user in the account run simulations and the ML pricing engine against real margin data.  Must not be carried into the Arkema account.</a:t>
            </a:r>
          </a:p>
        </p:txBody>
      </p:sp>
      <p:sp>
        <p:nvSpPr>
          <p:cNvPr id="45" name="Rounded Rectangle 44"/>
          <p:cNvSpPr/>
          <p:nvPr/>
        </p:nvSpPr>
        <p:spPr>
          <a:xfrm>
            <a:off x="685800" y="5303520"/>
            <a:ext cx="10789920" cy="658368"/>
          </a:xfrm>
          <a:prstGeom prst="roundRect">
            <a:avLst/>
          </a:prstGeom>
          <a:solidFill>
            <a:srgbClr val="F2F6FA"/>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5404104"/>
            <a:ext cx="10424160" cy="457200"/>
          </a:xfrm>
          <a:prstGeom prst="rect">
            <a:avLst/>
          </a:prstGeom>
          <a:noFill/>
        </p:spPr>
        <p:txBody>
          <a:bodyPr wrap="square" lIns="0" rIns="0" tIns="0" bIns="0" anchor="t">
            <a:spAutoFit/>
          </a:bodyPr>
          <a:lstStyle/>
          <a:p>
            <a:pPr algn="l"/>
            <a:r>
              <a:rPr sz="950" b="0" i="0">
                <a:solidFill>
                  <a:srgbClr val="11253F"/>
                </a:solidFill>
                <a:latin typeface="Calibri"/>
              </a:rPr>
              <a:t>OPEN:  service_spec.yaml names ARC_AGENT (v1), but v1 was hand-built in the Snowsight UI and has no reproducible DDL.</a:t>
            </a:r>
          </a:p>
          <a:p>
            <a:pPr algn="l"/>
            <a:r>
              <a:rPr sz="950" b="0" i="0">
                <a:solidFill>
                  <a:srgbClr val="11253F"/>
                </a:solidFill>
                <a:latin typeface="Calibri"/>
              </a:rPr>
              <a:t>ARC_V2_AGENT has DDL and matches the NLC2 pilot.  Deploying v1 puts an unreproducible object on the critical path.</a:t>
            </a:r>
          </a:p>
        </p:txBody>
      </p:sp>
      <p:sp>
        <p:nvSpPr>
          <p:cNvPr id="47" name="TextBox 46"/>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The semantic model is a YAML file on a stage — not a native SEMANTIC VIEW object. This changes which privilege is required.</a:t>
            </a:r>
          </a:p>
        </p:txBody>
      </p:sp>
      <p:sp>
        <p:nvSpPr>
          <p:cNvPr id="48" name="TextBox 47"/>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6 — REQUEST FLOW</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A cost simulation, end to end  (Variant A)</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The core F2 / F4 use case. The same flow is reachable from the Cortex Agent, bypassing the UI.</a:t>
            </a:r>
          </a:p>
        </p:txBody>
      </p:sp>
      <p:sp>
        <p:nvSpPr>
          <p:cNvPr id="7" name="Rounded Rectangle 6"/>
          <p:cNvSpPr/>
          <p:nvPr/>
        </p:nvSpPr>
        <p:spPr>
          <a:xfrm>
            <a:off x="685800" y="1280160"/>
            <a:ext cx="3291840" cy="841248"/>
          </a:xfrm>
          <a:prstGeom prst="roundRect">
            <a:avLst/>
          </a:prstGeom>
          <a:solidFill>
            <a:srgbClr val="FFFFFF"/>
          </a:solidFill>
          <a:ln w="17780">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280160"/>
            <a:ext cx="384048" cy="841248"/>
          </a:xfrm>
          <a:prstGeom prst="rect">
            <a:avLst/>
          </a:prstGeom>
          <a:solidFill>
            <a:srgbClr val="3E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54480"/>
            <a:ext cx="384048" cy="274320"/>
          </a:xfrm>
          <a:prstGeom prst="rect">
            <a:avLst/>
          </a:prstGeom>
          <a:noFill/>
        </p:spPr>
        <p:txBody>
          <a:bodyPr wrap="square" lIns="0" rIns="0" tIns="0" bIns="0" anchor="t">
            <a:spAutoFit/>
          </a:bodyPr>
          <a:lstStyle/>
          <a:p>
            <a:pPr algn="ctr"/>
            <a:r>
              <a:rPr sz="1400" b="1" i="0">
                <a:solidFill>
                  <a:srgbClr val="FFFFFF"/>
                </a:solidFill>
                <a:latin typeface="Calibri"/>
              </a:rPr>
              <a:t>1</a:t>
            </a:r>
          </a:p>
        </p:txBody>
      </p:sp>
      <p:sp>
        <p:nvSpPr>
          <p:cNvPr id="10" name="TextBox 9"/>
          <p:cNvSpPr txBox="1"/>
          <p:nvPr/>
        </p:nvSpPr>
        <p:spPr>
          <a:xfrm>
            <a:off x="1188720" y="1389888"/>
            <a:ext cx="2651760" cy="219456"/>
          </a:xfrm>
          <a:prstGeom prst="rect">
            <a:avLst/>
          </a:prstGeom>
          <a:noFill/>
        </p:spPr>
        <p:txBody>
          <a:bodyPr wrap="square" lIns="0" rIns="0" tIns="0" bIns="0" anchor="t">
            <a:spAutoFit/>
          </a:bodyPr>
          <a:lstStyle/>
          <a:p>
            <a:pPr algn="l"/>
            <a:r>
              <a:rPr sz="1100" b="1" i="0">
                <a:solidFill>
                  <a:srgbClr val="11253F"/>
                </a:solidFill>
                <a:latin typeface="Calibri"/>
              </a:rPr>
              <a:t>UI</a:t>
            </a:r>
          </a:p>
        </p:txBody>
      </p:sp>
      <p:sp>
        <p:nvSpPr>
          <p:cNvPr id="11" name="TextBox 10"/>
          <p:cNvSpPr txBox="1"/>
          <p:nvPr/>
        </p:nvSpPr>
        <p:spPr>
          <a:xfrm>
            <a:off x="1188720" y="1627632"/>
            <a:ext cx="2697480" cy="438912"/>
          </a:xfrm>
          <a:prstGeom prst="rect">
            <a:avLst/>
          </a:prstGeom>
          <a:noFill/>
        </p:spPr>
        <p:txBody>
          <a:bodyPr wrap="square" lIns="0" rIns="0" tIns="0" bIns="0" anchor="t">
            <a:spAutoFit/>
          </a:bodyPr>
          <a:lstStyle/>
          <a:p>
            <a:pPr algn="l"/>
            <a:r>
              <a:rPr sz="819" b="0" i="0">
                <a:solidFill>
                  <a:srgbClr val="3E506B"/>
                </a:solidFill>
                <a:latin typeface="Calibri"/>
              </a:rPr>
              <a:t>SimulationWizard.tsx</a:t>
            </a:r>
          </a:p>
          <a:p>
            <a:pPr algn="l"/>
            <a:r>
              <a:rPr sz="819" b="0" i="0">
                <a:solidFill>
                  <a:srgbClr val="3E506B"/>
                </a:solidFill>
                <a:latin typeface="Calibri"/>
              </a:rPr>
              <a:t>user picks component + shock %</a:t>
            </a:r>
          </a:p>
        </p:txBody>
      </p:sp>
      <p:cxnSp>
        <p:nvCxnSpPr>
          <p:cNvPr id="12" name="Connector 11"/>
          <p:cNvCxnSpPr/>
          <p:nvPr/>
        </p:nvCxnSpPr>
        <p:spPr>
          <a:xfrm>
            <a:off x="3977639" y="1700784"/>
            <a:ext cx="320041" cy="0"/>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97680" y="1280160"/>
            <a:ext cx="3291840" cy="841248"/>
          </a:xfrm>
          <a:prstGeom prst="roundRect">
            <a:avLst/>
          </a:prstGeom>
          <a:solidFill>
            <a:srgbClr val="FFFFFF"/>
          </a:solidFill>
          <a:ln w="17780">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280160"/>
            <a:ext cx="384048" cy="841248"/>
          </a:xfrm>
          <a:prstGeom prst="rect">
            <a:avLst/>
          </a:prstGeom>
          <a:solidFill>
            <a:srgbClr val="3E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1554480"/>
            <a:ext cx="384048" cy="274320"/>
          </a:xfrm>
          <a:prstGeom prst="rect">
            <a:avLst/>
          </a:prstGeom>
          <a:noFill/>
        </p:spPr>
        <p:txBody>
          <a:bodyPr wrap="square" lIns="0" rIns="0" tIns="0" bIns="0" anchor="t">
            <a:spAutoFit/>
          </a:bodyPr>
          <a:lstStyle/>
          <a:p>
            <a:pPr algn="ctr"/>
            <a:r>
              <a:rPr sz="1400" b="1" i="0">
                <a:solidFill>
                  <a:srgbClr val="FFFFFF"/>
                </a:solidFill>
                <a:latin typeface="Calibri"/>
              </a:rPr>
              <a:t>2</a:t>
            </a:r>
          </a:p>
        </p:txBody>
      </p:sp>
      <p:sp>
        <p:nvSpPr>
          <p:cNvPr id="16" name="TextBox 15"/>
          <p:cNvSpPr txBox="1"/>
          <p:nvPr/>
        </p:nvSpPr>
        <p:spPr>
          <a:xfrm>
            <a:off x="4800600" y="1389888"/>
            <a:ext cx="2651760" cy="219456"/>
          </a:xfrm>
          <a:prstGeom prst="rect">
            <a:avLst/>
          </a:prstGeom>
          <a:noFill/>
        </p:spPr>
        <p:txBody>
          <a:bodyPr wrap="square" lIns="0" rIns="0" tIns="0" bIns="0" anchor="t">
            <a:spAutoFit/>
          </a:bodyPr>
          <a:lstStyle/>
          <a:p>
            <a:pPr algn="l"/>
            <a:r>
              <a:rPr sz="1100" b="1" i="0">
                <a:solidFill>
                  <a:srgbClr val="11253F"/>
                </a:solidFill>
                <a:latin typeface="Calibri"/>
              </a:rPr>
              <a:t>API</a:t>
            </a:r>
          </a:p>
        </p:txBody>
      </p:sp>
      <p:sp>
        <p:nvSpPr>
          <p:cNvPr id="17" name="TextBox 16"/>
          <p:cNvSpPr txBox="1"/>
          <p:nvPr/>
        </p:nvSpPr>
        <p:spPr>
          <a:xfrm>
            <a:off x="4800600" y="1627632"/>
            <a:ext cx="2697480" cy="438912"/>
          </a:xfrm>
          <a:prstGeom prst="rect">
            <a:avLst/>
          </a:prstGeom>
          <a:noFill/>
        </p:spPr>
        <p:txBody>
          <a:bodyPr wrap="square" lIns="0" rIns="0" tIns="0" bIns="0" anchor="t">
            <a:spAutoFit/>
          </a:bodyPr>
          <a:lstStyle/>
          <a:p>
            <a:pPr algn="l"/>
            <a:r>
              <a:rPr sz="819" b="0" i="0">
                <a:solidFill>
                  <a:srgbClr val="3E506B"/>
                </a:solidFill>
                <a:latin typeface="Calibri"/>
              </a:rPr>
              <a:t>POST /api/v2/nlc2/run</a:t>
            </a:r>
          </a:p>
          <a:p>
            <a:pPr algn="l"/>
            <a:r>
              <a:rPr sz="819" b="0" i="0">
                <a:solidFill>
                  <a:srgbClr val="3E506B"/>
                </a:solidFill>
                <a:latin typeface="Calibri"/>
              </a:rPr>
              <a:t>FastAPI route</a:t>
            </a:r>
          </a:p>
        </p:txBody>
      </p:sp>
      <p:cxnSp>
        <p:nvCxnSpPr>
          <p:cNvPr id="18" name="Connector 17"/>
          <p:cNvCxnSpPr/>
          <p:nvPr/>
        </p:nvCxnSpPr>
        <p:spPr>
          <a:xfrm>
            <a:off x="7589520" y="1700784"/>
            <a:ext cx="320040" cy="0"/>
          </a:xfrm>
          <a:prstGeom prst="bentConnector3">
            <a:avLst/>
          </a:prstGeom>
          <a:ln w="22225">
            <a:solidFill>
              <a:srgbClr val="3E506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909560" y="1280160"/>
            <a:ext cx="3291840" cy="841248"/>
          </a:xfrm>
          <a:prstGeom prst="roundRect">
            <a:avLst/>
          </a:prstGeom>
          <a:solidFill>
            <a:srgbClr val="FFFFFF"/>
          </a:solidFill>
          <a:ln w="1778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09560" y="1280160"/>
            <a:ext cx="384048" cy="84124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1554480"/>
            <a:ext cx="384048" cy="274320"/>
          </a:xfrm>
          <a:prstGeom prst="rect">
            <a:avLst/>
          </a:prstGeom>
          <a:noFill/>
        </p:spPr>
        <p:txBody>
          <a:bodyPr wrap="square" lIns="0" rIns="0" tIns="0" bIns="0" anchor="t">
            <a:spAutoFit/>
          </a:bodyPr>
          <a:lstStyle/>
          <a:p>
            <a:pPr algn="ctr"/>
            <a:r>
              <a:rPr sz="1400" b="1" i="0">
                <a:solidFill>
                  <a:srgbClr val="FFFFFF"/>
                </a:solidFill>
                <a:latin typeface="Calibri"/>
              </a:rPr>
              <a:t>3</a:t>
            </a:r>
          </a:p>
        </p:txBody>
      </p:sp>
      <p:sp>
        <p:nvSpPr>
          <p:cNvPr id="22" name="TextBox 21"/>
          <p:cNvSpPr txBox="1"/>
          <p:nvPr/>
        </p:nvSpPr>
        <p:spPr>
          <a:xfrm>
            <a:off x="8412480" y="1389888"/>
            <a:ext cx="2651760" cy="219456"/>
          </a:xfrm>
          <a:prstGeom prst="rect">
            <a:avLst/>
          </a:prstGeom>
          <a:noFill/>
        </p:spPr>
        <p:txBody>
          <a:bodyPr wrap="square" lIns="0" rIns="0" tIns="0" bIns="0" anchor="t">
            <a:spAutoFit/>
          </a:bodyPr>
          <a:lstStyle/>
          <a:p>
            <a:pPr algn="l"/>
            <a:r>
              <a:rPr sz="1100" b="1" i="0">
                <a:solidFill>
                  <a:srgbClr val="11253F"/>
                </a:solidFill>
                <a:latin typeface="Calibri"/>
              </a:rPr>
              <a:t>Orchestrator</a:t>
            </a:r>
          </a:p>
        </p:txBody>
      </p:sp>
      <p:sp>
        <p:nvSpPr>
          <p:cNvPr id="23" name="TextBox 22"/>
          <p:cNvSpPr txBox="1"/>
          <p:nvPr/>
        </p:nvSpPr>
        <p:spPr>
          <a:xfrm>
            <a:off x="8412480" y="1627632"/>
            <a:ext cx="2697480" cy="438912"/>
          </a:xfrm>
          <a:prstGeom prst="rect">
            <a:avLst/>
          </a:prstGeom>
          <a:noFill/>
        </p:spPr>
        <p:txBody>
          <a:bodyPr wrap="square" lIns="0" rIns="0" tIns="0" bIns="0" anchor="t">
            <a:spAutoFit/>
          </a:bodyPr>
          <a:lstStyle/>
          <a:p>
            <a:pPr algn="l"/>
            <a:r>
              <a:rPr sz="819" b="0" i="0">
                <a:solidFill>
                  <a:srgbClr val="3E506B"/>
                </a:solidFill>
                <a:latin typeface="Calibri"/>
              </a:rPr>
              <a:t>MART.SP_NLC2_RUN_SCENARIO_E2E</a:t>
            </a:r>
          </a:p>
        </p:txBody>
      </p:sp>
      <p:sp>
        <p:nvSpPr>
          <p:cNvPr id="24" name="TextBox 23"/>
          <p:cNvSpPr txBox="1"/>
          <p:nvPr/>
        </p:nvSpPr>
        <p:spPr>
          <a:xfrm>
            <a:off x="685800" y="2304288"/>
            <a:ext cx="10789920" cy="219456"/>
          </a:xfrm>
          <a:prstGeom prst="rect">
            <a:avLst/>
          </a:prstGeom>
          <a:noFill/>
        </p:spPr>
        <p:txBody>
          <a:bodyPr wrap="square" lIns="0" rIns="0" tIns="0" bIns="0" anchor="t">
            <a:spAutoFit/>
          </a:bodyPr>
          <a:lstStyle/>
          <a:p>
            <a:pPr algn="l"/>
            <a:r>
              <a:rPr sz="1050" b="1" i="0">
                <a:solidFill>
                  <a:srgbClr val="29B5E8"/>
                </a:solidFill>
                <a:latin typeface="Calibri"/>
              </a:rPr>
              <a:t>STEP 3 EXPANDS INTO FOUR WRITES</a:t>
            </a:r>
          </a:p>
        </p:txBody>
      </p:sp>
      <p:sp>
        <p:nvSpPr>
          <p:cNvPr id="25" name="Rounded Rectangle 24"/>
          <p:cNvSpPr/>
          <p:nvPr/>
        </p:nvSpPr>
        <p:spPr>
          <a:xfrm>
            <a:off x="685800" y="2596896"/>
            <a:ext cx="2615184" cy="877824"/>
          </a:xfrm>
          <a:prstGeom prst="roundRect">
            <a:avLst/>
          </a:prstGeom>
          <a:solidFill>
            <a:srgbClr val="F7FBFE"/>
          </a:solidFill>
          <a:ln w="1397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2697480"/>
            <a:ext cx="2359152" cy="219456"/>
          </a:xfrm>
          <a:prstGeom prst="rect">
            <a:avLst/>
          </a:prstGeom>
          <a:noFill/>
        </p:spPr>
        <p:txBody>
          <a:bodyPr wrap="square" lIns="0" rIns="0" tIns="0" bIns="0" anchor="t">
            <a:spAutoFit/>
          </a:bodyPr>
          <a:lstStyle/>
          <a:p>
            <a:pPr algn="l"/>
            <a:r>
              <a:rPr sz="950" b="1" i="0">
                <a:solidFill>
                  <a:srgbClr val="11253F"/>
                </a:solidFill>
                <a:latin typeface="Calibri"/>
              </a:rPr>
              <a:t>shock component price</a:t>
            </a:r>
          </a:p>
        </p:txBody>
      </p:sp>
      <p:sp>
        <p:nvSpPr>
          <p:cNvPr id="27" name="TextBox 26"/>
          <p:cNvSpPr txBox="1"/>
          <p:nvPr/>
        </p:nvSpPr>
        <p:spPr>
          <a:xfrm>
            <a:off x="813816" y="2944368"/>
            <a:ext cx="2359152" cy="457200"/>
          </a:xfrm>
          <a:prstGeom prst="rect">
            <a:avLst/>
          </a:prstGeom>
          <a:noFill/>
        </p:spPr>
        <p:txBody>
          <a:bodyPr wrap="square" lIns="0" rIns="0" tIns="0" bIns="0" anchor="t">
            <a:spAutoFit/>
          </a:bodyPr>
          <a:lstStyle/>
          <a:p>
            <a:pPr algn="l"/>
            <a:r>
              <a:rPr sz="800" b="0" i="0">
                <a:solidFill>
                  <a:srgbClr val="3E506B"/>
                </a:solidFill>
                <a:latin typeface="Calibri"/>
              </a:rPr>
              <a:t>016_nlc2_bom_rollup.sql</a:t>
            </a:r>
          </a:p>
        </p:txBody>
      </p:sp>
      <p:cxnSp>
        <p:nvCxnSpPr>
          <p:cNvPr id="28" name="Connector 27"/>
          <p:cNvCxnSpPr/>
          <p:nvPr/>
        </p:nvCxnSpPr>
        <p:spPr>
          <a:xfrm>
            <a:off x="3300984" y="3035808"/>
            <a:ext cx="91440" cy="0"/>
          </a:xfrm>
          <a:prstGeom prst="bentConnector3">
            <a:avLst/>
          </a:prstGeom>
          <a:ln w="16510">
            <a:solidFill>
              <a:srgbClr val="3E506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392424" y="2596896"/>
            <a:ext cx="2615184" cy="877824"/>
          </a:xfrm>
          <a:prstGeom prst="roundRect">
            <a:avLst/>
          </a:prstGeom>
          <a:solidFill>
            <a:srgbClr val="F7FBFE"/>
          </a:solidFill>
          <a:ln w="1397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20440" y="2697480"/>
            <a:ext cx="2359152" cy="219456"/>
          </a:xfrm>
          <a:prstGeom prst="rect">
            <a:avLst/>
          </a:prstGeom>
          <a:noFill/>
        </p:spPr>
        <p:txBody>
          <a:bodyPr wrap="square" lIns="0" rIns="0" tIns="0" bIns="0" anchor="t">
            <a:spAutoFit/>
          </a:bodyPr>
          <a:lstStyle/>
          <a:p>
            <a:pPr algn="l"/>
            <a:r>
              <a:rPr sz="950" b="1" i="0">
                <a:solidFill>
                  <a:srgbClr val="11253F"/>
                </a:solidFill>
                <a:latin typeface="Calibri"/>
              </a:rPr>
              <a:t>re-roll BOM cost</a:t>
            </a:r>
          </a:p>
        </p:txBody>
      </p:sp>
      <p:sp>
        <p:nvSpPr>
          <p:cNvPr id="31" name="TextBox 30"/>
          <p:cNvSpPr txBox="1"/>
          <p:nvPr/>
        </p:nvSpPr>
        <p:spPr>
          <a:xfrm>
            <a:off x="3520440" y="2944368"/>
            <a:ext cx="2359152" cy="457200"/>
          </a:xfrm>
          <a:prstGeom prst="rect">
            <a:avLst/>
          </a:prstGeom>
          <a:noFill/>
        </p:spPr>
        <p:txBody>
          <a:bodyPr wrap="square" lIns="0" rIns="0" tIns="0" bIns="0" anchor="t">
            <a:spAutoFit/>
          </a:bodyPr>
          <a:lstStyle/>
          <a:p>
            <a:pPr algn="l"/>
            <a:r>
              <a:rPr sz="800" b="0" i="0">
                <a:solidFill>
                  <a:srgbClr val="3E506B"/>
                </a:solidFill>
                <a:latin typeface="Calibri"/>
              </a:rPr>
              <a:t>→ MART.NLC2_SIMULATED_COST</a:t>
            </a:r>
          </a:p>
        </p:txBody>
      </p:sp>
      <p:cxnSp>
        <p:nvCxnSpPr>
          <p:cNvPr id="32" name="Connector 31"/>
          <p:cNvCxnSpPr/>
          <p:nvPr/>
        </p:nvCxnSpPr>
        <p:spPr>
          <a:xfrm>
            <a:off x="6007608" y="3035808"/>
            <a:ext cx="91440" cy="0"/>
          </a:xfrm>
          <a:prstGeom prst="bentConnector3">
            <a:avLst/>
          </a:prstGeom>
          <a:ln w="16510">
            <a:solidFill>
              <a:srgbClr val="3E506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099048" y="2596896"/>
            <a:ext cx="2615184" cy="877824"/>
          </a:xfrm>
          <a:prstGeom prst="roundRect">
            <a:avLst/>
          </a:prstGeom>
          <a:solidFill>
            <a:srgbClr val="F7FBFE"/>
          </a:solidFill>
          <a:ln w="1397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27064" y="2697480"/>
            <a:ext cx="2359152" cy="219456"/>
          </a:xfrm>
          <a:prstGeom prst="rect">
            <a:avLst/>
          </a:prstGeom>
          <a:noFill/>
        </p:spPr>
        <p:txBody>
          <a:bodyPr wrap="square" lIns="0" rIns="0" tIns="0" bIns="0" anchor="t">
            <a:spAutoFit/>
          </a:bodyPr>
          <a:lstStyle/>
          <a:p>
            <a:pPr algn="l"/>
            <a:r>
              <a:rPr sz="950" b="1" i="0">
                <a:solidFill>
                  <a:srgbClr val="11253F"/>
                </a:solidFill>
                <a:latin typeface="Calibri"/>
              </a:rPr>
              <a:t>recompute margin</a:t>
            </a:r>
          </a:p>
        </p:txBody>
      </p:sp>
      <p:sp>
        <p:nvSpPr>
          <p:cNvPr id="35" name="TextBox 34"/>
          <p:cNvSpPr txBox="1"/>
          <p:nvPr/>
        </p:nvSpPr>
        <p:spPr>
          <a:xfrm>
            <a:off x="6227064" y="2944368"/>
            <a:ext cx="2359152" cy="457200"/>
          </a:xfrm>
          <a:prstGeom prst="rect">
            <a:avLst/>
          </a:prstGeom>
          <a:noFill/>
        </p:spPr>
        <p:txBody>
          <a:bodyPr wrap="square" lIns="0" rIns="0" tIns="0" bIns="0" anchor="t">
            <a:spAutoFit/>
          </a:bodyPr>
          <a:lstStyle/>
          <a:p>
            <a:pPr algn="l"/>
            <a:r>
              <a:rPr sz="800" b="0" i="0">
                <a:solidFill>
                  <a:srgbClr val="3E506B"/>
                </a:solidFill>
                <a:latin typeface="Calibri"/>
              </a:rPr>
              <a:t>SP_NLC2_RECOMPUTE_MARGIN</a:t>
            </a:r>
          </a:p>
          <a:p>
            <a:pPr algn="l"/>
            <a:r>
              <a:rPr sz="800" b="0" i="0">
                <a:solidFill>
                  <a:srgbClr val="3E506B"/>
                </a:solidFill>
                <a:latin typeface="Calibri"/>
              </a:rPr>
              <a:t>→ MART.NLC2_CUSTOMER_MARGIN</a:t>
            </a:r>
          </a:p>
        </p:txBody>
      </p:sp>
      <p:cxnSp>
        <p:nvCxnSpPr>
          <p:cNvPr id="36" name="Connector 35"/>
          <p:cNvCxnSpPr/>
          <p:nvPr/>
        </p:nvCxnSpPr>
        <p:spPr>
          <a:xfrm>
            <a:off x="8714232" y="3035808"/>
            <a:ext cx="91440" cy="0"/>
          </a:xfrm>
          <a:prstGeom prst="bentConnector3">
            <a:avLst/>
          </a:prstGeom>
          <a:ln w="16510">
            <a:solidFill>
              <a:srgbClr val="3E506B"/>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805672" y="2596896"/>
            <a:ext cx="2615184" cy="877824"/>
          </a:xfrm>
          <a:prstGeom prst="roundRect">
            <a:avLst/>
          </a:prstGeom>
          <a:solidFill>
            <a:srgbClr val="F7FBFE"/>
          </a:solidFill>
          <a:ln w="1397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33688" y="2697480"/>
            <a:ext cx="2359152" cy="219456"/>
          </a:xfrm>
          <a:prstGeom prst="rect">
            <a:avLst/>
          </a:prstGeom>
          <a:noFill/>
        </p:spPr>
        <p:txBody>
          <a:bodyPr wrap="square" lIns="0" rIns="0" tIns="0" bIns="0" anchor="t">
            <a:spAutoFit/>
          </a:bodyPr>
          <a:lstStyle/>
          <a:p>
            <a:pPr algn="l"/>
            <a:r>
              <a:rPr sz="950" b="1" i="0">
                <a:solidFill>
                  <a:srgbClr val="11253F"/>
                </a:solidFill>
                <a:latin typeface="Calibri"/>
              </a:rPr>
              <a:t>register the run</a:t>
            </a:r>
          </a:p>
        </p:txBody>
      </p:sp>
      <p:sp>
        <p:nvSpPr>
          <p:cNvPr id="39" name="TextBox 38"/>
          <p:cNvSpPr txBox="1"/>
          <p:nvPr/>
        </p:nvSpPr>
        <p:spPr>
          <a:xfrm>
            <a:off x="8933688" y="2944368"/>
            <a:ext cx="2359152" cy="457200"/>
          </a:xfrm>
          <a:prstGeom prst="rect">
            <a:avLst/>
          </a:prstGeom>
          <a:noFill/>
        </p:spPr>
        <p:txBody>
          <a:bodyPr wrap="square" lIns="0" rIns="0" tIns="0" bIns="0" anchor="t">
            <a:spAutoFit/>
          </a:bodyPr>
          <a:lstStyle/>
          <a:p>
            <a:pPr algn="l"/>
            <a:r>
              <a:rPr sz="800" b="0" i="0">
                <a:solidFill>
                  <a:srgbClr val="3E506B"/>
                </a:solidFill>
                <a:latin typeface="Calibri"/>
              </a:rPr>
              <a:t>→ MART.NLC2_COST_SIMULATION_RUN</a:t>
            </a:r>
          </a:p>
          <a:p>
            <a:pPr algn="l"/>
            <a:r>
              <a:rPr sz="800" b="0" i="0">
                <a:solidFill>
                  <a:srgbClr val="3E506B"/>
                </a:solidFill>
                <a:latin typeface="Calibri"/>
              </a:rPr>
              <a:t>new scenario_id</a:t>
            </a:r>
          </a:p>
        </p:txBody>
      </p:sp>
      <p:sp>
        <p:nvSpPr>
          <p:cNvPr id="40" name="Rounded Rectangle 39"/>
          <p:cNvSpPr/>
          <p:nvPr/>
        </p:nvSpPr>
        <p:spPr>
          <a:xfrm>
            <a:off x="685800" y="3675887"/>
            <a:ext cx="10789920" cy="658368"/>
          </a:xfrm>
          <a:prstGeom prst="roundRect">
            <a:avLst/>
          </a:prstGeom>
          <a:solidFill>
            <a:srgbClr val="FFFFFF"/>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3675887"/>
            <a:ext cx="384048" cy="658368"/>
          </a:xfrm>
          <a:prstGeom prst="rect">
            <a:avLst/>
          </a:prstGeom>
          <a:solidFill>
            <a:srgbClr val="3E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3858768"/>
            <a:ext cx="384048" cy="274320"/>
          </a:xfrm>
          <a:prstGeom prst="rect">
            <a:avLst/>
          </a:prstGeom>
          <a:noFill/>
        </p:spPr>
        <p:txBody>
          <a:bodyPr wrap="square" lIns="0" rIns="0" tIns="0" bIns="0" anchor="t">
            <a:spAutoFit/>
          </a:bodyPr>
          <a:lstStyle/>
          <a:p>
            <a:pPr algn="ctr"/>
            <a:r>
              <a:rPr sz="1300" b="1" i="0">
                <a:solidFill>
                  <a:srgbClr val="FFFFFF"/>
                </a:solidFill>
                <a:latin typeface="Calibri"/>
              </a:rPr>
              <a:t>4</a:t>
            </a:r>
          </a:p>
        </p:txBody>
      </p:sp>
      <p:sp>
        <p:nvSpPr>
          <p:cNvPr id="43" name="TextBox 42"/>
          <p:cNvSpPr txBox="1"/>
          <p:nvPr/>
        </p:nvSpPr>
        <p:spPr>
          <a:xfrm>
            <a:off x="1207008" y="3749039"/>
            <a:ext cx="3657600" cy="219456"/>
          </a:xfrm>
          <a:prstGeom prst="rect">
            <a:avLst/>
          </a:prstGeom>
          <a:noFill/>
        </p:spPr>
        <p:txBody>
          <a:bodyPr wrap="square" lIns="0" rIns="0" tIns="0" bIns="0" anchor="t">
            <a:spAutoFit/>
          </a:bodyPr>
          <a:lstStyle/>
          <a:p>
            <a:pPr algn="l"/>
            <a:r>
              <a:rPr sz="1050" b="1" i="0">
                <a:solidFill>
                  <a:srgbClr val="11253F"/>
                </a:solidFill>
                <a:latin typeface="Calibri"/>
              </a:rPr>
              <a:t>UI polls for results</a:t>
            </a:r>
          </a:p>
        </p:txBody>
      </p:sp>
      <p:sp>
        <p:nvSpPr>
          <p:cNvPr id="44" name="TextBox 43"/>
          <p:cNvSpPr txBox="1"/>
          <p:nvPr/>
        </p:nvSpPr>
        <p:spPr>
          <a:xfrm>
            <a:off x="1207008" y="3977639"/>
            <a:ext cx="10058400" cy="384048"/>
          </a:xfrm>
          <a:prstGeom prst="rect">
            <a:avLst/>
          </a:prstGeom>
          <a:noFill/>
        </p:spPr>
        <p:txBody>
          <a:bodyPr wrap="square" lIns="0" rIns="0" tIns="0" bIns="0" anchor="t">
            <a:spAutoFit/>
          </a:bodyPr>
          <a:lstStyle/>
          <a:p>
            <a:pPr algn="l"/>
            <a:r>
              <a:rPr sz="840" b="0" i="0">
                <a:solidFill>
                  <a:srgbClr val="3E506B"/>
                </a:solidFill>
                <a:latin typeface="Calibri"/>
              </a:rPr>
              <a:t>/api/v2/nlc2/scenarios/{id}/kpi     and     /margin</a:t>
            </a:r>
          </a:p>
        </p:txBody>
      </p:sp>
      <p:sp>
        <p:nvSpPr>
          <p:cNvPr id="45" name="Rounded Rectangle 44"/>
          <p:cNvSpPr/>
          <p:nvPr/>
        </p:nvSpPr>
        <p:spPr>
          <a:xfrm>
            <a:off x="685800" y="4407407"/>
            <a:ext cx="10789920" cy="658368"/>
          </a:xfrm>
          <a:prstGeom prst="roundRect">
            <a:avLst/>
          </a:prstGeom>
          <a:solidFill>
            <a:srgbClr val="FFFFFF"/>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85800" y="4407407"/>
            <a:ext cx="384048" cy="658368"/>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4590288"/>
            <a:ext cx="384048" cy="274320"/>
          </a:xfrm>
          <a:prstGeom prst="rect">
            <a:avLst/>
          </a:prstGeom>
          <a:noFill/>
        </p:spPr>
        <p:txBody>
          <a:bodyPr wrap="square" lIns="0" rIns="0" tIns="0" bIns="0" anchor="t">
            <a:spAutoFit/>
          </a:bodyPr>
          <a:lstStyle/>
          <a:p>
            <a:pPr algn="ctr"/>
            <a:r>
              <a:rPr sz="1300" b="1" i="0">
                <a:solidFill>
                  <a:srgbClr val="FFFFFF"/>
                </a:solidFill>
                <a:latin typeface="Calibri"/>
              </a:rPr>
              <a:t>5</a:t>
            </a:r>
          </a:p>
        </p:txBody>
      </p:sp>
      <p:sp>
        <p:nvSpPr>
          <p:cNvPr id="48" name="TextBox 47"/>
          <p:cNvSpPr txBox="1"/>
          <p:nvPr/>
        </p:nvSpPr>
        <p:spPr>
          <a:xfrm>
            <a:off x="1207008" y="4480559"/>
            <a:ext cx="3657600" cy="219456"/>
          </a:xfrm>
          <a:prstGeom prst="rect">
            <a:avLst/>
          </a:prstGeom>
          <a:noFill/>
        </p:spPr>
        <p:txBody>
          <a:bodyPr wrap="square" lIns="0" rIns="0" tIns="0" bIns="0" anchor="t">
            <a:spAutoFit/>
          </a:bodyPr>
          <a:lstStyle/>
          <a:p>
            <a:pPr algn="l"/>
            <a:r>
              <a:rPr sz="1050" b="1" i="0">
                <a:solidFill>
                  <a:srgbClr val="11253F"/>
                </a:solidFill>
                <a:latin typeface="Calibri"/>
              </a:rPr>
              <a:t>Optional — ML recommendations</a:t>
            </a:r>
          </a:p>
        </p:txBody>
      </p:sp>
      <p:sp>
        <p:nvSpPr>
          <p:cNvPr id="49" name="TextBox 48"/>
          <p:cNvSpPr txBox="1"/>
          <p:nvPr/>
        </p:nvSpPr>
        <p:spPr>
          <a:xfrm>
            <a:off x="1207008" y="4709159"/>
            <a:ext cx="10058400" cy="384048"/>
          </a:xfrm>
          <a:prstGeom prst="rect">
            <a:avLst/>
          </a:prstGeom>
          <a:noFill/>
        </p:spPr>
        <p:txBody>
          <a:bodyPr wrap="square" lIns="0" rIns="0" tIns="0" bIns="0" anchor="t">
            <a:spAutoFit/>
          </a:bodyPr>
          <a:lstStyle/>
          <a:p>
            <a:pPr algn="l"/>
            <a:r>
              <a:rPr sz="840" b="0" i="0">
                <a:solidFill>
                  <a:srgbClr val="3E506B"/>
                </a:solidFill>
                <a:latin typeface="Calibri"/>
              </a:rPr>
              <a:t>/scenarios/{id}/recommendations  →  ML.SP_NLC2_AGENT_RECOMMEND</a:t>
            </a:r>
          </a:p>
          <a:p>
            <a:pPr algn="l"/>
            <a:r>
              <a:rPr sz="840" b="0" i="0">
                <a:solidFill>
                  <a:srgbClr val="3E506B"/>
                </a:solidFill>
                <a:latin typeface="Calibri"/>
              </a:rPr>
              <a:t>reads ML.NLC2_ELASTICITY + ML.NLC2_VOLUME_RISK  →  writes MART.NLC2_AI_RECOMMENDATION</a:t>
            </a:r>
          </a:p>
        </p:txBody>
      </p:sp>
      <p:sp>
        <p:nvSpPr>
          <p:cNvPr id="50" name="Rounded Rectangle 49"/>
          <p:cNvSpPr/>
          <p:nvPr/>
        </p:nvSpPr>
        <p:spPr>
          <a:xfrm>
            <a:off x="685800" y="5138927"/>
            <a:ext cx="10789920" cy="658368"/>
          </a:xfrm>
          <a:prstGeom prst="roundRect">
            <a:avLst/>
          </a:prstGeom>
          <a:solidFill>
            <a:srgbClr val="FFFFFF"/>
          </a:solidFill>
          <a:ln w="15875">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85800" y="5138927"/>
            <a:ext cx="384048" cy="658368"/>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 y="5321807"/>
            <a:ext cx="384048" cy="274320"/>
          </a:xfrm>
          <a:prstGeom prst="rect">
            <a:avLst/>
          </a:prstGeom>
          <a:noFill/>
        </p:spPr>
        <p:txBody>
          <a:bodyPr wrap="square" lIns="0" rIns="0" tIns="0" bIns="0" anchor="t">
            <a:spAutoFit/>
          </a:bodyPr>
          <a:lstStyle/>
          <a:p>
            <a:pPr algn="ctr"/>
            <a:r>
              <a:rPr sz="1300" b="1" i="0">
                <a:solidFill>
                  <a:srgbClr val="FFFFFF"/>
                </a:solidFill>
                <a:latin typeface="Calibri"/>
              </a:rPr>
              <a:t>6</a:t>
            </a:r>
          </a:p>
        </p:txBody>
      </p:sp>
      <p:sp>
        <p:nvSpPr>
          <p:cNvPr id="53" name="TextBox 52"/>
          <p:cNvSpPr txBox="1"/>
          <p:nvPr/>
        </p:nvSpPr>
        <p:spPr>
          <a:xfrm>
            <a:off x="1207008" y="5212079"/>
            <a:ext cx="3657600" cy="219456"/>
          </a:xfrm>
          <a:prstGeom prst="rect">
            <a:avLst/>
          </a:prstGeom>
          <a:noFill/>
        </p:spPr>
        <p:txBody>
          <a:bodyPr wrap="square" lIns="0" rIns="0" tIns="0" bIns="0" anchor="t">
            <a:spAutoFit/>
          </a:bodyPr>
          <a:lstStyle/>
          <a:p>
            <a:pPr algn="l"/>
            <a:r>
              <a:rPr sz="1050" b="1" i="0">
                <a:solidFill>
                  <a:srgbClr val="11253F"/>
                </a:solidFill>
                <a:latin typeface="Calibri"/>
              </a:rPr>
              <a:t>Lineage for any figure</a:t>
            </a:r>
          </a:p>
        </p:txBody>
      </p:sp>
      <p:sp>
        <p:nvSpPr>
          <p:cNvPr id="54" name="TextBox 53"/>
          <p:cNvSpPr txBox="1"/>
          <p:nvPr/>
        </p:nvSpPr>
        <p:spPr>
          <a:xfrm>
            <a:off x="1207008" y="5440679"/>
            <a:ext cx="10058400" cy="384048"/>
          </a:xfrm>
          <a:prstGeom prst="rect">
            <a:avLst/>
          </a:prstGeom>
          <a:noFill/>
        </p:spPr>
        <p:txBody>
          <a:bodyPr wrap="square" lIns="0" rIns="0" tIns="0" bIns="0" anchor="t">
            <a:spAutoFit/>
          </a:bodyPr>
          <a:lstStyle/>
          <a:p>
            <a:pPr algn="l"/>
            <a:r>
              <a:rPr sz="840" b="0" i="0">
                <a:solidFill>
                  <a:srgbClr val="3E506B"/>
                </a:solidFill>
                <a:latin typeface="Calibri"/>
              </a:rPr>
              <a:t>/api/v2/nlc2/lineage/{fp_code}  →  GOV.NLC2_LINEAGE_TRACE_SCEN</a:t>
            </a:r>
          </a:p>
        </p:txBody>
      </p:sp>
      <p:sp>
        <p:nvSpPr>
          <p:cNvPr id="55" name="Rounded Rectangle 54"/>
          <p:cNvSpPr/>
          <p:nvPr/>
        </p:nvSpPr>
        <p:spPr>
          <a:xfrm>
            <a:off x="685800" y="5888736"/>
            <a:ext cx="10789920" cy="438912"/>
          </a:xfrm>
          <a:prstGeom prst="roundRect">
            <a:avLst/>
          </a:prstGeom>
          <a:solidFill>
            <a:srgbClr val="FBECEC"/>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6112" y="5989320"/>
            <a:ext cx="10424160" cy="274320"/>
          </a:xfrm>
          <a:prstGeom prst="rect">
            <a:avLst/>
          </a:prstGeom>
          <a:noFill/>
        </p:spPr>
        <p:txBody>
          <a:bodyPr wrap="square" lIns="0" rIns="0" tIns="0" bIns="0" anchor="t">
            <a:spAutoFit/>
          </a:bodyPr>
          <a:lstStyle/>
          <a:p>
            <a:pPr algn="l"/>
            <a:r>
              <a:rPr sz="980" b="1" i="0">
                <a:solidFill>
                  <a:srgbClr val="11253F"/>
                </a:solidFill>
                <a:latin typeface="Calibri"/>
              </a:rPr>
              <a:t>The Cortex Agent's run_simulation tool enters this flow at step 3 — no UI, no persona header, no server-side check.</a:t>
            </a:r>
          </a:p>
        </p:txBody>
      </p:sp>
      <p:sp>
        <p:nvSpPr>
          <p:cNvPr id="57" name="TextBox 56"/>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Traced through ddl/011_nlc2_calc_engine.sql, 016_nlc2_bom_rollup.sql, 013_nlc2_agent_tools.sql and backend/api/main.py.</a:t>
            </a:r>
          </a:p>
        </p:txBody>
      </p:sp>
      <p:sp>
        <p:nvSpPr>
          <p:cNvPr id="58" name="TextBox 57"/>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7 — DEPLOYMENT TOPOLOGY  (SPCS)</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Contracted target: Snowpark Container Services</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Per the signed SOW (M3-01) and the repo's own deploy artifacts.</a:t>
            </a:r>
          </a:p>
        </p:txBody>
      </p:sp>
      <p:sp>
        <p:nvSpPr>
          <p:cNvPr id="7" name="TextBox 6"/>
          <p:cNvSpPr txBox="1"/>
          <p:nvPr/>
        </p:nvSpPr>
        <p:spPr>
          <a:xfrm>
            <a:off x="685800" y="1207008"/>
            <a:ext cx="10789920" cy="219456"/>
          </a:xfrm>
          <a:prstGeom prst="rect">
            <a:avLst/>
          </a:prstGeom>
          <a:noFill/>
        </p:spPr>
        <p:txBody>
          <a:bodyPr wrap="square" lIns="0" rIns="0" tIns="0" bIns="0" anchor="t">
            <a:spAutoFit/>
          </a:bodyPr>
          <a:lstStyle/>
          <a:p>
            <a:pPr algn="l"/>
            <a:r>
              <a:rPr sz="1050" b="1" i="0">
                <a:solidFill>
                  <a:srgbClr val="29B5E8"/>
                </a:solidFill>
                <a:latin typeface="Calibri"/>
              </a:rPr>
              <a:t>BUILD  &amp;  DEPLOY  PIPELINE</a:t>
            </a:r>
          </a:p>
        </p:txBody>
      </p:sp>
      <p:sp>
        <p:nvSpPr>
          <p:cNvPr id="8" name="Rounded Rectangle 7"/>
          <p:cNvSpPr/>
          <p:nvPr/>
        </p:nvSpPr>
        <p:spPr>
          <a:xfrm>
            <a:off x="685800" y="1481328"/>
            <a:ext cx="1975104" cy="786384"/>
          </a:xfrm>
          <a:prstGeom prst="roundRect">
            <a:avLst/>
          </a:prstGeom>
          <a:solidFill>
            <a:srgbClr val="FFFFFF"/>
          </a:solid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72768"/>
            <a:ext cx="1792224" cy="219456"/>
          </a:xfrm>
          <a:prstGeom prst="rect">
            <a:avLst/>
          </a:prstGeom>
          <a:noFill/>
        </p:spPr>
        <p:txBody>
          <a:bodyPr wrap="square" lIns="0" rIns="0" tIns="0" bIns="0" anchor="t">
            <a:spAutoFit/>
          </a:bodyPr>
          <a:lstStyle/>
          <a:p>
            <a:pPr algn="ctr"/>
            <a:r>
              <a:rPr sz="980" b="1" i="0">
                <a:solidFill>
                  <a:srgbClr val="11253F"/>
                </a:solidFill>
                <a:latin typeface="Calibri"/>
              </a:rPr>
              <a:t>Source</a:t>
            </a:r>
          </a:p>
        </p:txBody>
      </p:sp>
      <p:sp>
        <p:nvSpPr>
          <p:cNvPr id="10" name="TextBox 9"/>
          <p:cNvSpPr txBox="1"/>
          <p:nvPr/>
        </p:nvSpPr>
        <p:spPr>
          <a:xfrm>
            <a:off x="777240" y="1810512"/>
            <a:ext cx="1792224" cy="420624"/>
          </a:xfrm>
          <a:prstGeom prst="rect">
            <a:avLst/>
          </a:prstGeom>
          <a:noFill/>
        </p:spPr>
        <p:txBody>
          <a:bodyPr wrap="square" lIns="0" rIns="0" tIns="0" bIns="0" anchor="t">
            <a:spAutoFit/>
          </a:bodyPr>
          <a:lstStyle/>
          <a:p>
            <a:pPr algn="ctr"/>
            <a:r>
              <a:rPr sz="780" b="0" i="0">
                <a:solidFill>
                  <a:srgbClr val="3E506B"/>
                </a:solidFill>
                <a:latin typeface="Calibri"/>
              </a:rPr>
              <a:t>arc/frontend</a:t>
            </a:r>
          </a:p>
          <a:p>
            <a:pPr algn="ctr"/>
            <a:r>
              <a:rPr sz="780" b="0" i="0">
                <a:solidFill>
                  <a:srgbClr val="3E506B"/>
                </a:solidFill>
                <a:latin typeface="Calibri"/>
              </a:rPr>
              <a:t>arc/backend</a:t>
            </a:r>
          </a:p>
        </p:txBody>
      </p:sp>
      <p:cxnSp>
        <p:nvCxnSpPr>
          <p:cNvPr id="11" name="Connector 10"/>
          <p:cNvCxnSpPr/>
          <p:nvPr/>
        </p:nvCxnSpPr>
        <p:spPr>
          <a:xfrm>
            <a:off x="2660904" y="1874519"/>
            <a:ext cx="219456" cy="0"/>
          </a:xfrm>
          <a:prstGeom prst="bentConnector3">
            <a:avLst/>
          </a:prstGeom>
          <a:ln w="17780">
            <a:solidFill>
              <a:srgbClr val="3E506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80360" y="1481328"/>
            <a:ext cx="1975104" cy="786384"/>
          </a:xfrm>
          <a:prstGeom prst="roundRect">
            <a:avLst/>
          </a:prstGeom>
          <a:solidFill>
            <a:srgbClr val="FFFFFF"/>
          </a:solid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1572768"/>
            <a:ext cx="1792224" cy="219456"/>
          </a:xfrm>
          <a:prstGeom prst="rect">
            <a:avLst/>
          </a:prstGeom>
          <a:noFill/>
        </p:spPr>
        <p:txBody>
          <a:bodyPr wrap="square" lIns="0" rIns="0" tIns="0" bIns="0" anchor="t">
            <a:spAutoFit/>
          </a:bodyPr>
          <a:lstStyle/>
          <a:p>
            <a:pPr algn="ctr"/>
            <a:r>
              <a:rPr sz="980" b="1" i="0">
                <a:solidFill>
                  <a:srgbClr val="11253F"/>
                </a:solidFill>
                <a:latin typeface="Calibri"/>
              </a:rPr>
              <a:t>Docker build</a:t>
            </a:r>
          </a:p>
        </p:txBody>
      </p:sp>
      <p:sp>
        <p:nvSpPr>
          <p:cNvPr id="14" name="TextBox 13"/>
          <p:cNvSpPr txBox="1"/>
          <p:nvPr/>
        </p:nvSpPr>
        <p:spPr>
          <a:xfrm>
            <a:off x="2971800" y="1810512"/>
            <a:ext cx="1792224" cy="420624"/>
          </a:xfrm>
          <a:prstGeom prst="rect">
            <a:avLst/>
          </a:prstGeom>
          <a:noFill/>
        </p:spPr>
        <p:txBody>
          <a:bodyPr wrap="square" lIns="0" rIns="0" tIns="0" bIns="0" anchor="t">
            <a:spAutoFit/>
          </a:bodyPr>
          <a:lstStyle/>
          <a:p>
            <a:pPr algn="ctr"/>
            <a:r>
              <a:rPr sz="780" b="0" i="0">
                <a:solidFill>
                  <a:srgbClr val="3E506B"/>
                </a:solidFill>
                <a:latin typeface="Calibri"/>
              </a:rPr>
              <a:t>node:20-alpine → Vite</a:t>
            </a:r>
          </a:p>
          <a:p>
            <a:pPr algn="ctr"/>
            <a:r>
              <a:rPr sz="780" b="0" i="0">
                <a:solidFill>
                  <a:srgbClr val="3E506B"/>
                </a:solidFill>
                <a:latin typeface="Calibri"/>
              </a:rPr>
              <a:t>python:3.11-slim + nginx</a:t>
            </a:r>
          </a:p>
        </p:txBody>
      </p:sp>
      <p:cxnSp>
        <p:nvCxnSpPr>
          <p:cNvPr id="15" name="Connector 14"/>
          <p:cNvCxnSpPr/>
          <p:nvPr/>
        </p:nvCxnSpPr>
        <p:spPr>
          <a:xfrm>
            <a:off x="4855464" y="1874519"/>
            <a:ext cx="219456" cy="0"/>
          </a:xfrm>
          <a:prstGeom prst="bentConnector3">
            <a:avLst/>
          </a:prstGeom>
          <a:ln w="17780">
            <a:solidFill>
              <a:srgbClr val="3E506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74920" y="1481328"/>
            <a:ext cx="1975104" cy="786384"/>
          </a:xfrm>
          <a:prstGeom prst="roundRect">
            <a:avLst/>
          </a:prstGeom>
          <a:solidFill>
            <a:srgbClr val="FFFFFF"/>
          </a:solid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59" y="1572768"/>
            <a:ext cx="1792224" cy="219456"/>
          </a:xfrm>
          <a:prstGeom prst="rect">
            <a:avLst/>
          </a:prstGeom>
          <a:noFill/>
        </p:spPr>
        <p:txBody>
          <a:bodyPr wrap="square" lIns="0" rIns="0" tIns="0" bIns="0" anchor="t">
            <a:spAutoFit/>
          </a:bodyPr>
          <a:lstStyle/>
          <a:p>
            <a:pPr algn="ctr"/>
            <a:r>
              <a:rPr sz="980" b="1" i="0">
                <a:solidFill>
                  <a:srgbClr val="11253F"/>
                </a:solidFill>
                <a:latin typeface="Calibri"/>
              </a:rPr>
              <a:t>Push image</a:t>
            </a:r>
          </a:p>
        </p:txBody>
      </p:sp>
      <p:sp>
        <p:nvSpPr>
          <p:cNvPr id="18" name="TextBox 17"/>
          <p:cNvSpPr txBox="1"/>
          <p:nvPr/>
        </p:nvSpPr>
        <p:spPr>
          <a:xfrm>
            <a:off x="5166359" y="1810512"/>
            <a:ext cx="1792224" cy="420624"/>
          </a:xfrm>
          <a:prstGeom prst="rect">
            <a:avLst/>
          </a:prstGeom>
          <a:noFill/>
        </p:spPr>
        <p:txBody>
          <a:bodyPr wrap="square" lIns="0" rIns="0" tIns="0" bIns="0" anchor="t">
            <a:spAutoFit/>
          </a:bodyPr>
          <a:lstStyle/>
          <a:p>
            <a:pPr algn="ctr"/>
            <a:r>
              <a:rPr sz="780" b="0" i="0">
                <a:solidFill>
                  <a:srgbClr val="3E506B"/>
                </a:solidFill>
                <a:latin typeface="Calibri"/>
              </a:rPr>
              <a:t>ARKEMA_PRICING_DB</a:t>
            </a:r>
          </a:p>
          <a:p>
            <a:pPr algn="ctr"/>
            <a:r>
              <a:rPr sz="780" b="0" i="0">
                <a:solidFill>
                  <a:srgbClr val="3E506B"/>
                </a:solidFill>
                <a:latin typeface="Calibri"/>
              </a:rPr>
              <a:t>.SPCS.ARC_IMAGES</a:t>
            </a:r>
          </a:p>
        </p:txBody>
      </p:sp>
      <p:cxnSp>
        <p:nvCxnSpPr>
          <p:cNvPr id="19" name="Connector 18"/>
          <p:cNvCxnSpPr/>
          <p:nvPr/>
        </p:nvCxnSpPr>
        <p:spPr>
          <a:xfrm>
            <a:off x="7050024" y="1874519"/>
            <a:ext cx="219455" cy="0"/>
          </a:xfrm>
          <a:prstGeom prst="bentConnector3">
            <a:avLst/>
          </a:prstGeom>
          <a:ln w="17780">
            <a:solidFill>
              <a:srgbClr val="3E506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69479" y="1481328"/>
            <a:ext cx="1975104" cy="786384"/>
          </a:xfrm>
          <a:prstGeom prst="roundRect">
            <a:avLst/>
          </a:prstGeom>
          <a:solidFill>
            <a:srgbClr val="FFFFFF"/>
          </a:solid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19" y="1572768"/>
            <a:ext cx="1792224" cy="219456"/>
          </a:xfrm>
          <a:prstGeom prst="rect">
            <a:avLst/>
          </a:prstGeom>
          <a:noFill/>
        </p:spPr>
        <p:txBody>
          <a:bodyPr wrap="square" lIns="0" rIns="0" tIns="0" bIns="0" anchor="t">
            <a:spAutoFit/>
          </a:bodyPr>
          <a:lstStyle/>
          <a:p>
            <a:pPr algn="ctr"/>
            <a:r>
              <a:rPr sz="980" b="1" i="0">
                <a:solidFill>
                  <a:srgbClr val="11253F"/>
                </a:solidFill>
                <a:latin typeface="Calibri"/>
              </a:rPr>
              <a:t>CREATE SERVICE</a:t>
            </a:r>
          </a:p>
        </p:txBody>
      </p:sp>
      <p:sp>
        <p:nvSpPr>
          <p:cNvPr id="22" name="TextBox 21"/>
          <p:cNvSpPr txBox="1"/>
          <p:nvPr/>
        </p:nvSpPr>
        <p:spPr>
          <a:xfrm>
            <a:off x="7360919" y="1810512"/>
            <a:ext cx="1792224" cy="420624"/>
          </a:xfrm>
          <a:prstGeom prst="rect">
            <a:avLst/>
          </a:prstGeom>
          <a:noFill/>
        </p:spPr>
        <p:txBody>
          <a:bodyPr wrap="square" lIns="0" rIns="0" tIns="0" bIns="0" anchor="t">
            <a:spAutoFit/>
          </a:bodyPr>
          <a:lstStyle/>
          <a:p>
            <a:pPr algn="ctr"/>
            <a:r>
              <a:rPr sz="780" b="0" i="0">
                <a:solidFill>
                  <a:srgbClr val="3E506B"/>
                </a:solidFill>
                <a:latin typeface="Calibri"/>
              </a:rPr>
              <a:t>IN COMPUTE POOL</a:t>
            </a:r>
          </a:p>
          <a:p>
            <a:pPr algn="ctr"/>
            <a:r>
              <a:rPr sz="780" b="0" i="0">
                <a:solidFill>
                  <a:srgbClr val="3E506B"/>
                </a:solidFill>
                <a:latin typeface="Calibri"/>
              </a:rPr>
              <a:t>ARC_COMPUTE_POOL</a:t>
            </a:r>
          </a:p>
        </p:txBody>
      </p:sp>
      <p:cxnSp>
        <p:nvCxnSpPr>
          <p:cNvPr id="23" name="Connector 22"/>
          <p:cNvCxnSpPr/>
          <p:nvPr/>
        </p:nvCxnSpPr>
        <p:spPr>
          <a:xfrm>
            <a:off x="9244584" y="1874519"/>
            <a:ext cx="219456" cy="0"/>
          </a:xfrm>
          <a:prstGeom prst="bentConnector3">
            <a:avLst/>
          </a:prstGeom>
          <a:ln w="17780">
            <a:solidFill>
              <a:srgbClr val="3E506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464040" y="1481328"/>
            <a:ext cx="1975104" cy="786384"/>
          </a:xfrm>
          <a:prstGeom prst="roundRect">
            <a:avLst/>
          </a:prstGeom>
          <a:solidFill>
            <a:srgbClr val="FFFFFF"/>
          </a:solid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55480" y="1572768"/>
            <a:ext cx="1792224" cy="219456"/>
          </a:xfrm>
          <a:prstGeom prst="rect">
            <a:avLst/>
          </a:prstGeom>
          <a:noFill/>
        </p:spPr>
        <p:txBody>
          <a:bodyPr wrap="square" lIns="0" rIns="0" tIns="0" bIns="0" anchor="t">
            <a:spAutoFit/>
          </a:bodyPr>
          <a:lstStyle/>
          <a:p>
            <a:pPr algn="ctr"/>
            <a:r>
              <a:rPr sz="980" b="1" i="0">
                <a:solidFill>
                  <a:srgbClr val="11253F"/>
                </a:solidFill>
                <a:latin typeface="Calibri"/>
              </a:rPr>
              <a:t>Public endpoint</a:t>
            </a:r>
          </a:p>
        </p:txBody>
      </p:sp>
      <p:sp>
        <p:nvSpPr>
          <p:cNvPr id="26" name="TextBox 25"/>
          <p:cNvSpPr txBox="1"/>
          <p:nvPr/>
        </p:nvSpPr>
        <p:spPr>
          <a:xfrm>
            <a:off x="9555480" y="1810512"/>
            <a:ext cx="1792224" cy="420624"/>
          </a:xfrm>
          <a:prstGeom prst="rect">
            <a:avLst/>
          </a:prstGeom>
          <a:noFill/>
        </p:spPr>
        <p:txBody>
          <a:bodyPr wrap="square" lIns="0" rIns="0" tIns="0" bIns="0" anchor="t">
            <a:spAutoFit/>
          </a:bodyPr>
          <a:lstStyle/>
          <a:p>
            <a:pPr algn="ctr"/>
            <a:r>
              <a:rPr sz="780" b="0" i="0">
                <a:solidFill>
                  <a:srgbClr val="3E506B"/>
                </a:solidFill>
                <a:latin typeface="Calibri"/>
              </a:rPr>
              <a:t>port 8080</a:t>
            </a:r>
          </a:p>
          <a:p>
            <a:pPr algn="ctr"/>
            <a:r>
              <a:rPr sz="780" b="0" i="0">
                <a:solidFill>
                  <a:srgbClr val="3E506B"/>
                </a:solidFill>
                <a:latin typeface="Calibri"/>
              </a:rPr>
              <a:t>/health probe</a:t>
            </a:r>
          </a:p>
        </p:txBody>
      </p:sp>
      <p:sp>
        <p:nvSpPr>
          <p:cNvPr id="27" name="Rounded Rectangle 26"/>
          <p:cNvSpPr/>
          <p:nvPr/>
        </p:nvSpPr>
        <p:spPr>
          <a:xfrm>
            <a:off x="685800" y="2487168"/>
            <a:ext cx="5577840" cy="2084831"/>
          </a:xfrm>
          <a:prstGeom prst="roundRect">
            <a:avLst/>
          </a:prstGeom>
          <a:solidFill>
            <a:srgbClr val="FBECEC"/>
          </a:solidFill>
          <a:ln w="19050">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2596896"/>
            <a:ext cx="5212080" cy="237744"/>
          </a:xfrm>
          <a:prstGeom prst="rect">
            <a:avLst/>
          </a:prstGeom>
          <a:noFill/>
        </p:spPr>
        <p:txBody>
          <a:bodyPr wrap="square" lIns="0" rIns="0" tIns="0" bIns="0" anchor="t">
            <a:spAutoFit/>
          </a:bodyPr>
          <a:lstStyle/>
          <a:p>
            <a:pPr algn="l"/>
            <a:r>
              <a:rPr sz="1150" b="1" i="0">
                <a:solidFill>
                  <a:srgbClr val="C43B3B"/>
                </a:solidFill>
                <a:latin typeface="Calibri"/>
              </a:rPr>
              <a:t>ARC_COMPUTE_POOL  —  already crowded</a:t>
            </a:r>
          </a:p>
        </p:txBody>
      </p:sp>
      <p:sp>
        <p:nvSpPr>
          <p:cNvPr id="29" name="TextBox 28"/>
          <p:cNvSpPr txBox="1"/>
          <p:nvPr/>
        </p:nvSpPr>
        <p:spPr>
          <a:xfrm>
            <a:off x="868680" y="2834640"/>
            <a:ext cx="5212080" cy="201168"/>
          </a:xfrm>
          <a:prstGeom prst="rect">
            <a:avLst/>
          </a:prstGeom>
          <a:noFill/>
        </p:spPr>
        <p:txBody>
          <a:bodyPr wrap="square" lIns="0" rIns="0" tIns="0" bIns="0" anchor="t">
            <a:spAutoFit/>
          </a:bodyPr>
          <a:lstStyle/>
          <a:p>
            <a:pPr algn="l"/>
            <a:r>
              <a:rPr sz="860" b="0" i="0">
                <a:solidFill>
                  <a:srgbClr val="3E506B"/>
                </a:solidFill>
                <a:latin typeface="Calibri"/>
              </a:rPr>
              <a:t>single node  ·  CPU_X64_S  ·  auto-suspend 3600s</a:t>
            </a:r>
          </a:p>
        </p:txBody>
      </p:sp>
      <p:sp>
        <p:nvSpPr>
          <p:cNvPr id="30" name="Rounded Rectangle 29"/>
          <p:cNvSpPr/>
          <p:nvPr/>
        </p:nvSpPr>
        <p:spPr>
          <a:xfrm>
            <a:off x="868680" y="3108960"/>
            <a:ext cx="5212080" cy="420624"/>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3154679"/>
            <a:ext cx="2011680" cy="201168"/>
          </a:xfrm>
          <a:prstGeom prst="rect">
            <a:avLst/>
          </a:prstGeom>
          <a:noFill/>
        </p:spPr>
        <p:txBody>
          <a:bodyPr wrap="square" lIns="0" rIns="0" tIns="0" bIns="0" anchor="t">
            <a:spAutoFit/>
          </a:bodyPr>
          <a:lstStyle/>
          <a:p>
            <a:pPr algn="l"/>
            <a:r>
              <a:rPr sz="919" b="1" i="0">
                <a:solidFill>
                  <a:srgbClr val="11253F"/>
                </a:solidFill>
                <a:latin typeface="Calibri"/>
              </a:rPr>
              <a:t>ARC_SERVICE</a:t>
            </a:r>
          </a:p>
        </p:txBody>
      </p:sp>
      <p:sp>
        <p:nvSpPr>
          <p:cNvPr id="32" name="TextBox 31"/>
          <p:cNvSpPr txBox="1"/>
          <p:nvPr/>
        </p:nvSpPr>
        <p:spPr>
          <a:xfrm>
            <a:off x="3017520" y="3154679"/>
            <a:ext cx="914400" cy="201168"/>
          </a:xfrm>
          <a:prstGeom prst="rect">
            <a:avLst/>
          </a:prstGeom>
          <a:noFill/>
        </p:spPr>
        <p:txBody>
          <a:bodyPr wrap="square" lIns="0" rIns="0" tIns="0" bIns="0" anchor="t">
            <a:spAutoFit/>
          </a:bodyPr>
          <a:lstStyle/>
          <a:p>
            <a:pPr algn="l"/>
            <a:r>
              <a:rPr sz="800" b="0" i="1">
                <a:solidFill>
                  <a:srgbClr val="8A99AD"/>
                </a:solidFill>
                <a:latin typeface="Calibri"/>
              </a:rPr>
              <a:t>live POC</a:t>
            </a:r>
          </a:p>
        </p:txBody>
      </p:sp>
      <p:sp>
        <p:nvSpPr>
          <p:cNvPr id="33" name="TextBox 32"/>
          <p:cNvSpPr txBox="1"/>
          <p:nvPr/>
        </p:nvSpPr>
        <p:spPr>
          <a:xfrm>
            <a:off x="987552" y="3337560"/>
            <a:ext cx="4937760" cy="182880"/>
          </a:xfrm>
          <a:prstGeom prst="rect">
            <a:avLst/>
          </a:prstGeom>
          <a:noFill/>
        </p:spPr>
        <p:txBody>
          <a:bodyPr wrap="square" lIns="0" rIns="0" tIns="0" bIns="0" anchor="t">
            <a:spAutoFit/>
          </a:bodyPr>
          <a:lstStyle/>
          <a:p>
            <a:pPr algn="l"/>
            <a:r>
              <a:rPr sz="780" b="0" i="0">
                <a:solidFill>
                  <a:srgbClr val="3E506B"/>
                </a:solidFill>
                <a:latin typeface="Calibri"/>
              </a:rPr>
              <a:t>req 2Gi / 1cpu   ·   lim 4Gi / 2cpu</a:t>
            </a:r>
          </a:p>
        </p:txBody>
      </p:sp>
      <p:sp>
        <p:nvSpPr>
          <p:cNvPr id="34" name="Rounded Rectangle 33"/>
          <p:cNvSpPr/>
          <p:nvPr/>
        </p:nvSpPr>
        <p:spPr>
          <a:xfrm>
            <a:off x="868680" y="3584448"/>
            <a:ext cx="5212080" cy="420624"/>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7552" y="3630168"/>
            <a:ext cx="2011680" cy="201168"/>
          </a:xfrm>
          <a:prstGeom prst="rect">
            <a:avLst/>
          </a:prstGeom>
          <a:noFill/>
        </p:spPr>
        <p:txBody>
          <a:bodyPr wrap="square" lIns="0" rIns="0" tIns="0" bIns="0" anchor="t">
            <a:spAutoFit/>
          </a:bodyPr>
          <a:lstStyle/>
          <a:p>
            <a:pPr algn="l"/>
            <a:r>
              <a:rPr sz="919" b="1" i="0">
                <a:solidFill>
                  <a:srgbClr val="11253F"/>
                </a:solidFill>
                <a:latin typeface="Calibri"/>
              </a:rPr>
              <a:t>ARC_SCALE_SERVICE</a:t>
            </a:r>
          </a:p>
        </p:txBody>
      </p:sp>
      <p:sp>
        <p:nvSpPr>
          <p:cNvPr id="36" name="TextBox 35"/>
          <p:cNvSpPr txBox="1"/>
          <p:nvPr/>
        </p:nvSpPr>
        <p:spPr>
          <a:xfrm>
            <a:off x="3017520" y="3630168"/>
            <a:ext cx="914400" cy="201168"/>
          </a:xfrm>
          <a:prstGeom prst="rect">
            <a:avLst/>
          </a:prstGeom>
          <a:noFill/>
        </p:spPr>
        <p:txBody>
          <a:bodyPr wrap="square" lIns="0" rIns="0" tIns="0" bIns="0" anchor="t">
            <a:spAutoFit/>
          </a:bodyPr>
          <a:lstStyle/>
          <a:p>
            <a:pPr algn="l"/>
            <a:r>
              <a:rPr sz="800" b="0" i="1">
                <a:solidFill>
                  <a:srgbClr val="8A99AD"/>
                </a:solidFill>
                <a:latin typeface="Calibri"/>
              </a:rPr>
              <a:t>scale demo</a:t>
            </a:r>
          </a:p>
        </p:txBody>
      </p:sp>
      <p:sp>
        <p:nvSpPr>
          <p:cNvPr id="37" name="TextBox 36"/>
          <p:cNvSpPr txBox="1"/>
          <p:nvPr/>
        </p:nvSpPr>
        <p:spPr>
          <a:xfrm>
            <a:off x="987552" y="3813048"/>
            <a:ext cx="4937760" cy="182880"/>
          </a:xfrm>
          <a:prstGeom prst="rect">
            <a:avLst/>
          </a:prstGeom>
          <a:noFill/>
        </p:spPr>
        <p:txBody>
          <a:bodyPr wrap="square" lIns="0" rIns="0" tIns="0" bIns="0" anchor="t">
            <a:spAutoFit/>
          </a:bodyPr>
          <a:lstStyle/>
          <a:p>
            <a:pPr algn="l"/>
            <a:r>
              <a:rPr sz="780" b="0" i="0">
                <a:solidFill>
                  <a:srgbClr val="3E506B"/>
                </a:solidFill>
                <a:latin typeface="Calibri"/>
              </a:rPr>
              <a:t>out of scope as of Sep 16</a:t>
            </a:r>
          </a:p>
        </p:txBody>
      </p:sp>
      <p:sp>
        <p:nvSpPr>
          <p:cNvPr id="38" name="Rounded Rectangle 37"/>
          <p:cNvSpPr/>
          <p:nvPr/>
        </p:nvSpPr>
        <p:spPr>
          <a:xfrm>
            <a:off x="868680" y="4059935"/>
            <a:ext cx="5212080" cy="420624"/>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7552" y="4105655"/>
            <a:ext cx="2011680" cy="201168"/>
          </a:xfrm>
          <a:prstGeom prst="rect">
            <a:avLst/>
          </a:prstGeom>
          <a:noFill/>
        </p:spPr>
        <p:txBody>
          <a:bodyPr wrap="square" lIns="0" rIns="0" tIns="0" bIns="0" anchor="t">
            <a:spAutoFit/>
          </a:bodyPr>
          <a:lstStyle/>
          <a:p>
            <a:pPr algn="l"/>
            <a:r>
              <a:rPr sz="919" b="1" i="0">
                <a:solidFill>
                  <a:srgbClr val="11253F"/>
                </a:solidFill>
                <a:latin typeface="Calibri"/>
              </a:rPr>
              <a:t>MVP cockpit</a:t>
            </a:r>
          </a:p>
        </p:txBody>
      </p:sp>
      <p:sp>
        <p:nvSpPr>
          <p:cNvPr id="40" name="TextBox 39"/>
          <p:cNvSpPr txBox="1"/>
          <p:nvPr/>
        </p:nvSpPr>
        <p:spPr>
          <a:xfrm>
            <a:off x="3017520" y="4105655"/>
            <a:ext cx="914400" cy="201168"/>
          </a:xfrm>
          <a:prstGeom prst="rect">
            <a:avLst/>
          </a:prstGeom>
          <a:noFill/>
        </p:spPr>
        <p:txBody>
          <a:bodyPr wrap="square" lIns="0" rIns="0" tIns="0" bIns="0" anchor="t">
            <a:spAutoFit/>
          </a:bodyPr>
          <a:lstStyle/>
          <a:p>
            <a:pPr algn="l"/>
            <a:r>
              <a:rPr sz="800" b="0" i="1">
                <a:solidFill>
                  <a:srgbClr val="8A99AD"/>
                </a:solidFill>
                <a:latin typeface="Calibri"/>
              </a:rPr>
              <a:t>co-tenant</a:t>
            </a:r>
          </a:p>
        </p:txBody>
      </p:sp>
      <p:sp>
        <p:nvSpPr>
          <p:cNvPr id="41" name="TextBox 40"/>
          <p:cNvSpPr txBox="1"/>
          <p:nvPr/>
        </p:nvSpPr>
        <p:spPr>
          <a:xfrm>
            <a:off x="987552" y="4288536"/>
            <a:ext cx="4937760" cy="182880"/>
          </a:xfrm>
          <a:prstGeom prst="rect">
            <a:avLst/>
          </a:prstGeom>
          <a:noFill/>
        </p:spPr>
        <p:txBody>
          <a:bodyPr wrap="square" lIns="0" rIns="0" tIns="0" bIns="0" anchor="t">
            <a:spAutoFit/>
          </a:bodyPr>
          <a:lstStyle/>
          <a:p>
            <a:pPr algn="l"/>
            <a:r>
              <a:rPr sz="780" b="0" i="0">
                <a:solidFill>
                  <a:srgbClr val="3E506B"/>
                </a:solidFill>
                <a:latin typeface="Calibri"/>
              </a:rPr>
              <a:t>req 1Gi / 0.5cpu  ·  lim 2Gi / 1cpu</a:t>
            </a:r>
          </a:p>
        </p:txBody>
      </p:sp>
      <p:sp>
        <p:nvSpPr>
          <p:cNvPr id="42" name="TextBox 41"/>
          <p:cNvSpPr txBox="1"/>
          <p:nvPr/>
        </p:nvSpPr>
        <p:spPr>
          <a:xfrm>
            <a:off x="868680" y="4498848"/>
            <a:ext cx="5212080" cy="182880"/>
          </a:xfrm>
          <a:prstGeom prst="rect">
            <a:avLst/>
          </a:prstGeom>
          <a:noFill/>
        </p:spPr>
        <p:txBody>
          <a:bodyPr wrap="square" lIns="0" rIns="0" tIns="0" bIns="0" anchor="t">
            <a:spAutoFit/>
          </a:bodyPr>
          <a:lstStyle/>
          <a:p>
            <a:pPr algn="l"/>
            <a:r>
              <a:rPr sz="800" b="0" i="0">
                <a:solidFill>
                  <a:srgbClr val="11253F"/>
                </a:solidFill>
                <a:latin typeface="Calibri"/>
              </a:rPr>
              <a:t/>
            </a:r>
          </a:p>
        </p:txBody>
      </p:sp>
      <p:sp>
        <p:nvSpPr>
          <p:cNvPr id="43" name="Rounded Rectangle 42"/>
          <p:cNvSpPr/>
          <p:nvPr/>
        </p:nvSpPr>
        <p:spPr>
          <a:xfrm>
            <a:off x="6446520" y="2487168"/>
            <a:ext cx="5029200" cy="2084831"/>
          </a:xfrm>
          <a:prstGeom prst="roundRect">
            <a:avLst/>
          </a:prstGeom>
          <a:solidFill>
            <a:srgbClr val="F7FBFE"/>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400" y="2596896"/>
            <a:ext cx="4663440" cy="237744"/>
          </a:xfrm>
          <a:prstGeom prst="rect">
            <a:avLst/>
          </a:prstGeom>
          <a:noFill/>
        </p:spPr>
        <p:txBody>
          <a:bodyPr wrap="square" lIns="0" rIns="0" tIns="0" bIns="0" anchor="t">
            <a:spAutoFit/>
          </a:bodyPr>
          <a:lstStyle/>
          <a:p>
            <a:pPr algn="l"/>
            <a:r>
              <a:rPr sz="1150" b="1" i="0">
                <a:solidFill>
                  <a:srgbClr val="11253F"/>
                </a:solidFill>
                <a:latin typeface="Calibri"/>
              </a:rPr>
              <a:t>Supporting objects</a:t>
            </a:r>
          </a:p>
        </p:txBody>
      </p:sp>
      <p:sp>
        <p:nvSpPr>
          <p:cNvPr id="45" name="TextBox 44"/>
          <p:cNvSpPr txBox="1"/>
          <p:nvPr/>
        </p:nvSpPr>
        <p:spPr>
          <a:xfrm>
            <a:off x="6629400" y="2871216"/>
            <a:ext cx="1234440" cy="201168"/>
          </a:xfrm>
          <a:prstGeom prst="rect">
            <a:avLst/>
          </a:prstGeom>
          <a:noFill/>
        </p:spPr>
        <p:txBody>
          <a:bodyPr wrap="square" lIns="0" rIns="0" tIns="0" bIns="0" anchor="t">
            <a:spAutoFit/>
          </a:bodyPr>
          <a:lstStyle/>
          <a:p>
            <a:pPr algn="l"/>
            <a:r>
              <a:rPr sz="900" b="1" i="0">
                <a:solidFill>
                  <a:srgbClr val="29B5E8"/>
                </a:solidFill>
                <a:latin typeface="Calibri"/>
              </a:rPr>
              <a:t>Warehouse</a:t>
            </a:r>
          </a:p>
        </p:txBody>
      </p:sp>
      <p:sp>
        <p:nvSpPr>
          <p:cNvPr id="46" name="TextBox 45"/>
          <p:cNvSpPr txBox="1"/>
          <p:nvPr/>
        </p:nvSpPr>
        <p:spPr>
          <a:xfrm>
            <a:off x="7909560" y="2871216"/>
            <a:ext cx="3429000" cy="329184"/>
          </a:xfrm>
          <a:prstGeom prst="rect">
            <a:avLst/>
          </a:prstGeom>
          <a:noFill/>
        </p:spPr>
        <p:txBody>
          <a:bodyPr wrap="square" lIns="0" rIns="0" tIns="0" bIns="0" anchor="t">
            <a:spAutoFit/>
          </a:bodyPr>
          <a:lstStyle/>
          <a:p>
            <a:pPr algn="l"/>
            <a:r>
              <a:rPr sz="819" b="0" i="0">
                <a:solidFill>
                  <a:srgbClr val="11253F"/>
                </a:solidFill>
                <a:latin typeface="Calibri"/>
              </a:rPr>
              <a:t>ARC_COMPUTE_WH  —  XSMALL in the DDL, auto-suspend 60s</a:t>
            </a:r>
          </a:p>
        </p:txBody>
      </p:sp>
      <p:sp>
        <p:nvSpPr>
          <p:cNvPr id="47" name="TextBox 46"/>
          <p:cNvSpPr txBox="1"/>
          <p:nvPr/>
        </p:nvSpPr>
        <p:spPr>
          <a:xfrm>
            <a:off x="6629400" y="3209544"/>
            <a:ext cx="1234440" cy="201168"/>
          </a:xfrm>
          <a:prstGeom prst="rect">
            <a:avLst/>
          </a:prstGeom>
          <a:noFill/>
        </p:spPr>
        <p:txBody>
          <a:bodyPr wrap="square" lIns="0" rIns="0" tIns="0" bIns="0" anchor="t">
            <a:spAutoFit/>
          </a:bodyPr>
          <a:lstStyle/>
          <a:p>
            <a:pPr algn="l"/>
            <a:r>
              <a:rPr sz="900" b="1" i="0">
                <a:solidFill>
                  <a:srgbClr val="29B5E8"/>
                </a:solidFill>
                <a:latin typeface="Calibri"/>
              </a:rPr>
              <a:t>Image repo</a:t>
            </a:r>
          </a:p>
        </p:txBody>
      </p:sp>
      <p:sp>
        <p:nvSpPr>
          <p:cNvPr id="48" name="TextBox 47"/>
          <p:cNvSpPr txBox="1"/>
          <p:nvPr/>
        </p:nvSpPr>
        <p:spPr>
          <a:xfrm>
            <a:off x="7909560" y="3209544"/>
            <a:ext cx="3429000" cy="329184"/>
          </a:xfrm>
          <a:prstGeom prst="rect">
            <a:avLst/>
          </a:prstGeom>
          <a:noFill/>
        </p:spPr>
        <p:txBody>
          <a:bodyPr wrap="square" lIns="0" rIns="0" tIns="0" bIns="0" anchor="t">
            <a:spAutoFit/>
          </a:bodyPr>
          <a:lstStyle/>
          <a:p>
            <a:pPr algn="l"/>
            <a:r>
              <a:rPr sz="819" b="0" i="0">
                <a:solidFill>
                  <a:srgbClr val="11253F"/>
                </a:solidFill>
                <a:latin typeface="Calibri"/>
              </a:rPr>
              <a:t>ARKEMA_PRICING_DB.SPCS.ARC_IMAGES</a:t>
            </a:r>
          </a:p>
        </p:txBody>
      </p:sp>
      <p:sp>
        <p:nvSpPr>
          <p:cNvPr id="49" name="TextBox 48"/>
          <p:cNvSpPr txBox="1"/>
          <p:nvPr/>
        </p:nvSpPr>
        <p:spPr>
          <a:xfrm>
            <a:off x="6629400" y="3547872"/>
            <a:ext cx="1234440" cy="201168"/>
          </a:xfrm>
          <a:prstGeom prst="rect">
            <a:avLst/>
          </a:prstGeom>
          <a:noFill/>
        </p:spPr>
        <p:txBody>
          <a:bodyPr wrap="square" lIns="0" rIns="0" tIns="0" bIns="0" anchor="t">
            <a:spAutoFit/>
          </a:bodyPr>
          <a:lstStyle/>
          <a:p>
            <a:pPr algn="l"/>
            <a:r>
              <a:rPr sz="900" b="1" i="0">
                <a:solidFill>
                  <a:srgbClr val="29B5E8"/>
                </a:solidFill>
                <a:latin typeface="Calibri"/>
              </a:rPr>
              <a:t>Egress</a:t>
            </a:r>
          </a:p>
        </p:txBody>
      </p:sp>
      <p:sp>
        <p:nvSpPr>
          <p:cNvPr id="50" name="TextBox 49"/>
          <p:cNvSpPr txBox="1"/>
          <p:nvPr/>
        </p:nvSpPr>
        <p:spPr>
          <a:xfrm>
            <a:off x="7909560" y="3547872"/>
            <a:ext cx="3429000" cy="329184"/>
          </a:xfrm>
          <a:prstGeom prst="rect">
            <a:avLst/>
          </a:prstGeom>
          <a:noFill/>
        </p:spPr>
        <p:txBody>
          <a:bodyPr wrap="square" lIns="0" rIns="0" tIns="0" bIns="0" anchor="t">
            <a:spAutoFit/>
          </a:bodyPr>
          <a:lstStyle/>
          <a:p>
            <a:pPr algn="l"/>
            <a:r>
              <a:rPr sz="819" b="0" i="0">
                <a:solidFill>
                  <a:srgbClr val="11253F"/>
                </a:solidFill>
                <a:latin typeface="Calibri"/>
              </a:rPr>
              <a:t>ARC_EXTERNAL_ACCESS  —  8 hosts (6 OSM/CDN + 2 Google Fonts)</a:t>
            </a:r>
          </a:p>
        </p:txBody>
      </p:sp>
      <p:sp>
        <p:nvSpPr>
          <p:cNvPr id="51" name="TextBox 50"/>
          <p:cNvSpPr txBox="1"/>
          <p:nvPr/>
        </p:nvSpPr>
        <p:spPr>
          <a:xfrm>
            <a:off x="6629400" y="3886200"/>
            <a:ext cx="1234440" cy="201168"/>
          </a:xfrm>
          <a:prstGeom prst="rect">
            <a:avLst/>
          </a:prstGeom>
          <a:noFill/>
        </p:spPr>
        <p:txBody>
          <a:bodyPr wrap="square" lIns="0" rIns="0" tIns="0" bIns="0" anchor="t">
            <a:spAutoFit/>
          </a:bodyPr>
          <a:lstStyle/>
          <a:p>
            <a:pPr algn="l"/>
            <a:r>
              <a:rPr sz="900" b="1" i="0">
                <a:solidFill>
                  <a:srgbClr val="29B5E8"/>
                </a:solidFill>
                <a:latin typeface="Calibri"/>
              </a:rPr>
              <a:t>Health</a:t>
            </a:r>
          </a:p>
        </p:txBody>
      </p:sp>
      <p:sp>
        <p:nvSpPr>
          <p:cNvPr id="52" name="TextBox 51"/>
          <p:cNvSpPr txBox="1"/>
          <p:nvPr/>
        </p:nvSpPr>
        <p:spPr>
          <a:xfrm>
            <a:off x="7909560" y="3886200"/>
            <a:ext cx="3429000" cy="329184"/>
          </a:xfrm>
          <a:prstGeom prst="rect">
            <a:avLst/>
          </a:prstGeom>
          <a:noFill/>
        </p:spPr>
        <p:txBody>
          <a:bodyPr wrap="square" lIns="0" rIns="0" tIns="0" bIns="0" anchor="t">
            <a:spAutoFit/>
          </a:bodyPr>
          <a:lstStyle/>
          <a:p>
            <a:pPr algn="l"/>
            <a:r>
              <a:rPr sz="819" b="0" i="0">
                <a:solidFill>
                  <a:srgbClr val="11253F"/>
                </a:solidFill>
                <a:latin typeface="Calibri"/>
              </a:rPr>
              <a:t>/health readiness probe + Docker HEALTHCHECK every 30s</a:t>
            </a:r>
          </a:p>
        </p:txBody>
      </p:sp>
      <p:sp>
        <p:nvSpPr>
          <p:cNvPr id="53" name="TextBox 52"/>
          <p:cNvSpPr txBox="1"/>
          <p:nvPr/>
        </p:nvSpPr>
        <p:spPr>
          <a:xfrm>
            <a:off x="6629400" y="4224528"/>
            <a:ext cx="1234440" cy="201168"/>
          </a:xfrm>
          <a:prstGeom prst="rect">
            <a:avLst/>
          </a:prstGeom>
          <a:noFill/>
        </p:spPr>
        <p:txBody>
          <a:bodyPr wrap="square" lIns="0" rIns="0" tIns="0" bIns="0" anchor="t">
            <a:spAutoFit/>
          </a:bodyPr>
          <a:lstStyle/>
          <a:p>
            <a:pPr algn="l"/>
            <a:r>
              <a:rPr sz="900" b="1" i="0">
                <a:solidFill>
                  <a:srgbClr val="29B5E8"/>
                </a:solidFill>
                <a:latin typeface="Calibri"/>
              </a:rPr>
              <a:t>Service specs</a:t>
            </a:r>
          </a:p>
        </p:txBody>
      </p:sp>
      <p:sp>
        <p:nvSpPr>
          <p:cNvPr id="54" name="TextBox 53"/>
          <p:cNvSpPr txBox="1"/>
          <p:nvPr/>
        </p:nvSpPr>
        <p:spPr>
          <a:xfrm>
            <a:off x="7909560" y="4224528"/>
            <a:ext cx="3429000" cy="329184"/>
          </a:xfrm>
          <a:prstGeom prst="rect">
            <a:avLst/>
          </a:prstGeom>
          <a:noFill/>
        </p:spPr>
        <p:txBody>
          <a:bodyPr wrap="square" lIns="0" rIns="0" tIns="0" bIns="0" anchor="t">
            <a:spAutoFit/>
          </a:bodyPr>
          <a:lstStyle/>
          <a:p>
            <a:pPr algn="l"/>
            <a:r>
              <a:rPr sz="819" b="0" i="0">
                <a:solidFill>
                  <a:srgbClr val="11253F"/>
                </a:solidFill>
                <a:latin typeface="Calibri"/>
              </a:rPr>
              <a:t>service_spec.yaml (POC)  ·  service_spec_mvp.yaml (MVP)</a:t>
            </a:r>
          </a:p>
        </p:txBody>
      </p:sp>
      <p:sp>
        <p:nvSpPr>
          <p:cNvPr id="55" name="Rounded Rectangle 54"/>
          <p:cNvSpPr/>
          <p:nvPr/>
        </p:nvSpPr>
        <p:spPr>
          <a:xfrm>
            <a:off x="685800" y="4736592"/>
            <a:ext cx="10789920" cy="566928"/>
          </a:xfrm>
          <a:prstGeom prst="roundRect">
            <a:avLst/>
          </a:prstGeom>
          <a:solidFill>
            <a:srgbClr val="F2F6FA"/>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6112" y="4846320"/>
            <a:ext cx="10424160" cy="365760"/>
          </a:xfrm>
          <a:prstGeom prst="rect">
            <a:avLst/>
          </a:prstGeom>
          <a:noFill/>
        </p:spPr>
        <p:txBody>
          <a:bodyPr wrap="square" lIns="0" rIns="0" tIns="0" bIns="0" anchor="t">
            <a:spAutoFit/>
          </a:bodyPr>
          <a:lstStyle/>
          <a:p>
            <a:pPr algn="l"/>
            <a:r>
              <a:rPr sz="919" b="0" i="0">
                <a:solidFill>
                  <a:srgbClr val="11253F"/>
                </a:solidFill>
                <a:latin typeface="Calibri"/>
              </a:rPr>
              <a:t>Three services on one single-node CPU_X64_S works in a demo account. It is not a production topology — re-sizing is required before UAT.</a:t>
            </a:r>
          </a:p>
          <a:p>
            <a:pPr algn="l"/>
            <a:r>
              <a:rPr sz="919" b="0" i="0">
                <a:solidFill>
                  <a:srgbClr val="11253F"/>
                </a:solidFill>
                <a:latin typeface="Calibri"/>
              </a:rPr>
              <a:t>service_spec_mvp.yaml itself warns that asking for more “risks failing to schedule or destabilising the live service”.</a:t>
            </a:r>
          </a:p>
        </p:txBody>
      </p:sp>
      <p:sp>
        <p:nvSpPr>
          <p:cNvPr id="57" name="Rounded Rectangle 56"/>
          <p:cNvSpPr/>
          <p:nvPr/>
        </p:nvSpPr>
        <p:spPr>
          <a:xfrm>
            <a:off x="685800" y="5413248"/>
            <a:ext cx="10789920" cy="566928"/>
          </a:xfrm>
          <a:prstGeom prst="roundRect">
            <a:avLst/>
          </a:prstGeom>
          <a:solidFill>
            <a:srgbClr val="FBECEC"/>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6112" y="5522976"/>
            <a:ext cx="10424160" cy="365760"/>
          </a:xfrm>
          <a:prstGeom prst="rect">
            <a:avLst/>
          </a:prstGeom>
          <a:noFill/>
        </p:spPr>
        <p:txBody>
          <a:bodyPr wrap="square" lIns="0" rIns="0" tIns="0" bIns="0" anchor="t">
            <a:spAutoFit/>
          </a:bodyPr>
          <a:lstStyle/>
          <a:p>
            <a:pPr algn="l"/>
            <a:r>
              <a:rPr sz="919" b="1" i="0">
                <a:solidFill>
                  <a:srgbClr val="11253F"/>
                </a:solidFill>
                <a:latin typeface="Calibri"/>
              </a:rPr>
              <a:t>Verified Sep 18 in account BR68104:  none of these objects exist.  No ARKEMA_PRICING_DB, no warehouse, no compute pool,</a:t>
            </a:r>
          </a:p>
          <a:p>
            <a:pPr algn="l"/>
            <a:r>
              <a:rPr sz="919" b="1" i="0">
                <a:solidFill>
                  <a:srgbClr val="11253F"/>
                </a:solidFill>
                <a:latin typeface="Calibri"/>
              </a:rPr>
              <a:t>no image repository, no external access integration — and the deploying role holds zero privileges.  See 20260918_GrantsNeeded.md.</a:t>
            </a:r>
          </a:p>
        </p:txBody>
      </p:sp>
      <p:sp>
        <p:nvSpPr>
          <p:cNvPr id="59" name="TextBox 58"/>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SAR (Snowflake App Runtime) was evaluated and ruled out: it runs Node.js only and the backend is Python. See others/20260915_ProjectPlan_SAR.md.</a:t>
            </a:r>
          </a:p>
        </p:txBody>
      </p:sp>
      <p:sp>
        <p:nvSpPr>
          <p:cNvPr id="60" name="TextBox 59"/>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8 — SECURITY POSTURE AND PERSONAS</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As built — the findings that drive M3-02</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Persona is a client-supplied header in both variants. There is no authentication anywhere.</a:t>
            </a:r>
          </a:p>
        </p:txBody>
      </p:sp>
      <p:sp>
        <p:nvSpPr>
          <p:cNvPr id="7" name="Rounded Rectangle 6"/>
          <p:cNvSpPr/>
          <p:nvPr/>
        </p:nvSpPr>
        <p:spPr>
          <a:xfrm>
            <a:off x="685800" y="1243584"/>
            <a:ext cx="2377440" cy="658368"/>
          </a:xfrm>
          <a:prstGeom prst="roundRect">
            <a:avLst/>
          </a:prstGeom>
          <a:solidFill>
            <a:srgbClr val="F2F6FA"/>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335024"/>
            <a:ext cx="2157984" cy="274320"/>
          </a:xfrm>
          <a:prstGeom prst="rect">
            <a:avLst/>
          </a:prstGeom>
          <a:noFill/>
        </p:spPr>
        <p:txBody>
          <a:bodyPr wrap="square" lIns="0" rIns="0" tIns="0" bIns="0" anchor="t">
            <a:spAutoFit/>
          </a:bodyPr>
          <a:lstStyle/>
          <a:p>
            <a:pPr algn="ctr"/>
            <a:r>
              <a:rPr sz="1050" b="1" i="0">
                <a:solidFill>
                  <a:srgbClr val="11253F"/>
                </a:solidFill>
                <a:latin typeface="Calibri"/>
              </a:rPr>
              <a:t>UI selector</a:t>
            </a:r>
          </a:p>
        </p:txBody>
      </p:sp>
      <p:sp>
        <p:nvSpPr>
          <p:cNvPr id="9" name="TextBox 8"/>
          <p:cNvSpPr txBox="1"/>
          <p:nvPr/>
        </p:nvSpPr>
        <p:spPr>
          <a:xfrm>
            <a:off x="795528" y="1591056"/>
            <a:ext cx="2157984" cy="256031"/>
          </a:xfrm>
          <a:prstGeom prst="rect">
            <a:avLst/>
          </a:prstGeom>
          <a:noFill/>
        </p:spPr>
        <p:txBody>
          <a:bodyPr wrap="square" lIns="0" rIns="0" tIns="0" bIns="0" anchor="t">
            <a:spAutoFit/>
          </a:bodyPr>
          <a:lstStyle/>
          <a:p>
            <a:pPr algn="ctr"/>
            <a:r>
              <a:rPr sz="800" b="0" i="0">
                <a:solidFill>
                  <a:srgbClr val="11253F"/>
                </a:solidFill>
                <a:latin typeface="Calibri"/>
              </a:rPr>
              <a:t>a plain &lt;select&gt;</a:t>
            </a:r>
          </a:p>
        </p:txBody>
      </p:sp>
      <p:cxnSp>
        <p:nvCxnSpPr>
          <p:cNvPr id="10" name="Connector 9"/>
          <p:cNvCxnSpPr/>
          <p:nvPr/>
        </p:nvCxnSpPr>
        <p:spPr>
          <a:xfrm>
            <a:off x="3063240" y="1572768"/>
            <a:ext cx="640080" cy="0"/>
          </a:xfrm>
          <a:prstGeom prst="bentConnector3">
            <a:avLst/>
          </a:prstGeom>
          <a:ln w="22225">
            <a:solidFill>
              <a:srgbClr val="C43B3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03320" y="1243584"/>
            <a:ext cx="2651760" cy="658368"/>
          </a:xfrm>
          <a:prstGeom prst="roundRect">
            <a:avLst/>
          </a:prstGeom>
          <a:solidFill>
            <a:srgbClr val="F2F6FA"/>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13048" y="1335024"/>
            <a:ext cx="2432304" cy="274320"/>
          </a:xfrm>
          <a:prstGeom prst="rect">
            <a:avLst/>
          </a:prstGeom>
          <a:noFill/>
        </p:spPr>
        <p:txBody>
          <a:bodyPr wrap="square" lIns="0" rIns="0" tIns="0" bIns="0" anchor="t">
            <a:spAutoFit/>
          </a:bodyPr>
          <a:lstStyle/>
          <a:p>
            <a:pPr algn="ctr"/>
            <a:r>
              <a:rPr sz="1050" b="1" i="0">
                <a:solidFill>
                  <a:srgbClr val="11253F"/>
                </a:solidFill>
                <a:latin typeface="Calibri"/>
              </a:rPr>
              <a:t>X-ARC-Persona header</a:t>
            </a:r>
          </a:p>
        </p:txBody>
      </p:sp>
      <p:sp>
        <p:nvSpPr>
          <p:cNvPr id="13" name="TextBox 12"/>
          <p:cNvSpPr txBox="1"/>
          <p:nvPr/>
        </p:nvSpPr>
        <p:spPr>
          <a:xfrm>
            <a:off x="3813048" y="1591056"/>
            <a:ext cx="2432304" cy="256031"/>
          </a:xfrm>
          <a:prstGeom prst="rect">
            <a:avLst/>
          </a:prstGeom>
          <a:noFill/>
        </p:spPr>
        <p:txBody>
          <a:bodyPr wrap="square" lIns="0" rIns="0" tIns="0" bIns="0" anchor="t">
            <a:spAutoFit/>
          </a:bodyPr>
          <a:lstStyle/>
          <a:p>
            <a:pPr algn="ctr"/>
            <a:r>
              <a:rPr sz="800" b="0" i="0">
                <a:solidFill>
                  <a:srgbClr val="11253F"/>
                </a:solidFill>
                <a:latin typeface="Calibri"/>
              </a:rPr>
              <a:t>src/lib/api.tsx:36</a:t>
            </a:r>
          </a:p>
        </p:txBody>
      </p:sp>
      <p:cxnSp>
        <p:nvCxnSpPr>
          <p:cNvPr id="14" name="Connector 13"/>
          <p:cNvCxnSpPr/>
          <p:nvPr/>
        </p:nvCxnSpPr>
        <p:spPr>
          <a:xfrm>
            <a:off x="6355080" y="1572768"/>
            <a:ext cx="640080" cy="0"/>
          </a:xfrm>
          <a:prstGeom prst="bentConnector3">
            <a:avLst/>
          </a:prstGeom>
          <a:ln w="22225">
            <a:solidFill>
              <a:srgbClr val="C43B3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95160" y="1243584"/>
            <a:ext cx="2377440" cy="658368"/>
          </a:xfrm>
          <a:prstGeom prst="roundRect">
            <a:avLst/>
          </a:prstGeom>
          <a:solidFill>
            <a:srgbClr val="F2F6FA"/>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04888" y="1335024"/>
            <a:ext cx="2157984" cy="274320"/>
          </a:xfrm>
          <a:prstGeom prst="rect">
            <a:avLst/>
          </a:prstGeom>
          <a:noFill/>
        </p:spPr>
        <p:txBody>
          <a:bodyPr wrap="square" lIns="0" rIns="0" tIns="0" bIns="0" anchor="t">
            <a:spAutoFit/>
          </a:bodyPr>
          <a:lstStyle/>
          <a:p>
            <a:pPr algn="ctr"/>
            <a:r>
              <a:rPr sz="1050" b="1" i="0">
                <a:solidFill>
                  <a:srgbClr val="11253F"/>
                </a:solidFill>
                <a:latin typeface="Calibri"/>
              </a:rPr>
              <a:t>assert_perm()</a:t>
            </a:r>
          </a:p>
        </p:txBody>
      </p:sp>
      <p:sp>
        <p:nvSpPr>
          <p:cNvPr id="17" name="TextBox 16"/>
          <p:cNvSpPr txBox="1"/>
          <p:nvPr/>
        </p:nvSpPr>
        <p:spPr>
          <a:xfrm>
            <a:off x="7104888" y="1591056"/>
            <a:ext cx="2157984" cy="256031"/>
          </a:xfrm>
          <a:prstGeom prst="rect">
            <a:avLst/>
          </a:prstGeom>
          <a:noFill/>
        </p:spPr>
        <p:txBody>
          <a:bodyPr wrap="square" lIns="0" rIns="0" tIns="0" bIns="0" anchor="t">
            <a:spAutoFit/>
          </a:bodyPr>
          <a:lstStyle/>
          <a:p>
            <a:pPr algn="ctr"/>
            <a:r>
              <a:rPr sz="800" b="0" i="0">
                <a:solidFill>
                  <a:srgbClr val="11253F"/>
                </a:solidFill>
                <a:latin typeface="Calibri"/>
              </a:rPr>
              <a:t>main.py:138</a:t>
            </a:r>
          </a:p>
        </p:txBody>
      </p:sp>
      <p:cxnSp>
        <p:nvCxnSpPr>
          <p:cNvPr id="18" name="Connector 17"/>
          <p:cNvCxnSpPr/>
          <p:nvPr/>
        </p:nvCxnSpPr>
        <p:spPr>
          <a:xfrm>
            <a:off x="9372600" y="1572768"/>
            <a:ext cx="640080" cy="0"/>
          </a:xfrm>
          <a:prstGeom prst="bentConnector3">
            <a:avLst/>
          </a:prstGeom>
          <a:ln w="22225">
            <a:solidFill>
              <a:srgbClr val="C43B3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012680" y="1243584"/>
            <a:ext cx="1463040" cy="658368"/>
          </a:xfrm>
          <a:prstGeom prst="roundRect">
            <a:avLst/>
          </a:prstGeom>
          <a:solidFill>
            <a:srgbClr val="FBECEC"/>
          </a:solidFill>
          <a:ln w="2222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04119" y="1243584"/>
            <a:ext cx="1280160" cy="658368"/>
          </a:xfrm>
          <a:prstGeom prst="rect">
            <a:avLst/>
          </a:prstGeom>
          <a:noFill/>
        </p:spPr>
        <p:txBody>
          <a:bodyPr wrap="square" lIns="0" rIns="0" tIns="0" bIns="0" anchor="ctr">
            <a:spAutoFit/>
          </a:bodyPr>
          <a:lstStyle/>
          <a:p>
            <a:pPr algn="ctr"/>
            <a:r>
              <a:rPr sz="950" b="1" i="0">
                <a:solidFill>
                  <a:srgbClr val="11253F"/>
                </a:solidFill>
                <a:latin typeface="Calibri"/>
              </a:rPr>
              <a:t>defaults to</a:t>
            </a:r>
          </a:p>
          <a:p>
            <a:pPr algn="ctr"/>
            <a:r>
              <a:rPr sz="950" b="1" i="0">
                <a:solidFill>
                  <a:srgbClr val="11253F"/>
                </a:solidFill>
                <a:latin typeface="Calibri"/>
              </a:rPr>
              <a:t>“Commercial”</a:t>
            </a:r>
          </a:p>
        </p:txBody>
      </p:sp>
      <p:sp>
        <p:nvSpPr>
          <p:cNvPr id="21" name="TextBox 20"/>
          <p:cNvSpPr txBox="1"/>
          <p:nvPr/>
        </p:nvSpPr>
        <p:spPr>
          <a:xfrm>
            <a:off x="685800" y="2029968"/>
            <a:ext cx="10789920" cy="201168"/>
          </a:xfrm>
          <a:prstGeom prst="rect">
            <a:avLst/>
          </a:prstGeom>
          <a:noFill/>
        </p:spPr>
        <p:txBody>
          <a:bodyPr wrap="square" lIns="0" rIns="0" tIns="0" bIns="0" anchor="t">
            <a:spAutoFit/>
          </a:bodyPr>
          <a:lstStyle/>
          <a:p>
            <a:pPr algn="l"/>
            <a:r>
              <a:rPr sz="980" b="1" i="0">
                <a:solidFill>
                  <a:srgbClr val="C43B3B"/>
                </a:solidFill>
                <a:latin typeface="Calibri"/>
              </a:rPr>
              <a:t>… which is a WRITE-CAPABLE persona. An unauthenticated request therefore gets write access.</a:t>
            </a:r>
          </a:p>
        </p:txBody>
      </p:sp>
      <p:sp>
        <p:nvSpPr>
          <p:cNvPr id="22" name="Rounded Rectangle 21"/>
          <p:cNvSpPr/>
          <p:nvPr/>
        </p:nvSpPr>
        <p:spPr>
          <a:xfrm>
            <a:off x="685800" y="2395728"/>
            <a:ext cx="5212080" cy="2139696"/>
          </a:xfrm>
          <a:prstGeom prst="roundRect">
            <a:avLst/>
          </a:prstGeom>
          <a:solidFill>
            <a:srgbClr val="F7FBFE"/>
          </a:solidFill>
          <a:ln w="15875">
            <a:solidFill>
              <a:srgbClr val="3E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2487168"/>
            <a:ext cx="4846320" cy="219456"/>
          </a:xfrm>
          <a:prstGeom prst="rect">
            <a:avLst/>
          </a:prstGeom>
          <a:noFill/>
        </p:spPr>
        <p:txBody>
          <a:bodyPr wrap="square" lIns="0" rIns="0" tIns="0" bIns="0" anchor="t">
            <a:spAutoFit/>
          </a:bodyPr>
          <a:lstStyle/>
          <a:p>
            <a:pPr algn="l"/>
            <a:r>
              <a:rPr sz="1050" b="1" i="0">
                <a:solidFill>
                  <a:srgbClr val="11253F"/>
                </a:solidFill>
                <a:latin typeface="Calibri"/>
              </a:rPr>
              <a:t>Variant A — 4 personas   (main.py:128)</a:t>
            </a:r>
          </a:p>
        </p:txBody>
      </p:sp>
      <p:sp>
        <p:nvSpPr>
          <p:cNvPr id="24" name="Rounded Rectangle 23"/>
          <p:cNvSpPr/>
          <p:nvPr/>
        </p:nvSpPr>
        <p:spPr>
          <a:xfrm>
            <a:off x="868680" y="2761488"/>
            <a:ext cx="4846320" cy="384048"/>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2852928"/>
            <a:ext cx="1737360" cy="201168"/>
          </a:xfrm>
          <a:prstGeom prst="rect">
            <a:avLst/>
          </a:prstGeom>
          <a:noFill/>
        </p:spPr>
        <p:txBody>
          <a:bodyPr wrap="square" lIns="0" rIns="0" tIns="0" bIns="0" anchor="t">
            <a:spAutoFit/>
          </a:bodyPr>
          <a:lstStyle/>
          <a:p>
            <a:pPr algn="l"/>
            <a:r>
              <a:rPr sz="919" b="1" i="0">
                <a:solidFill>
                  <a:srgbClr val="11253F"/>
                </a:solidFill>
                <a:latin typeface="Calibri"/>
              </a:rPr>
              <a:t>Commercial</a:t>
            </a:r>
          </a:p>
        </p:txBody>
      </p:sp>
      <p:sp>
        <p:nvSpPr>
          <p:cNvPr id="26" name="TextBox 25"/>
          <p:cNvSpPr txBox="1"/>
          <p:nvPr/>
        </p:nvSpPr>
        <p:spPr>
          <a:xfrm>
            <a:off x="2788920" y="2852928"/>
            <a:ext cx="2834640" cy="201168"/>
          </a:xfrm>
          <a:prstGeom prst="rect">
            <a:avLst/>
          </a:prstGeom>
          <a:noFill/>
        </p:spPr>
        <p:txBody>
          <a:bodyPr wrap="square" lIns="0" rIns="0" tIns="0" bIns="0" anchor="t">
            <a:spAutoFit/>
          </a:bodyPr>
          <a:lstStyle/>
          <a:p>
            <a:pPr algn="l"/>
            <a:r>
              <a:rPr sz="819" b="0" i="0">
                <a:solidFill>
                  <a:srgbClr val="3E506B"/>
                </a:solidFill>
                <a:latin typeface="Calibri"/>
              </a:rPr>
              <a:t>view · scenarios · export</a:t>
            </a:r>
          </a:p>
        </p:txBody>
      </p:sp>
      <p:sp>
        <p:nvSpPr>
          <p:cNvPr id="27" name="Rounded Rectangle 26"/>
          <p:cNvSpPr/>
          <p:nvPr/>
        </p:nvSpPr>
        <p:spPr>
          <a:xfrm>
            <a:off x="868680" y="3191256"/>
            <a:ext cx="4846320" cy="384048"/>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 y="3282696"/>
            <a:ext cx="1737360" cy="201168"/>
          </a:xfrm>
          <a:prstGeom prst="rect">
            <a:avLst/>
          </a:prstGeom>
          <a:noFill/>
        </p:spPr>
        <p:txBody>
          <a:bodyPr wrap="square" lIns="0" rIns="0" tIns="0" bIns="0" anchor="t">
            <a:spAutoFit/>
          </a:bodyPr>
          <a:lstStyle/>
          <a:p>
            <a:pPr algn="l"/>
            <a:r>
              <a:rPr sz="919" b="1" i="0">
                <a:solidFill>
                  <a:srgbClr val="11253F"/>
                </a:solidFill>
                <a:latin typeface="Calibri"/>
              </a:rPr>
              <a:t>FPA</a:t>
            </a:r>
          </a:p>
        </p:txBody>
      </p:sp>
      <p:sp>
        <p:nvSpPr>
          <p:cNvPr id="29" name="TextBox 28"/>
          <p:cNvSpPr txBox="1"/>
          <p:nvPr/>
        </p:nvSpPr>
        <p:spPr>
          <a:xfrm>
            <a:off x="2788920" y="3282696"/>
            <a:ext cx="2834640" cy="201168"/>
          </a:xfrm>
          <a:prstGeom prst="rect">
            <a:avLst/>
          </a:prstGeom>
          <a:noFill/>
        </p:spPr>
        <p:txBody>
          <a:bodyPr wrap="square" lIns="0" rIns="0" tIns="0" bIns="0" anchor="t">
            <a:spAutoFit/>
          </a:bodyPr>
          <a:lstStyle/>
          <a:p>
            <a:pPr algn="l"/>
            <a:r>
              <a:rPr sz="819" b="0" i="0">
                <a:solidFill>
                  <a:srgbClr val="3E506B"/>
                </a:solidFill>
                <a:latin typeface="Calibri"/>
              </a:rPr>
              <a:t>view · scenarios · dq · export</a:t>
            </a:r>
          </a:p>
        </p:txBody>
      </p:sp>
      <p:sp>
        <p:nvSpPr>
          <p:cNvPr id="30" name="Rounded Rectangle 29"/>
          <p:cNvSpPr/>
          <p:nvPr/>
        </p:nvSpPr>
        <p:spPr>
          <a:xfrm>
            <a:off x="868680" y="3621024"/>
            <a:ext cx="4846320" cy="384048"/>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3712463"/>
            <a:ext cx="1737360" cy="201168"/>
          </a:xfrm>
          <a:prstGeom prst="rect">
            <a:avLst/>
          </a:prstGeom>
          <a:noFill/>
        </p:spPr>
        <p:txBody>
          <a:bodyPr wrap="square" lIns="0" rIns="0" tIns="0" bIns="0" anchor="t">
            <a:spAutoFit/>
          </a:bodyPr>
          <a:lstStyle/>
          <a:p>
            <a:pPr algn="l"/>
            <a:r>
              <a:rPr sz="919" b="1" i="0">
                <a:solidFill>
                  <a:srgbClr val="11253F"/>
                </a:solidFill>
                <a:latin typeface="Calibri"/>
              </a:rPr>
              <a:t>PricingAnalyst</a:t>
            </a:r>
          </a:p>
        </p:txBody>
      </p:sp>
      <p:sp>
        <p:nvSpPr>
          <p:cNvPr id="32" name="TextBox 31"/>
          <p:cNvSpPr txBox="1"/>
          <p:nvPr/>
        </p:nvSpPr>
        <p:spPr>
          <a:xfrm>
            <a:off x="2788920" y="3712463"/>
            <a:ext cx="2834640" cy="201168"/>
          </a:xfrm>
          <a:prstGeom prst="rect">
            <a:avLst/>
          </a:prstGeom>
          <a:noFill/>
        </p:spPr>
        <p:txBody>
          <a:bodyPr wrap="square" lIns="0" rIns="0" tIns="0" bIns="0" anchor="t">
            <a:spAutoFit/>
          </a:bodyPr>
          <a:lstStyle/>
          <a:p>
            <a:pPr algn="l"/>
            <a:r>
              <a:rPr sz="819" b="0" i="0">
                <a:solidFill>
                  <a:srgbClr val="3E506B"/>
                </a:solidFill>
                <a:latin typeface="Calibri"/>
              </a:rPr>
              <a:t>view · scenarios · compare</a:t>
            </a:r>
          </a:p>
        </p:txBody>
      </p:sp>
      <p:sp>
        <p:nvSpPr>
          <p:cNvPr id="33" name="Rounded Rectangle 32"/>
          <p:cNvSpPr/>
          <p:nvPr/>
        </p:nvSpPr>
        <p:spPr>
          <a:xfrm>
            <a:off x="868680" y="4050791"/>
            <a:ext cx="4846320" cy="384048"/>
          </a:xfrm>
          <a:prstGeom prst="roundRect">
            <a:avLst/>
          </a:prstGeom>
          <a:solidFill>
            <a:srgbClr val="FFFFFF"/>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4142231"/>
            <a:ext cx="1737360" cy="201168"/>
          </a:xfrm>
          <a:prstGeom prst="rect">
            <a:avLst/>
          </a:prstGeom>
          <a:noFill/>
        </p:spPr>
        <p:txBody>
          <a:bodyPr wrap="square" lIns="0" rIns="0" tIns="0" bIns="0" anchor="t">
            <a:spAutoFit/>
          </a:bodyPr>
          <a:lstStyle/>
          <a:p>
            <a:pPr algn="l"/>
            <a:r>
              <a:rPr sz="919" b="1" i="0">
                <a:solidFill>
                  <a:srgbClr val="11253F"/>
                </a:solidFill>
                <a:latin typeface="Calibri"/>
              </a:rPr>
              <a:t>Steward</a:t>
            </a:r>
          </a:p>
        </p:txBody>
      </p:sp>
      <p:sp>
        <p:nvSpPr>
          <p:cNvPr id="35" name="TextBox 34"/>
          <p:cNvSpPr txBox="1"/>
          <p:nvPr/>
        </p:nvSpPr>
        <p:spPr>
          <a:xfrm>
            <a:off x="2788920" y="4142231"/>
            <a:ext cx="2834640" cy="201168"/>
          </a:xfrm>
          <a:prstGeom prst="rect">
            <a:avLst/>
          </a:prstGeom>
          <a:noFill/>
        </p:spPr>
        <p:txBody>
          <a:bodyPr wrap="square" lIns="0" rIns="0" tIns="0" bIns="0" anchor="t">
            <a:spAutoFit/>
          </a:bodyPr>
          <a:lstStyle/>
          <a:p>
            <a:pPr algn="l"/>
            <a:r>
              <a:rPr sz="819" b="0" i="0">
                <a:solidFill>
                  <a:srgbClr val="3E506B"/>
                </a:solidFill>
                <a:latin typeface="Calibri"/>
              </a:rPr>
              <a:t>view · dq · lineage · override</a:t>
            </a:r>
          </a:p>
        </p:txBody>
      </p:sp>
      <p:sp>
        <p:nvSpPr>
          <p:cNvPr id="36" name="TextBox 35"/>
          <p:cNvSpPr txBox="1"/>
          <p:nvPr/>
        </p:nvSpPr>
        <p:spPr>
          <a:xfrm>
            <a:off x="868680" y="4498847"/>
            <a:ext cx="4846320" cy="310896"/>
          </a:xfrm>
          <a:prstGeom prst="rect">
            <a:avLst/>
          </a:prstGeom>
          <a:noFill/>
        </p:spPr>
        <p:txBody>
          <a:bodyPr wrap="square" lIns="0" rIns="0" tIns="0" bIns="0" anchor="t">
            <a:spAutoFit/>
          </a:bodyPr>
          <a:lstStyle/>
          <a:p>
            <a:pPr algn="l"/>
            <a:r>
              <a:rPr sz="780" b="0" i="1">
                <a:solidFill>
                  <a:srgbClr val="11253F"/>
                </a:solidFill>
                <a:latin typeface="Calibri"/>
              </a:rPr>
              <a:t>Plus 5 Snowflake roles in ddl/001: ARC_COMMERCIAL, ARC_FPA,</a:t>
            </a:r>
          </a:p>
          <a:p>
            <a:pPr algn="l"/>
            <a:r>
              <a:rPr sz="780" b="0" i="1">
                <a:solidFill>
                  <a:srgbClr val="11253F"/>
                </a:solidFill>
                <a:latin typeface="Calibri"/>
              </a:rPr>
              <a:t>ARC_PRICING, ARC_STEWARD + ARC_APP (service) — 4 humans + 1 service.</a:t>
            </a:r>
          </a:p>
        </p:txBody>
      </p:sp>
      <p:sp>
        <p:nvSpPr>
          <p:cNvPr id="37" name="Rounded Rectangle 36"/>
          <p:cNvSpPr/>
          <p:nvPr/>
        </p:nvSpPr>
        <p:spPr>
          <a:xfrm>
            <a:off x="6263640" y="2395728"/>
            <a:ext cx="5212080" cy="2139696"/>
          </a:xfrm>
          <a:prstGeom prst="roundRect">
            <a:avLst/>
          </a:prstGeom>
          <a:solidFill>
            <a:srgbClr val="FDF6E8"/>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2487168"/>
            <a:ext cx="4846320" cy="219456"/>
          </a:xfrm>
          <a:prstGeom prst="rect">
            <a:avLst/>
          </a:prstGeom>
          <a:noFill/>
        </p:spPr>
        <p:txBody>
          <a:bodyPr wrap="square" lIns="0" rIns="0" tIns="0" bIns="0" anchor="t">
            <a:spAutoFit/>
          </a:bodyPr>
          <a:lstStyle/>
          <a:p>
            <a:pPr algn="l"/>
            <a:r>
              <a:rPr sz="1050" b="1" i="0">
                <a:solidFill>
                  <a:srgbClr val="11253F"/>
                </a:solidFill>
                <a:latin typeface="Calibri"/>
              </a:rPr>
              <a:t>Variant B — 6 personas   (mvp/lib/types.ts:266)</a:t>
            </a:r>
          </a:p>
        </p:txBody>
      </p:sp>
      <p:sp>
        <p:nvSpPr>
          <p:cNvPr id="39" name="Rounded Rectangle 38"/>
          <p:cNvSpPr/>
          <p:nvPr/>
        </p:nvSpPr>
        <p:spPr>
          <a:xfrm>
            <a:off x="6446520" y="2761488"/>
            <a:ext cx="4846320" cy="274320"/>
          </a:xfrm>
          <a:prstGeom prst="roundRect">
            <a:avLst/>
          </a:prstGeom>
          <a:solidFill>
            <a:srgbClr val="FFFFFF"/>
          </a:solidFill>
          <a:ln w="1143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47104" y="2802636"/>
            <a:ext cx="731520" cy="182880"/>
          </a:xfrm>
          <a:prstGeom prst="rect">
            <a:avLst/>
          </a:prstGeom>
          <a:noFill/>
        </p:spPr>
        <p:txBody>
          <a:bodyPr wrap="square" lIns="0" rIns="0" tIns="0" bIns="0" anchor="t">
            <a:spAutoFit/>
          </a:bodyPr>
          <a:lstStyle/>
          <a:p>
            <a:pPr algn="l"/>
            <a:r>
              <a:rPr sz="880" b="1" i="0">
                <a:solidFill>
                  <a:srgbClr val="E88A1A"/>
                </a:solidFill>
                <a:latin typeface="Calibri"/>
              </a:rPr>
              <a:t>cm</a:t>
            </a:r>
          </a:p>
        </p:txBody>
      </p:sp>
      <p:sp>
        <p:nvSpPr>
          <p:cNvPr id="41" name="TextBox 40"/>
          <p:cNvSpPr txBox="1"/>
          <p:nvPr/>
        </p:nvSpPr>
        <p:spPr>
          <a:xfrm>
            <a:off x="7333488" y="2802636"/>
            <a:ext cx="2651760" cy="182880"/>
          </a:xfrm>
          <a:prstGeom prst="rect">
            <a:avLst/>
          </a:prstGeom>
          <a:noFill/>
        </p:spPr>
        <p:txBody>
          <a:bodyPr wrap="square" lIns="0" rIns="0" tIns="0" bIns="0" anchor="t">
            <a:spAutoFit/>
          </a:bodyPr>
          <a:lstStyle/>
          <a:p>
            <a:pPr algn="l"/>
            <a:r>
              <a:rPr sz="819" b="0" i="0">
                <a:solidFill>
                  <a:srgbClr val="11253F"/>
                </a:solidFill>
                <a:latin typeface="Calibri"/>
              </a:rPr>
              <a:t>BU Commercial Manager</a:t>
            </a:r>
          </a:p>
        </p:txBody>
      </p:sp>
      <p:sp>
        <p:nvSpPr>
          <p:cNvPr id="42" name="TextBox 41"/>
          <p:cNvSpPr txBox="1"/>
          <p:nvPr/>
        </p:nvSpPr>
        <p:spPr>
          <a:xfrm>
            <a:off x="10241280" y="2802636"/>
            <a:ext cx="960120" cy="182880"/>
          </a:xfrm>
          <a:prstGeom prst="rect">
            <a:avLst/>
          </a:prstGeom>
          <a:noFill/>
        </p:spPr>
        <p:txBody>
          <a:bodyPr wrap="square" lIns="0" rIns="0" tIns="0" bIns="0" anchor="t">
            <a:spAutoFit/>
          </a:bodyPr>
          <a:lstStyle/>
          <a:p>
            <a:pPr algn="r"/>
            <a:r>
              <a:rPr sz="800" b="0" i="0">
                <a:solidFill>
                  <a:srgbClr val="3E506B"/>
                </a:solidFill>
                <a:latin typeface="Calibri"/>
              </a:rPr>
              <a:t>11 / 16 views</a:t>
            </a:r>
          </a:p>
        </p:txBody>
      </p:sp>
      <p:sp>
        <p:nvSpPr>
          <p:cNvPr id="43" name="Rounded Rectangle 42"/>
          <p:cNvSpPr/>
          <p:nvPr/>
        </p:nvSpPr>
        <p:spPr>
          <a:xfrm>
            <a:off x="6446520" y="3067812"/>
            <a:ext cx="4846320" cy="274320"/>
          </a:xfrm>
          <a:prstGeom prst="roundRect">
            <a:avLst/>
          </a:prstGeom>
          <a:solidFill>
            <a:srgbClr val="FFFFFF"/>
          </a:solidFill>
          <a:ln w="1143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47104" y="3108960"/>
            <a:ext cx="731520" cy="182880"/>
          </a:xfrm>
          <a:prstGeom prst="rect">
            <a:avLst/>
          </a:prstGeom>
          <a:noFill/>
        </p:spPr>
        <p:txBody>
          <a:bodyPr wrap="square" lIns="0" rIns="0" tIns="0" bIns="0" anchor="t">
            <a:spAutoFit/>
          </a:bodyPr>
          <a:lstStyle/>
          <a:p>
            <a:pPr algn="l"/>
            <a:r>
              <a:rPr sz="880" b="1" i="0">
                <a:solidFill>
                  <a:srgbClr val="E88A1A"/>
                </a:solidFill>
                <a:latin typeface="Calibri"/>
              </a:rPr>
              <a:t>fpa</a:t>
            </a:r>
          </a:p>
        </p:txBody>
      </p:sp>
      <p:sp>
        <p:nvSpPr>
          <p:cNvPr id="45" name="TextBox 44"/>
          <p:cNvSpPr txBox="1"/>
          <p:nvPr/>
        </p:nvSpPr>
        <p:spPr>
          <a:xfrm>
            <a:off x="7333488" y="3108960"/>
            <a:ext cx="2651760" cy="182880"/>
          </a:xfrm>
          <a:prstGeom prst="rect">
            <a:avLst/>
          </a:prstGeom>
          <a:noFill/>
        </p:spPr>
        <p:txBody>
          <a:bodyPr wrap="square" lIns="0" rIns="0" tIns="0" bIns="0" anchor="t">
            <a:spAutoFit/>
          </a:bodyPr>
          <a:lstStyle/>
          <a:p>
            <a:pPr algn="l"/>
            <a:r>
              <a:rPr sz="819" b="0" i="0">
                <a:solidFill>
                  <a:srgbClr val="11253F"/>
                </a:solidFill>
                <a:latin typeface="Calibri"/>
              </a:rPr>
              <a:t>FP&amp;A Analyst</a:t>
            </a:r>
          </a:p>
        </p:txBody>
      </p:sp>
      <p:sp>
        <p:nvSpPr>
          <p:cNvPr id="46" name="TextBox 45"/>
          <p:cNvSpPr txBox="1"/>
          <p:nvPr/>
        </p:nvSpPr>
        <p:spPr>
          <a:xfrm>
            <a:off x="10241280" y="3108960"/>
            <a:ext cx="960120" cy="182880"/>
          </a:xfrm>
          <a:prstGeom prst="rect">
            <a:avLst/>
          </a:prstGeom>
          <a:noFill/>
        </p:spPr>
        <p:txBody>
          <a:bodyPr wrap="square" lIns="0" rIns="0" tIns="0" bIns="0" anchor="t">
            <a:spAutoFit/>
          </a:bodyPr>
          <a:lstStyle/>
          <a:p>
            <a:pPr algn="r"/>
            <a:r>
              <a:rPr sz="800" b="0" i="0">
                <a:solidFill>
                  <a:srgbClr val="3E506B"/>
                </a:solidFill>
                <a:latin typeface="Calibri"/>
              </a:rPr>
              <a:t>13 / 16 views</a:t>
            </a:r>
          </a:p>
        </p:txBody>
      </p:sp>
      <p:sp>
        <p:nvSpPr>
          <p:cNvPr id="47" name="Rounded Rectangle 46"/>
          <p:cNvSpPr/>
          <p:nvPr/>
        </p:nvSpPr>
        <p:spPr>
          <a:xfrm>
            <a:off x="6446520" y="3374136"/>
            <a:ext cx="4846320" cy="274320"/>
          </a:xfrm>
          <a:prstGeom prst="roundRect">
            <a:avLst/>
          </a:prstGeom>
          <a:solidFill>
            <a:srgbClr val="FFFFFF"/>
          </a:solidFill>
          <a:ln w="1143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47104" y="3415284"/>
            <a:ext cx="731520" cy="182880"/>
          </a:xfrm>
          <a:prstGeom prst="rect">
            <a:avLst/>
          </a:prstGeom>
          <a:noFill/>
        </p:spPr>
        <p:txBody>
          <a:bodyPr wrap="square" lIns="0" rIns="0" tIns="0" bIns="0" anchor="t">
            <a:spAutoFit/>
          </a:bodyPr>
          <a:lstStyle/>
          <a:p>
            <a:pPr algn="l"/>
            <a:r>
              <a:rPr sz="880" b="1" i="0">
                <a:solidFill>
                  <a:srgbClr val="E88A1A"/>
                </a:solidFill>
                <a:latin typeface="Calibri"/>
              </a:rPr>
              <a:t>pa</a:t>
            </a:r>
          </a:p>
        </p:txBody>
      </p:sp>
      <p:sp>
        <p:nvSpPr>
          <p:cNvPr id="49" name="TextBox 48"/>
          <p:cNvSpPr txBox="1"/>
          <p:nvPr/>
        </p:nvSpPr>
        <p:spPr>
          <a:xfrm>
            <a:off x="7333488" y="3415284"/>
            <a:ext cx="2651760" cy="182880"/>
          </a:xfrm>
          <a:prstGeom prst="rect">
            <a:avLst/>
          </a:prstGeom>
          <a:noFill/>
        </p:spPr>
        <p:txBody>
          <a:bodyPr wrap="square" lIns="0" rIns="0" tIns="0" bIns="0" anchor="t">
            <a:spAutoFit/>
          </a:bodyPr>
          <a:lstStyle/>
          <a:p>
            <a:pPr algn="l"/>
            <a:r>
              <a:rPr sz="819" b="0" i="0">
                <a:solidFill>
                  <a:srgbClr val="11253F"/>
                </a:solidFill>
                <a:latin typeface="Calibri"/>
              </a:rPr>
              <a:t>Pricing Analyst</a:t>
            </a:r>
          </a:p>
        </p:txBody>
      </p:sp>
      <p:sp>
        <p:nvSpPr>
          <p:cNvPr id="50" name="TextBox 49"/>
          <p:cNvSpPr txBox="1"/>
          <p:nvPr/>
        </p:nvSpPr>
        <p:spPr>
          <a:xfrm>
            <a:off x="10241280" y="3415284"/>
            <a:ext cx="960120" cy="182880"/>
          </a:xfrm>
          <a:prstGeom prst="rect">
            <a:avLst/>
          </a:prstGeom>
          <a:noFill/>
        </p:spPr>
        <p:txBody>
          <a:bodyPr wrap="square" lIns="0" rIns="0" tIns="0" bIns="0" anchor="t">
            <a:spAutoFit/>
          </a:bodyPr>
          <a:lstStyle/>
          <a:p>
            <a:pPr algn="r"/>
            <a:r>
              <a:rPr sz="800" b="0" i="0">
                <a:solidFill>
                  <a:srgbClr val="3E506B"/>
                </a:solidFill>
                <a:latin typeface="Calibri"/>
              </a:rPr>
              <a:t>11 / 16 views</a:t>
            </a:r>
          </a:p>
        </p:txBody>
      </p:sp>
      <p:sp>
        <p:nvSpPr>
          <p:cNvPr id="51" name="Rounded Rectangle 50"/>
          <p:cNvSpPr/>
          <p:nvPr/>
        </p:nvSpPr>
        <p:spPr>
          <a:xfrm>
            <a:off x="6446520" y="3680460"/>
            <a:ext cx="4846320" cy="274320"/>
          </a:xfrm>
          <a:prstGeom prst="roundRect">
            <a:avLst/>
          </a:prstGeom>
          <a:solidFill>
            <a:srgbClr val="FFFFFF"/>
          </a:solidFill>
          <a:ln w="1143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47104" y="3721608"/>
            <a:ext cx="731520" cy="182880"/>
          </a:xfrm>
          <a:prstGeom prst="rect">
            <a:avLst/>
          </a:prstGeom>
          <a:noFill/>
        </p:spPr>
        <p:txBody>
          <a:bodyPr wrap="square" lIns="0" rIns="0" tIns="0" bIns="0" anchor="t">
            <a:spAutoFit/>
          </a:bodyPr>
          <a:lstStyle/>
          <a:p>
            <a:pPr algn="l"/>
            <a:r>
              <a:rPr sz="880" b="1" i="0">
                <a:solidFill>
                  <a:srgbClr val="E88A1A"/>
                </a:solidFill>
                <a:latin typeface="Calibri"/>
              </a:rPr>
              <a:t>ds</a:t>
            </a:r>
          </a:p>
        </p:txBody>
      </p:sp>
      <p:sp>
        <p:nvSpPr>
          <p:cNvPr id="53" name="TextBox 52"/>
          <p:cNvSpPr txBox="1"/>
          <p:nvPr/>
        </p:nvSpPr>
        <p:spPr>
          <a:xfrm>
            <a:off x="7333488" y="3721608"/>
            <a:ext cx="2651760" cy="182880"/>
          </a:xfrm>
          <a:prstGeom prst="rect">
            <a:avLst/>
          </a:prstGeom>
          <a:noFill/>
        </p:spPr>
        <p:txBody>
          <a:bodyPr wrap="square" lIns="0" rIns="0" tIns="0" bIns="0" anchor="t">
            <a:spAutoFit/>
          </a:bodyPr>
          <a:lstStyle/>
          <a:p>
            <a:pPr algn="l"/>
            <a:r>
              <a:rPr sz="819" b="0" i="0">
                <a:solidFill>
                  <a:srgbClr val="11253F"/>
                </a:solidFill>
                <a:latin typeface="Calibri"/>
              </a:rPr>
              <a:t>Data Steward</a:t>
            </a:r>
          </a:p>
        </p:txBody>
      </p:sp>
      <p:sp>
        <p:nvSpPr>
          <p:cNvPr id="54" name="TextBox 53"/>
          <p:cNvSpPr txBox="1"/>
          <p:nvPr/>
        </p:nvSpPr>
        <p:spPr>
          <a:xfrm>
            <a:off x="10241280" y="3721608"/>
            <a:ext cx="960120" cy="182880"/>
          </a:xfrm>
          <a:prstGeom prst="rect">
            <a:avLst/>
          </a:prstGeom>
          <a:noFill/>
        </p:spPr>
        <p:txBody>
          <a:bodyPr wrap="square" lIns="0" rIns="0" tIns="0" bIns="0" anchor="t">
            <a:spAutoFit/>
          </a:bodyPr>
          <a:lstStyle/>
          <a:p>
            <a:pPr algn="r"/>
            <a:r>
              <a:rPr sz="800" b="0" i="0">
                <a:solidFill>
                  <a:srgbClr val="3E506B"/>
                </a:solidFill>
                <a:latin typeface="Calibri"/>
              </a:rPr>
              <a:t>4 / 16 views</a:t>
            </a:r>
          </a:p>
        </p:txBody>
      </p:sp>
      <p:sp>
        <p:nvSpPr>
          <p:cNvPr id="55" name="Rounded Rectangle 54"/>
          <p:cNvSpPr/>
          <p:nvPr/>
        </p:nvSpPr>
        <p:spPr>
          <a:xfrm>
            <a:off x="6446520" y="3986784"/>
            <a:ext cx="4846320" cy="274320"/>
          </a:xfrm>
          <a:prstGeom prst="roundRect">
            <a:avLst/>
          </a:prstGeom>
          <a:solidFill>
            <a:srgbClr val="FFFFFF"/>
          </a:solidFill>
          <a:ln w="1143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47104" y="4027932"/>
            <a:ext cx="731520" cy="182880"/>
          </a:xfrm>
          <a:prstGeom prst="rect">
            <a:avLst/>
          </a:prstGeom>
          <a:noFill/>
        </p:spPr>
        <p:txBody>
          <a:bodyPr wrap="square" lIns="0" rIns="0" tIns="0" bIns="0" anchor="t">
            <a:spAutoFit/>
          </a:bodyPr>
          <a:lstStyle/>
          <a:p>
            <a:pPr algn="l"/>
            <a:r>
              <a:rPr sz="880" b="1" i="0">
                <a:solidFill>
                  <a:srgbClr val="E88A1A"/>
                </a:solidFill>
                <a:latin typeface="Calibri"/>
              </a:rPr>
              <a:t>sr</a:t>
            </a:r>
          </a:p>
        </p:txBody>
      </p:sp>
      <p:sp>
        <p:nvSpPr>
          <p:cNvPr id="57" name="TextBox 56"/>
          <p:cNvSpPr txBox="1"/>
          <p:nvPr/>
        </p:nvSpPr>
        <p:spPr>
          <a:xfrm>
            <a:off x="7333488" y="4027932"/>
            <a:ext cx="2651760" cy="182880"/>
          </a:xfrm>
          <a:prstGeom prst="rect">
            <a:avLst/>
          </a:prstGeom>
          <a:noFill/>
        </p:spPr>
        <p:txBody>
          <a:bodyPr wrap="square" lIns="0" rIns="0" tIns="0" bIns="0" anchor="t">
            <a:spAutoFit/>
          </a:bodyPr>
          <a:lstStyle/>
          <a:p>
            <a:pPr algn="l"/>
            <a:r>
              <a:rPr sz="819" b="0" i="0">
                <a:solidFill>
                  <a:srgbClr val="11253F"/>
                </a:solidFill>
                <a:latin typeface="Calibri"/>
              </a:rPr>
              <a:t>Sales Representative</a:t>
            </a:r>
          </a:p>
        </p:txBody>
      </p:sp>
      <p:sp>
        <p:nvSpPr>
          <p:cNvPr id="58" name="TextBox 57"/>
          <p:cNvSpPr txBox="1"/>
          <p:nvPr/>
        </p:nvSpPr>
        <p:spPr>
          <a:xfrm>
            <a:off x="10241280" y="4027932"/>
            <a:ext cx="960120" cy="182880"/>
          </a:xfrm>
          <a:prstGeom prst="rect">
            <a:avLst/>
          </a:prstGeom>
          <a:noFill/>
        </p:spPr>
        <p:txBody>
          <a:bodyPr wrap="square" lIns="0" rIns="0" tIns="0" bIns="0" anchor="t">
            <a:spAutoFit/>
          </a:bodyPr>
          <a:lstStyle/>
          <a:p>
            <a:pPr algn="r"/>
            <a:r>
              <a:rPr sz="800" b="0" i="0">
                <a:solidFill>
                  <a:srgbClr val="3E506B"/>
                </a:solidFill>
                <a:latin typeface="Calibri"/>
              </a:rPr>
              <a:t>3 / 16 views</a:t>
            </a:r>
          </a:p>
        </p:txBody>
      </p:sp>
      <p:sp>
        <p:nvSpPr>
          <p:cNvPr id="59" name="Rounded Rectangle 58"/>
          <p:cNvSpPr/>
          <p:nvPr/>
        </p:nvSpPr>
        <p:spPr>
          <a:xfrm>
            <a:off x="6446520" y="4293108"/>
            <a:ext cx="4846320" cy="274320"/>
          </a:xfrm>
          <a:prstGeom prst="roundRect">
            <a:avLst/>
          </a:prstGeom>
          <a:solidFill>
            <a:srgbClr val="FFFFFF"/>
          </a:solidFill>
          <a:ln w="1143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47104" y="4334256"/>
            <a:ext cx="731520" cy="182880"/>
          </a:xfrm>
          <a:prstGeom prst="rect">
            <a:avLst/>
          </a:prstGeom>
          <a:noFill/>
        </p:spPr>
        <p:txBody>
          <a:bodyPr wrap="square" lIns="0" rIns="0" tIns="0" bIns="0" anchor="t">
            <a:spAutoFit/>
          </a:bodyPr>
          <a:lstStyle/>
          <a:p>
            <a:pPr algn="l"/>
            <a:r>
              <a:rPr sz="880" b="1" i="0">
                <a:solidFill>
                  <a:srgbClr val="E88A1A"/>
                </a:solidFill>
                <a:latin typeface="Calibri"/>
              </a:rPr>
              <a:t>dampe</a:t>
            </a:r>
          </a:p>
        </p:txBody>
      </p:sp>
      <p:sp>
        <p:nvSpPr>
          <p:cNvPr id="61" name="TextBox 60"/>
          <p:cNvSpPr txBox="1"/>
          <p:nvPr/>
        </p:nvSpPr>
        <p:spPr>
          <a:xfrm>
            <a:off x="7333488" y="4334256"/>
            <a:ext cx="2651760" cy="182880"/>
          </a:xfrm>
          <a:prstGeom prst="rect">
            <a:avLst/>
          </a:prstGeom>
          <a:noFill/>
        </p:spPr>
        <p:txBody>
          <a:bodyPr wrap="square" lIns="0" rIns="0" tIns="0" bIns="0" anchor="t">
            <a:spAutoFit/>
          </a:bodyPr>
          <a:lstStyle/>
          <a:p>
            <a:pPr algn="l"/>
            <a:r>
              <a:rPr sz="819" b="0" i="0">
                <a:solidFill>
                  <a:srgbClr val="11253F"/>
                </a:solidFill>
                <a:latin typeface="Calibri"/>
              </a:rPr>
              <a:t>DAMPE · Procurement</a:t>
            </a:r>
          </a:p>
        </p:txBody>
      </p:sp>
      <p:sp>
        <p:nvSpPr>
          <p:cNvPr id="62" name="TextBox 61"/>
          <p:cNvSpPr txBox="1"/>
          <p:nvPr/>
        </p:nvSpPr>
        <p:spPr>
          <a:xfrm>
            <a:off x="10241280" y="4334256"/>
            <a:ext cx="960120" cy="182880"/>
          </a:xfrm>
          <a:prstGeom prst="rect">
            <a:avLst/>
          </a:prstGeom>
          <a:noFill/>
        </p:spPr>
        <p:txBody>
          <a:bodyPr wrap="square" lIns="0" rIns="0" tIns="0" bIns="0" anchor="t">
            <a:spAutoFit/>
          </a:bodyPr>
          <a:lstStyle/>
          <a:p>
            <a:pPr algn="r"/>
            <a:r>
              <a:rPr sz="800" b="0" i="0">
                <a:solidFill>
                  <a:srgbClr val="3E506B"/>
                </a:solidFill>
                <a:latin typeface="Calibri"/>
              </a:rPr>
              <a:t>3 / 16 views</a:t>
            </a:r>
          </a:p>
        </p:txBody>
      </p:sp>
      <p:sp>
        <p:nvSpPr>
          <p:cNvPr id="63" name="TextBox 62"/>
          <p:cNvSpPr txBox="1"/>
          <p:nvPr/>
        </p:nvSpPr>
        <p:spPr>
          <a:xfrm>
            <a:off x="6446520" y="4617720"/>
            <a:ext cx="4846320" cy="310896"/>
          </a:xfrm>
          <a:prstGeom prst="rect">
            <a:avLst/>
          </a:prstGeom>
          <a:noFill/>
        </p:spPr>
        <p:txBody>
          <a:bodyPr wrap="square" lIns="0" rIns="0" tIns="0" bIns="0" anchor="t">
            <a:spAutoFit/>
          </a:bodyPr>
          <a:lstStyle/>
          <a:p>
            <a:pPr algn="l"/>
            <a:r>
              <a:rPr sz="780" b="0" i="1">
                <a:solidFill>
                  <a:srgbClr val="11253F"/>
                </a:solidFill>
                <a:latin typeface="Calibri"/>
              </a:rPr>
              <a:t>Better built: allow-lists enforced on sidebar, headers and wizard;</a:t>
            </a:r>
          </a:p>
          <a:p>
            <a:pPr algn="l"/>
            <a:r>
              <a:rPr sz="780" b="0" i="1">
                <a:solidFill>
                  <a:srgbClr val="11253F"/>
                </a:solidFill>
                <a:latin typeface="Calibri"/>
              </a:rPr>
              <a:t>forbidden-view redirect; deep-links chosen from the allow-list.</a:t>
            </a:r>
          </a:p>
        </p:txBody>
      </p:sp>
      <p:sp>
        <p:nvSpPr>
          <p:cNvPr id="64" name="Rounded Rectangle 63"/>
          <p:cNvSpPr/>
          <p:nvPr/>
        </p:nvSpPr>
        <p:spPr>
          <a:xfrm>
            <a:off x="685800" y="4645152"/>
            <a:ext cx="10789920" cy="338328"/>
          </a:xfrm>
          <a:prstGeom prst="roundRect">
            <a:avLst/>
          </a:prstGeom>
          <a:solidFill>
            <a:srgbClr val="FFFFFF"/>
          </a:solidFill>
          <a:ln w="13970">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85800" y="4645152"/>
            <a:ext cx="64008" cy="338328"/>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96112" y="4686300"/>
            <a:ext cx="4846320" cy="219456"/>
          </a:xfrm>
          <a:prstGeom prst="rect">
            <a:avLst/>
          </a:prstGeom>
          <a:noFill/>
        </p:spPr>
        <p:txBody>
          <a:bodyPr wrap="square" lIns="0" rIns="0" tIns="0" bIns="0" anchor="t">
            <a:spAutoFit/>
          </a:bodyPr>
          <a:lstStyle/>
          <a:p>
            <a:pPr algn="l"/>
            <a:r>
              <a:rPr sz="880" b="1" i="0">
                <a:solidFill>
                  <a:srgbClr val="11253F"/>
                </a:solidFill>
                <a:latin typeface="Calibri"/>
              </a:rPr>
              <a:t>ARC_V2_AGENT granted to ROLE PUBLIC</a:t>
            </a:r>
          </a:p>
        </p:txBody>
      </p:sp>
      <p:sp>
        <p:nvSpPr>
          <p:cNvPr id="67" name="TextBox 66"/>
          <p:cNvSpPr txBox="1"/>
          <p:nvPr/>
        </p:nvSpPr>
        <p:spPr>
          <a:xfrm>
            <a:off x="5806440" y="4686300"/>
            <a:ext cx="5532120" cy="256032"/>
          </a:xfrm>
          <a:prstGeom prst="rect">
            <a:avLst/>
          </a:prstGeom>
          <a:noFill/>
        </p:spPr>
        <p:txBody>
          <a:bodyPr wrap="square" lIns="0" rIns="0" tIns="0" bIns="0" anchor="t">
            <a:spAutoFit/>
          </a:bodyPr>
          <a:lstStyle/>
          <a:p>
            <a:pPr algn="l"/>
            <a:r>
              <a:rPr sz="800" b="0" i="0">
                <a:solidFill>
                  <a:srgbClr val="3E506B"/>
                </a:solidFill>
                <a:latin typeface="Calibri"/>
              </a:rPr>
              <a:t>and two of its four tools write. Must not be carried over.</a:t>
            </a:r>
          </a:p>
        </p:txBody>
      </p:sp>
      <p:sp>
        <p:nvSpPr>
          <p:cNvPr id="68" name="Rounded Rectangle 67"/>
          <p:cNvSpPr/>
          <p:nvPr/>
        </p:nvSpPr>
        <p:spPr>
          <a:xfrm>
            <a:off x="685800" y="5029200"/>
            <a:ext cx="10789920" cy="338328"/>
          </a:xfrm>
          <a:prstGeom prst="roundRect">
            <a:avLst/>
          </a:prstGeom>
          <a:solidFill>
            <a:srgbClr val="FFFFFF"/>
          </a:solidFill>
          <a:ln w="1397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85800" y="5029200"/>
            <a:ext cx="64008" cy="338328"/>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6112" y="5070348"/>
            <a:ext cx="4846320" cy="219456"/>
          </a:xfrm>
          <a:prstGeom prst="rect">
            <a:avLst/>
          </a:prstGeom>
          <a:noFill/>
        </p:spPr>
        <p:txBody>
          <a:bodyPr wrap="square" lIns="0" rIns="0" tIns="0" bIns="0" anchor="t">
            <a:spAutoFit/>
          </a:bodyPr>
          <a:lstStyle/>
          <a:p>
            <a:pPr algn="l"/>
            <a:r>
              <a:rPr sz="880" b="1" i="0">
                <a:solidFill>
                  <a:srgbClr val="11253F"/>
                </a:solidFill>
                <a:latin typeface="Calibri"/>
              </a:rPr>
              <a:t>Sharing is application metadata, not RBAC</a:t>
            </a:r>
          </a:p>
        </p:txBody>
      </p:sp>
      <p:sp>
        <p:nvSpPr>
          <p:cNvPr id="71" name="TextBox 70"/>
          <p:cNvSpPr txBox="1"/>
          <p:nvPr/>
        </p:nvSpPr>
        <p:spPr>
          <a:xfrm>
            <a:off x="5806440" y="5070348"/>
            <a:ext cx="5532120" cy="256032"/>
          </a:xfrm>
          <a:prstGeom prst="rect">
            <a:avLst/>
          </a:prstGeom>
          <a:noFill/>
        </p:spPr>
        <p:txBody>
          <a:bodyPr wrap="square" lIns="0" rIns="0" tIns="0" bIns="0" anchor="t">
            <a:spAutoFit/>
          </a:bodyPr>
          <a:lstStyle/>
          <a:p>
            <a:pPr algn="l"/>
            <a:r>
              <a:rPr sz="800" b="0" i="0">
                <a:solidFill>
                  <a:srgbClr val="3E506B"/>
                </a:solidFill>
                <a:latin typeface="Calibri"/>
              </a:rPr>
              <a:t>one service role, so CURRENT_USER is identical for every persona. Labelled pilot-grade in the DDL.</a:t>
            </a:r>
          </a:p>
        </p:txBody>
      </p:sp>
      <p:sp>
        <p:nvSpPr>
          <p:cNvPr id="72" name="Rounded Rectangle 71"/>
          <p:cNvSpPr/>
          <p:nvPr/>
        </p:nvSpPr>
        <p:spPr>
          <a:xfrm>
            <a:off x="685800" y="5413248"/>
            <a:ext cx="10789920" cy="338328"/>
          </a:xfrm>
          <a:prstGeom prst="roundRect">
            <a:avLst/>
          </a:prstGeom>
          <a:solidFill>
            <a:srgbClr val="FFFFFF"/>
          </a:solidFill>
          <a:ln w="1397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85800" y="5413248"/>
            <a:ext cx="64008" cy="338328"/>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96112" y="5454396"/>
            <a:ext cx="4846320" cy="219456"/>
          </a:xfrm>
          <a:prstGeom prst="rect">
            <a:avLst/>
          </a:prstGeom>
          <a:noFill/>
        </p:spPr>
        <p:txBody>
          <a:bodyPr wrap="square" lIns="0" rIns="0" tIns="0" bIns="0" anchor="t">
            <a:spAutoFit/>
          </a:bodyPr>
          <a:lstStyle/>
          <a:p>
            <a:pPr algn="l"/>
            <a:r>
              <a:rPr sz="880" b="1" i="0">
                <a:solidFill>
                  <a:srgbClr val="11253F"/>
                </a:solidFill>
                <a:latin typeface="Calibri"/>
              </a:rPr>
              <a:t>SQL built by f-string in the service tier</a:t>
            </a:r>
          </a:p>
        </p:txBody>
      </p:sp>
      <p:sp>
        <p:nvSpPr>
          <p:cNvPr id="75" name="TextBox 74"/>
          <p:cNvSpPr txBox="1"/>
          <p:nvPr/>
        </p:nvSpPr>
        <p:spPr>
          <a:xfrm>
            <a:off x="5806440" y="5454396"/>
            <a:ext cx="5532120" cy="256032"/>
          </a:xfrm>
          <a:prstGeom prst="rect">
            <a:avLst/>
          </a:prstGeom>
          <a:noFill/>
        </p:spPr>
        <p:txBody>
          <a:bodyPr wrap="square" lIns="0" rIns="0" tIns="0" bIns="0" anchor="t">
            <a:spAutoFit/>
          </a:bodyPr>
          <a:lstStyle/>
          <a:p>
            <a:pPr algn="l"/>
            <a:r>
              <a:rPr sz="800" b="0" i="0">
                <a:solidFill>
                  <a:srgbClr val="3E506B"/>
                </a:solidFill>
                <a:latin typeface="Calibri"/>
              </a:rPr>
              <a:t>stored procedures bind parameters correctly; FastAPI does not.</a:t>
            </a:r>
          </a:p>
        </p:txBody>
      </p:sp>
      <p:sp>
        <p:nvSpPr>
          <p:cNvPr id="76" name="Rounded Rectangle 75"/>
          <p:cNvSpPr/>
          <p:nvPr/>
        </p:nvSpPr>
        <p:spPr>
          <a:xfrm>
            <a:off x="685800" y="5797296"/>
            <a:ext cx="10789920" cy="338328"/>
          </a:xfrm>
          <a:prstGeom prst="roundRect">
            <a:avLst/>
          </a:prstGeom>
          <a:solidFill>
            <a:srgbClr val="FFFFFF"/>
          </a:solidFill>
          <a:ln w="1397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85800" y="5797296"/>
            <a:ext cx="64008" cy="338328"/>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6112" y="5838444"/>
            <a:ext cx="4846320" cy="219456"/>
          </a:xfrm>
          <a:prstGeom prst="rect">
            <a:avLst/>
          </a:prstGeom>
          <a:noFill/>
        </p:spPr>
        <p:txBody>
          <a:bodyPr wrap="square" lIns="0" rIns="0" tIns="0" bIns="0" anchor="t">
            <a:spAutoFit/>
          </a:bodyPr>
          <a:lstStyle/>
          <a:p>
            <a:pPr algn="l"/>
            <a:r>
              <a:rPr sz="880" b="1" i="0">
                <a:solidFill>
                  <a:srgbClr val="11253F"/>
                </a:solidFill>
                <a:latin typeface="Calibri"/>
              </a:rPr>
              <a:t>Done right: OAuth token never logged · browser never talks to Snowflake · scenario isolation holds</a:t>
            </a:r>
          </a:p>
        </p:txBody>
      </p:sp>
      <p:sp>
        <p:nvSpPr>
          <p:cNvPr id="79" name="TextBox 78"/>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M3-02 (“bind roles to server-side authorization”) is budgeted at 0 hours in the signed proposal and is the top audit blocker.</a:t>
            </a:r>
          </a:p>
        </p:txBody>
      </p:sp>
      <p:sp>
        <p:nvSpPr>
          <p:cNvPr id="80" name="TextBox 79"/>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9 — OPEN ARCHITECTURAL QUESTIONS</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Ordered by how much they change the plan</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Six items. The first one gates everything else.</a:t>
            </a:r>
          </a:p>
        </p:txBody>
      </p:sp>
      <p:sp>
        <p:nvSpPr>
          <p:cNvPr id="7" name="Rounded Rectangle 6"/>
          <p:cNvSpPr/>
          <p:nvPr/>
        </p:nvSpPr>
        <p:spPr>
          <a:xfrm>
            <a:off x="685800" y="1207008"/>
            <a:ext cx="10789920" cy="804672"/>
          </a:xfrm>
          <a:prstGeom prst="roundRect">
            <a:avLst/>
          </a:prstGeom>
          <a:solidFill>
            <a:srgbClr val="FFFFFF"/>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207008"/>
            <a:ext cx="402336" cy="804672"/>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63040"/>
            <a:ext cx="402336" cy="274320"/>
          </a:xfrm>
          <a:prstGeom prst="rect">
            <a:avLst/>
          </a:prstGeom>
          <a:noFill/>
        </p:spPr>
        <p:txBody>
          <a:bodyPr wrap="square" lIns="0" rIns="0" tIns="0" bIns="0" anchor="t">
            <a:spAutoFit/>
          </a:bodyPr>
          <a:lstStyle/>
          <a:p>
            <a:pPr algn="ctr"/>
            <a:r>
              <a:rPr sz="1400" b="1" i="0">
                <a:solidFill>
                  <a:srgbClr val="FFFFFF"/>
                </a:solidFill>
                <a:latin typeface="Calibri"/>
              </a:rPr>
              <a:t>1</a:t>
            </a:r>
          </a:p>
        </p:txBody>
      </p:sp>
      <p:sp>
        <p:nvSpPr>
          <p:cNvPr id="10" name="TextBox 9"/>
          <p:cNvSpPr txBox="1"/>
          <p:nvPr/>
        </p:nvSpPr>
        <p:spPr>
          <a:xfrm>
            <a:off x="1225296" y="1280160"/>
            <a:ext cx="9966960" cy="219456"/>
          </a:xfrm>
          <a:prstGeom prst="rect">
            <a:avLst/>
          </a:prstGeom>
          <a:noFill/>
        </p:spPr>
        <p:txBody>
          <a:bodyPr wrap="square" lIns="0" rIns="0" tIns="0" bIns="0" anchor="t">
            <a:spAutoFit/>
          </a:bodyPr>
          <a:lstStyle/>
          <a:p>
            <a:pPr algn="l"/>
            <a:r>
              <a:rPr sz="1080" b="1" i="0">
                <a:solidFill>
                  <a:srgbClr val="11253F"/>
                </a:solidFill>
                <a:latin typeface="Calibri"/>
              </a:rPr>
              <a:t>Which variant are we productionalizing?</a:t>
            </a:r>
          </a:p>
        </p:txBody>
      </p:sp>
      <p:sp>
        <p:nvSpPr>
          <p:cNvPr id="11" name="TextBox 10"/>
          <p:cNvSpPr txBox="1"/>
          <p:nvPr/>
        </p:nvSpPr>
        <p:spPr>
          <a:xfrm>
            <a:off x="1225296" y="1517904"/>
            <a:ext cx="10058400" cy="438912"/>
          </a:xfrm>
          <a:prstGeom prst="rect">
            <a:avLst/>
          </a:prstGeom>
          <a:noFill/>
        </p:spPr>
        <p:txBody>
          <a:bodyPr wrap="square" lIns="0" rIns="0" tIns="0" bIns="0" anchor="t">
            <a:spAutoFit/>
          </a:bodyPr>
          <a:lstStyle/>
          <a:p>
            <a:pPr algn="l"/>
            <a:r>
              <a:rPr sz="840" b="0" i="0">
                <a:solidFill>
                  <a:srgbClr val="3E506B"/>
                </a:solidFill>
                <a:latin typeface="Calibri"/>
              </a:rPr>
              <a:t>Variant B is built to the authoritative PRD v2.22, has 3× the DDL, better RBAC, and calls itself “a clean handover artifact for PS” — but has NO AI layer. Variant A has the AI and ML but is the POC. Likely answer: B + A's AI layer — unscoped. Needs Rishabh before his cutoff.</a:t>
            </a:r>
          </a:p>
        </p:txBody>
      </p:sp>
      <p:sp>
        <p:nvSpPr>
          <p:cNvPr id="12" name="Rounded Rectangle 11"/>
          <p:cNvSpPr/>
          <p:nvPr/>
        </p:nvSpPr>
        <p:spPr>
          <a:xfrm>
            <a:off x="685800" y="2098548"/>
            <a:ext cx="10789920" cy="658368"/>
          </a:xfrm>
          <a:prstGeom prst="roundRect">
            <a:avLst/>
          </a:prstGeom>
          <a:solidFill>
            <a:srgbClr val="FFFFFF"/>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098548"/>
            <a:ext cx="402336" cy="658368"/>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281428"/>
            <a:ext cx="402336" cy="274320"/>
          </a:xfrm>
          <a:prstGeom prst="rect">
            <a:avLst/>
          </a:prstGeom>
          <a:noFill/>
        </p:spPr>
        <p:txBody>
          <a:bodyPr wrap="square" lIns="0" rIns="0" tIns="0" bIns="0" anchor="t">
            <a:spAutoFit/>
          </a:bodyPr>
          <a:lstStyle/>
          <a:p>
            <a:pPr algn="ctr"/>
            <a:r>
              <a:rPr sz="1400" b="1" i="0">
                <a:solidFill>
                  <a:srgbClr val="FFFFFF"/>
                </a:solidFill>
                <a:latin typeface="Calibri"/>
              </a:rPr>
              <a:t>2</a:t>
            </a:r>
          </a:p>
        </p:txBody>
      </p:sp>
      <p:sp>
        <p:nvSpPr>
          <p:cNvPr id="15" name="TextBox 14"/>
          <p:cNvSpPr txBox="1"/>
          <p:nvPr/>
        </p:nvSpPr>
        <p:spPr>
          <a:xfrm>
            <a:off x="1225296" y="2171700"/>
            <a:ext cx="9966960" cy="219456"/>
          </a:xfrm>
          <a:prstGeom prst="rect">
            <a:avLst/>
          </a:prstGeom>
          <a:noFill/>
        </p:spPr>
        <p:txBody>
          <a:bodyPr wrap="square" lIns="0" rIns="0" tIns="0" bIns="0" anchor="t">
            <a:spAutoFit/>
          </a:bodyPr>
          <a:lstStyle/>
          <a:p>
            <a:pPr algn="l"/>
            <a:r>
              <a:rPr sz="1080" b="1" i="0">
                <a:solidFill>
                  <a:srgbClr val="11253F"/>
                </a:solidFill>
                <a:latin typeface="Calibri"/>
              </a:rPr>
              <a:t>Which agent — ARC_AGENT or ARC_V2_AGENT?</a:t>
            </a:r>
          </a:p>
        </p:txBody>
      </p:sp>
      <p:sp>
        <p:nvSpPr>
          <p:cNvPr id="16" name="TextBox 15"/>
          <p:cNvSpPr txBox="1"/>
          <p:nvPr/>
        </p:nvSpPr>
        <p:spPr>
          <a:xfrm>
            <a:off x="1225296" y="2409444"/>
            <a:ext cx="10058400" cy="292607"/>
          </a:xfrm>
          <a:prstGeom prst="rect">
            <a:avLst/>
          </a:prstGeom>
          <a:noFill/>
        </p:spPr>
        <p:txBody>
          <a:bodyPr wrap="square" lIns="0" rIns="0" tIns="0" bIns="0" anchor="t">
            <a:spAutoFit/>
          </a:bodyPr>
          <a:lstStyle/>
          <a:p>
            <a:pPr algn="l"/>
            <a:r>
              <a:rPr sz="840" b="0" i="0">
                <a:solidFill>
                  <a:srgbClr val="3E506B"/>
                </a:solidFill>
                <a:latin typeface="Calibri"/>
              </a:rPr>
              <a:t>service_spec.yaml names v1, which was hand-built in the Snowsight UI with no reproducible DDL. v2 has DDL and matches the NLC2 pilot.</a:t>
            </a:r>
          </a:p>
        </p:txBody>
      </p:sp>
      <p:sp>
        <p:nvSpPr>
          <p:cNvPr id="17" name="Rounded Rectangle 16"/>
          <p:cNvSpPr/>
          <p:nvPr/>
        </p:nvSpPr>
        <p:spPr>
          <a:xfrm>
            <a:off x="685800" y="2843784"/>
            <a:ext cx="10789920" cy="658368"/>
          </a:xfrm>
          <a:prstGeom prst="roundRect">
            <a:avLst/>
          </a:prstGeom>
          <a:solidFill>
            <a:srgbClr val="FFFFFF"/>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2843784"/>
            <a:ext cx="402336" cy="658368"/>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026664"/>
            <a:ext cx="402336" cy="274320"/>
          </a:xfrm>
          <a:prstGeom prst="rect">
            <a:avLst/>
          </a:prstGeom>
          <a:noFill/>
        </p:spPr>
        <p:txBody>
          <a:bodyPr wrap="square" lIns="0" rIns="0" tIns="0" bIns="0" anchor="t">
            <a:spAutoFit/>
          </a:bodyPr>
          <a:lstStyle/>
          <a:p>
            <a:pPr algn="ctr"/>
            <a:r>
              <a:rPr sz="1400" b="1" i="0">
                <a:solidFill>
                  <a:srgbClr val="FFFFFF"/>
                </a:solidFill>
                <a:latin typeface="Calibri"/>
              </a:rPr>
              <a:t>3</a:t>
            </a:r>
          </a:p>
        </p:txBody>
      </p:sp>
      <p:sp>
        <p:nvSpPr>
          <p:cNvPr id="20" name="TextBox 19"/>
          <p:cNvSpPr txBox="1"/>
          <p:nvPr/>
        </p:nvSpPr>
        <p:spPr>
          <a:xfrm>
            <a:off x="1225296" y="2916936"/>
            <a:ext cx="9966960" cy="219456"/>
          </a:xfrm>
          <a:prstGeom prst="rect">
            <a:avLst/>
          </a:prstGeom>
          <a:noFill/>
        </p:spPr>
        <p:txBody>
          <a:bodyPr wrap="square" lIns="0" rIns="0" tIns="0" bIns="0" anchor="t">
            <a:spAutoFit/>
          </a:bodyPr>
          <a:lstStyle/>
          <a:p>
            <a:pPr algn="l"/>
            <a:r>
              <a:rPr sz="1080" b="1" i="0">
                <a:solidFill>
                  <a:srgbClr val="11253F"/>
                </a:solidFill>
                <a:latin typeface="Calibri"/>
              </a:rPr>
              <a:t>The ML retrain chain is inert.</a:t>
            </a:r>
          </a:p>
        </p:txBody>
      </p:sp>
      <p:sp>
        <p:nvSpPr>
          <p:cNvPr id="21" name="TextBox 20"/>
          <p:cNvSpPr txBox="1"/>
          <p:nvPr/>
        </p:nvSpPr>
        <p:spPr>
          <a:xfrm>
            <a:off x="1225296" y="3154679"/>
            <a:ext cx="10058400" cy="292607"/>
          </a:xfrm>
          <a:prstGeom prst="rect">
            <a:avLst/>
          </a:prstGeom>
          <a:noFill/>
        </p:spPr>
        <p:txBody>
          <a:bodyPr wrap="square" lIns="0" rIns="0" tIns="0" bIns="0" anchor="t">
            <a:spAutoFit/>
          </a:bodyPr>
          <a:lstStyle/>
          <a:p>
            <a:pPr algn="l"/>
            <a:r>
              <a:rPr sz="840" b="0" i="0">
                <a:solidFill>
                  <a:srgbClr val="3E506B"/>
                </a:solidFill>
                <a:latin typeface="Calibri"/>
              </a:rPr>
              <a:t>Five tasks insert PENDING rows into GOV.NLC2_ML_RUN_LOG and stop. The external orchestrator they expect does not exist in the repo. Build it, run manually, or descope — but do not call it scheduled.</a:t>
            </a:r>
          </a:p>
        </p:txBody>
      </p:sp>
      <p:sp>
        <p:nvSpPr>
          <p:cNvPr id="22" name="Rounded Rectangle 21"/>
          <p:cNvSpPr/>
          <p:nvPr/>
        </p:nvSpPr>
        <p:spPr>
          <a:xfrm>
            <a:off x="685800" y="3589020"/>
            <a:ext cx="10789920" cy="658368"/>
          </a:xfrm>
          <a:prstGeom prst="roundRect">
            <a:avLst/>
          </a:prstGeom>
          <a:solidFill>
            <a:srgbClr val="FFFFFF"/>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589020"/>
            <a:ext cx="402336" cy="658368"/>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771900"/>
            <a:ext cx="402336" cy="274320"/>
          </a:xfrm>
          <a:prstGeom prst="rect">
            <a:avLst/>
          </a:prstGeom>
          <a:noFill/>
        </p:spPr>
        <p:txBody>
          <a:bodyPr wrap="square" lIns="0" rIns="0" tIns="0" bIns="0" anchor="t">
            <a:spAutoFit/>
          </a:bodyPr>
          <a:lstStyle/>
          <a:p>
            <a:pPr algn="ctr"/>
            <a:r>
              <a:rPr sz="1400" b="1" i="0">
                <a:solidFill>
                  <a:srgbClr val="FFFFFF"/>
                </a:solidFill>
                <a:latin typeface="Calibri"/>
              </a:rPr>
              <a:t>4</a:t>
            </a:r>
          </a:p>
        </p:txBody>
      </p:sp>
      <p:sp>
        <p:nvSpPr>
          <p:cNvPr id="25" name="TextBox 24"/>
          <p:cNvSpPr txBox="1"/>
          <p:nvPr/>
        </p:nvSpPr>
        <p:spPr>
          <a:xfrm>
            <a:off x="1225296" y="3662172"/>
            <a:ext cx="9966960" cy="219456"/>
          </a:xfrm>
          <a:prstGeom prst="rect">
            <a:avLst/>
          </a:prstGeom>
          <a:noFill/>
        </p:spPr>
        <p:txBody>
          <a:bodyPr wrap="square" lIns="0" rIns="0" tIns="0" bIns="0" anchor="t">
            <a:spAutoFit/>
          </a:bodyPr>
          <a:lstStyle/>
          <a:p>
            <a:pPr algn="l"/>
            <a:r>
              <a:rPr sz="1080" b="1" i="0">
                <a:solidFill>
                  <a:srgbClr val="11253F"/>
                </a:solidFill>
                <a:latin typeface="Calibri"/>
              </a:rPr>
              <a:t>Four MVP views have no data.</a:t>
            </a:r>
          </a:p>
        </p:txBody>
      </p:sp>
      <p:sp>
        <p:nvSpPr>
          <p:cNvPr id="26" name="TextBox 25"/>
          <p:cNvSpPr txBox="1"/>
          <p:nvPr/>
        </p:nvSpPr>
        <p:spPr>
          <a:xfrm>
            <a:off x="1225296" y="3899915"/>
            <a:ext cx="10058400" cy="292607"/>
          </a:xfrm>
          <a:prstGeom prst="rect">
            <a:avLst/>
          </a:prstGeom>
          <a:noFill/>
        </p:spPr>
        <p:txBody>
          <a:bodyPr wrap="square" lIns="0" rIns="0" tIns="0" bIns="0" anchor="t">
            <a:spAutoFit/>
          </a:bodyPr>
          <a:lstStyle/>
          <a:p>
            <a:pPr algn="l"/>
            <a:r>
              <a:rPr sz="840" b="0" i="0">
                <a:solidFill>
                  <a:srgbClr val="3E506B"/>
                </a:solidFill>
                <a:latin typeface="Calibri"/>
              </a:rPr>
              <a:t>pi-tracking, pi-targets, sales-queue and genai all carry backing:''. F11 needs a PI ledger the delivery does not contain. If Variant B is the target, these are UAT gaps today.</a:t>
            </a:r>
          </a:p>
        </p:txBody>
      </p:sp>
      <p:sp>
        <p:nvSpPr>
          <p:cNvPr id="27" name="Rounded Rectangle 26"/>
          <p:cNvSpPr/>
          <p:nvPr/>
        </p:nvSpPr>
        <p:spPr>
          <a:xfrm>
            <a:off x="685800" y="4334256"/>
            <a:ext cx="10789920" cy="658368"/>
          </a:xfrm>
          <a:prstGeom prst="roundRect">
            <a:avLst/>
          </a:prstGeom>
          <a:solidFill>
            <a:srgbClr val="FFFFFF"/>
          </a:solidFill>
          <a:ln w="15875">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4334256"/>
            <a:ext cx="402336" cy="658368"/>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17136"/>
            <a:ext cx="402336" cy="274320"/>
          </a:xfrm>
          <a:prstGeom prst="rect">
            <a:avLst/>
          </a:prstGeom>
          <a:noFill/>
        </p:spPr>
        <p:txBody>
          <a:bodyPr wrap="square" lIns="0" rIns="0" tIns="0" bIns="0" anchor="t">
            <a:spAutoFit/>
          </a:bodyPr>
          <a:lstStyle/>
          <a:p>
            <a:pPr algn="ctr"/>
            <a:r>
              <a:rPr sz="1400" b="1" i="0">
                <a:solidFill>
                  <a:srgbClr val="FFFFFF"/>
                </a:solidFill>
                <a:latin typeface="Calibri"/>
              </a:rPr>
              <a:t>5</a:t>
            </a:r>
          </a:p>
        </p:txBody>
      </p:sp>
      <p:sp>
        <p:nvSpPr>
          <p:cNvPr id="30" name="TextBox 29"/>
          <p:cNvSpPr txBox="1"/>
          <p:nvPr/>
        </p:nvSpPr>
        <p:spPr>
          <a:xfrm>
            <a:off x="1225296" y="4407408"/>
            <a:ext cx="9966960" cy="219456"/>
          </a:xfrm>
          <a:prstGeom prst="rect">
            <a:avLst/>
          </a:prstGeom>
          <a:noFill/>
        </p:spPr>
        <p:txBody>
          <a:bodyPr wrap="square" lIns="0" rIns="0" tIns="0" bIns="0" anchor="t">
            <a:spAutoFit/>
          </a:bodyPr>
          <a:lstStyle/>
          <a:p>
            <a:pPr algn="l"/>
            <a:r>
              <a:rPr sz="1080" b="1" i="0">
                <a:solidFill>
                  <a:srgbClr val="11253F"/>
                </a:solidFill>
                <a:latin typeface="Calibri"/>
              </a:rPr>
              <a:t>The compute pool is a demo topology.</a:t>
            </a:r>
          </a:p>
        </p:txBody>
      </p:sp>
      <p:sp>
        <p:nvSpPr>
          <p:cNvPr id="31" name="TextBox 30"/>
          <p:cNvSpPr txBox="1"/>
          <p:nvPr/>
        </p:nvSpPr>
        <p:spPr>
          <a:xfrm>
            <a:off x="1225296" y="4645152"/>
            <a:ext cx="10058400" cy="292607"/>
          </a:xfrm>
          <a:prstGeom prst="rect">
            <a:avLst/>
          </a:prstGeom>
          <a:noFill/>
        </p:spPr>
        <p:txBody>
          <a:bodyPr wrap="square" lIns="0" rIns="0" tIns="0" bIns="0" anchor="t">
            <a:spAutoFit/>
          </a:bodyPr>
          <a:lstStyle/>
          <a:p>
            <a:pPr algn="l"/>
            <a:r>
              <a:rPr sz="840" b="0" i="0">
                <a:solidFill>
                  <a:srgbClr val="3E506B"/>
                </a:solidFill>
                <a:latin typeface="Calibri"/>
              </a:rPr>
              <a:t>Three services on one single-node CPU_X64_S; warehouse is XSMALL in the DDL. Needs re-sizing before UAT.</a:t>
            </a:r>
          </a:p>
        </p:txBody>
      </p:sp>
      <p:sp>
        <p:nvSpPr>
          <p:cNvPr id="32" name="Rounded Rectangle 31"/>
          <p:cNvSpPr/>
          <p:nvPr/>
        </p:nvSpPr>
        <p:spPr>
          <a:xfrm>
            <a:off x="685800" y="5079492"/>
            <a:ext cx="10789920" cy="804672"/>
          </a:xfrm>
          <a:prstGeom prst="roundRect">
            <a:avLst/>
          </a:prstGeom>
          <a:solidFill>
            <a:srgbClr val="FFFFFF"/>
          </a:solidFill>
          <a:ln w="15875">
            <a:solidFill>
              <a:srgbClr val="C4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5079492"/>
            <a:ext cx="402336" cy="804672"/>
          </a:xfrm>
          <a:prstGeom prst="rect">
            <a:avLst/>
          </a:prstGeom>
          <a:solidFill>
            <a:srgbClr val="C4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335524"/>
            <a:ext cx="402336" cy="274320"/>
          </a:xfrm>
          <a:prstGeom prst="rect">
            <a:avLst/>
          </a:prstGeom>
          <a:noFill/>
        </p:spPr>
        <p:txBody>
          <a:bodyPr wrap="square" lIns="0" rIns="0" tIns="0" bIns="0" anchor="t">
            <a:spAutoFit/>
          </a:bodyPr>
          <a:lstStyle/>
          <a:p>
            <a:pPr algn="ctr"/>
            <a:r>
              <a:rPr sz="1400" b="1" i="0">
                <a:solidFill>
                  <a:srgbClr val="FFFFFF"/>
                </a:solidFill>
                <a:latin typeface="Calibri"/>
              </a:rPr>
              <a:t>6</a:t>
            </a:r>
          </a:p>
        </p:txBody>
      </p:sp>
      <p:sp>
        <p:nvSpPr>
          <p:cNvPr id="35" name="TextBox 34"/>
          <p:cNvSpPr txBox="1"/>
          <p:nvPr/>
        </p:nvSpPr>
        <p:spPr>
          <a:xfrm>
            <a:off x="1225296" y="5152644"/>
            <a:ext cx="9966960" cy="219456"/>
          </a:xfrm>
          <a:prstGeom prst="rect">
            <a:avLst/>
          </a:prstGeom>
          <a:noFill/>
        </p:spPr>
        <p:txBody>
          <a:bodyPr wrap="square" lIns="0" rIns="0" tIns="0" bIns="0" anchor="t">
            <a:spAutoFit/>
          </a:bodyPr>
          <a:lstStyle/>
          <a:p>
            <a:pPr algn="l"/>
            <a:r>
              <a:rPr sz="1080" b="1" i="0">
                <a:solidFill>
                  <a:srgbClr val="11253F"/>
                </a:solidFill>
                <a:latin typeface="Calibri"/>
              </a:rPr>
              <a:t>Two open FP&amp;A decisions, already quantified by Rishabh.</a:t>
            </a:r>
          </a:p>
        </p:txBody>
      </p:sp>
      <p:sp>
        <p:nvSpPr>
          <p:cNvPr id="36" name="TextBox 35"/>
          <p:cNvSpPr txBox="1"/>
          <p:nvPr/>
        </p:nvSpPr>
        <p:spPr>
          <a:xfrm>
            <a:off x="1225296" y="5390388"/>
            <a:ext cx="10058400" cy="438912"/>
          </a:xfrm>
          <a:prstGeom prst="rect">
            <a:avLst/>
          </a:prstGeom>
          <a:noFill/>
        </p:spPr>
        <p:txBody>
          <a:bodyPr wrap="square" lIns="0" rIns="0" tIns="0" bIns="0" anchor="t">
            <a:spAutoFit/>
          </a:bodyPr>
          <a:lstStyle/>
          <a:p>
            <a:pPr algn="l"/>
            <a:r>
              <a:rPr sz="840" b="0" i="0">
                <a:solidFill>
                  <a:srgbClr val="3E506B"/>
                </a:solidFill>
                <a:latin typeface="Calibri"/>
              </a:rPr>
              <a:t>DR-17: material_pct measures 85.71% vs the catalog's ~91% — it scales the baseline every margin delta depends on, so a ~6pp bias shifts every figure. DR-18: 44,540 zero-volume rows carry revenue on credit/rebate doc types, netting −€2.77m (−3.66%) of CORE revenue. Both marked “needs FP&amp;A”.</a:t>
            </a:r>
          </a:p>
        </p:txBody>
      </p:sp>
      <p:sp>
        <p:nvSpPr>
          <p:cNvPr id="37" name="TextBox 36"/>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Item 6 is the audit's “numbers are not reliable” finding — already measured and documented in docs/MVP-BRIDGE.md.</a:t>
            </a:r>
          </a:p>
        </p:txBody>
      </p:sp>
      <p:sp>
        <p:nvSpPr>
          <p:cNvPr id="38" name="TextBox 37"/>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10 — ENGINEERING WORTH PRESERVING</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Not everything here is a gap</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Several things are better than typical prototype quality and should survive productionalization.</a:t>
            </a:r>
          </a:p>
        </p:txBody>
      </p:sp>
      <p:sp>
        <p:nvSpPr>
          <p:cNvPr id="7" name="Rounded Rectangle 6"/>
          <p:cNvSpPr/>
          <p:nvPr/>
        </p:nvSpPr>
        <p:spPr>
          <a:xfrm>
            <a:off x="685800" y="1188720"/>
            <a:ext cx="10789920" cy="786384"/>
          </a:xfrm>
          <a:prstGeom prst="roundRect">
            <a:avLst/>
          </a:prstGeom>
          <a:solidFill>
            <a:srgbClr val="FFFFFF"/>
          </a:solidFill>
          <a:ln w="1524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188720"/>
            <a:ext cx="64008" cy="786384"/>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271016"/>
            <a:ext cx="10424160" cy="219456"/>
          </a:xfrm>
          <a:prstGeom prst="rect">
            <a:avLst/>
          </a:prstGeom>
          <a:noFill/>
        </p:spPr>
        <p:txBody>
          <a:bodyPr wrap="square" lIns="0" rIns="0" tIns="0" bIns="0" anchor="t">
            <a:spAutoFit/>
          </a:bodyPr>
          <a:lstStyle/>
          <a:p>
            <a:pPr algn="l"/>
            <a:r>
              <a:rPr sz="1050" b="1" i="0">
                <a:solidFill>
                  <a:srgbClr val="11253F"/>
                </a:solidFill>
                <a:latin typeface="Calibri"/>
              </a:rPr>
              <a:t>docs/MVP-BRIDGE.md is an exceptional artifact</a:t>
            </a:r>
          </a:p>
        </p:txBody>
      </p:sp>
      <p:sp>
        <p:nvSpPr>
          <p:cNvPr id="10" name="TextBox 9"/>
          <p:cNvSpPr txBox="1"/>
          <p:nvPr/>
        </p:nvSpPr>
        <p:spPr>
          <a:xfrm>
            <a:off x="896112" y="1508760"/>
            <a:ext cx="10424160" cy="420624"/>
          </a:xfrm>
          <a:prstGeom prst="rect">
            <a:avLst/>
          </a:prstGeom>
          <a:noFill/>
        </p:spPr>
        <p:txBody>
          <a:bodyPr wrap="square" lIns="0" rIns="0" tIns="0" bIns="0" anchor="t">
            <a:spAutoFit/>
          </a:bodyPr>
          <a:lstStyle/>
          <a:p>
            <a:pPr algn="l"/>
            <a:r>
              <a:rPr sz="840" b="0" i="0">
                <a:solidFill>
                  <a:srgbClr val="3E506B"/>
                </a:solidFill>
                <a:latin typeface="Calibri"/>
              </a:rPr>
              <a:t>398 lines. A 46-entry drift register (D1–D46) reconciling PRD v2.22 against the delivered data against the implementation — with measured row counts and a named check ID for every entry. It labels spec defects and “our own defect” separately. The most valuable document in the repo.</a:t>
            </a:r>
          </a:p>
        </p:txBody>
      </p:sp>
      <p:sp>
        <p:nvSpPr>
          <p:cNvPr id="11" name="Rounded Rectangle 10"/>
          <p:cNvSpPr/>
          <p:nvPr/>
        </p:nvSpPr>
        <p:spPr>
          <a:xfrm>
            <a:off x="685800" y="2039112"/>
            <a:ext cx="10789920" cy="786384"/>
          </a:xfrm>
          <a:prstGeom prst="roundRect">
            <a:avLst/>
          </a:prstGeom>
          <a:solidFill>
            <a:srgbClr val="FFFFFF"/>
          </a:solidFill>
          <a:ln w="1524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039112"/>
            <a:ext cx="64008" cy="786384"/>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121408"/>
            <a:ext cx="10424160" cy="219456"/>
          </a:xfrm>
          <a:prstGeom prst="rect">
            <a:avLst/>
          </a:prstGeom>
          <a:noFill/>
        </p:spPr>
        <p:txBody>
          <a:bodyPr wrap="square" lIns="0" rIns="0" tIns="0" bIns="0" anchor="t">
            <a:spAutoFit/>
          </a:bodyPr>
          <a:lstStyle/>
          <a:p>
            <a:pPr algn="l"/>
            <a:r>
              <a:rPr sz="1050" b="1" i="0">
                <a:solidFill>
                  <a:srgbClr val="11253F"/>
                </a:solidFill>
                <a:latin typeface="Calibri"/>
              </a:rPr>
              <a:t>Regression guards are named and permanent</a:t>
            </a:r>
          </a:p>
        </p:txBody>
      </p:sp>
      <p:sp>
        <p:nvSpPr>
          <p:cNvPr id="14" name="TextBox 13"/>
          <p:cNvSpPr txBox="1"/>
          <p:nvPr/>
        </p:nvSpPr>
        <p:spPr>
          <a:xfrm>
            <a:off x="896112" y="2359152"/>
            <a:ext cx="10424160" cy="420624"/>
          </a:xfrm>
          <a:prstGeom prst="rect">
            <a:avLst/>
          </a:prstGeom>
          <a:noFill/>
        </p:spPr>
        <p:txBody>
          <a:bodyPr wrap="square" lIns="0" rIns="0" tIns="0" bIns="0" anchor="t">
            <a:spAutoFit/>
          </a:bodyPr>
          <a:lstStyle/>
          <a:p>
            <a:pPr algn="l"/>
            <a:r>
              <a:rPr sz="840" b="0" i="0">
                <a:solidFill>
                  <a:srgbClr val="3E506B"/>
                </a:solidFill>
                <a:latin typeface="Calibri"/>
              </a:rPr>
              <a:t>D17: Snowflake DIV0NULL(x,0) returns 0, never NULL — used where the result means a price, it stamped 0.00 onto 27,787 of 58,432 cells (48%). Fixed with NULLIF; SA-29 / SA-30 left in place as permanent guards.</a:t>
            </a:r>
          </a:p>
        </p:txBody>
      </p:sp>
      <p:sp>
        <p:nvSpPr>
          <p:cNvPr id="15" name="Rounded Rectangle 14"/>
          <p:cNvSpPr/>
          <p:nvPr/>
        </p:nvSpPr>
        <p:spPr>
          <a:xfrm>
            <a:off x="685800" y="2889504"/>
            <a:ext cx="10789920" cy="786384"/>
          </a:xfrm>
          <a:prstGeom prst="roundRect">
            <a:avLst/>
          </a:prstGeom>
          <a:solidFill>
            <a:srgbClr val="FFFFFF"/>
          </a:solidFill>
          <a:ln w="1524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2889504"/>
            <a:ext cx="64008" cy="786384"/>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971800"/>
            <a:ext cx="10424160" cy="219456"/>
          </a:xfrm>
          <a:prstGeom prst="rect">
            <a:avLst/>
          </a:prstGeom>
          <a:noFill/>
        </p:spPr>
        <p:txBody>
          <a:bodyPr wrap="square" lIns="0" rIns="0" tIns="0" bIns="0" anchor="t">
            <a:spAutoFit/>
          </a:bodyPr>
          <a:lstStyle/>
          <a:p>
            <a:pPr algn="l"/>
            <a:r>
              <a:rPr sz="1050" b="1" i="0">
                <a:solidFill>
                  <a:srgbClr val="11253F"/>
                </a:solidFill>
                <a:latin typeface="Calibri"/>
              </a:rPr>
              <a:t>GOV.MVP_PARAMETER replaces session variables</a:t>
            </a:r>
          </a:p>
        </p:txBody>
      </p:sp>
      <p:sp>
        <p:nvSpPr>
          <p:cNvPr id="18" name="TextBox 17"/>
          <p:cNvSpPr txBox="1"/>
          <p:nvPr/>
        </p:nvSpPr>
        <p:spPr>
          <a:xfrm>
            <a:off x="896112" y="3209544"/>
            <a:ext cx="10424160" cy="420624"/>
          </a:xfrm>
          <a:prstGeom prst="rect">
            <a:avLst/>
          </a:prstGeom>
          <a:noFill/>
        </p:spPr>
        <p:txBody>
          <a:bodyPr wrap="square" lIns="0" rIns="0" tIns="0" bIns="0" anchor="t">
            <a:spAutoFit/>
          </a:bodyPr>
          <a:lstStyle/>
          <a:p>
            <a:pPr algn="l"/>
            <a:r>
              <a:rPr sz="840" b="0" i="0">
                <a:solidFill>
                  <a:srgbClr val="3E506B"/>
                </a:solidFill>
                <a:latin typeface="Calibri"/>
              </a:rPr>
              <a:t>D14: a session variable cannot serve a maintained parameter — views built on one fail to expand in another session. Promoted to a durable, auditable parameter table with one place to bump it.</a:t>
            </a:r>
          </a:p>
        </p:txBody>
      </p:sp>
      <p:sp>
        <p:nvSpPr>
          <p:cNvPr id="19" name="Rounded Rectangle 18"/>
          <p:cNvSpPr/>
          <p:nvPr/>
        </p:nvSpPr>
        <p:spPr>
          <a:xfrm>
            <a:off x="685800" y="3739896"/>
            <a:ext cx="10789920" cy="786384"/>
          </a:xfrm>
          <a:prstGeom prst="roundRect">
            <a:avLst/>
          </a:prstGeom>
          <a:solidFill>
            <a:srgbClr val="FFFFFF"/>
          </a:solidFill>
          <a:ln w="1524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3739896"/>
            <a:ext cx="64008" cy="786384"/>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3822191"/>
            <a:ext cx="10424160" cy="219456"/>
          </a:xfrm>
          <a:prstGeom prst="rect">
            <a:avLst/>
          </a:prstGeom>
          <a:noFill/>
        </p:spPr>
        <p:txBody>
          <a:bodyPr wrap="square" lIns="0" rIns="0" tIns="0" bIns="0" anchor="t">
            <a:spAutoFit/>
          </a:bodyPr>
          <a:lstStyle/>
          <a:p>
            <a:pPr algn="l"/>
            <a:r>
              <a:rPr sz="1050" b="1" i="0">
                <a:solidFill>
                  <a:srgbClr val="11253F"/>
                </a:solidFill>
                <a:latin typeface="Calibri"/>
              </a:rPr>
              <a:t>views.ts records which screens are real</a:t>
            </a:r>
          </a:p>
        </p:txBody>
      </p:sp>
      <p:sp>
        <p:nvSpPr>
          <p:cNvPr id="22" name="TextBox 21"/>
          <p:cNvSpPr txBox="1"/>
          <p:nvPr/>
        </p:nvSpPr>
        <p:spPr>
          <a:xfrm>
            <a:off x="896112" y="4059935"/>
            <a:ext cx="10424160" cy="420624"/>
          </a:xfrm>
          <a:prstGeom prst="rect">
            <a:avLst/>
          </a:prstGeom>
          <a:noFill/>
        </p:spPr>
        <p:txBody>
          <a:bodyPr wrap="square" lIns="0" rIns="0" tIns="0" bIns="0" anchor="t">
            <a:spAutoFit/>
          </a:bodyPr>
          <a:lstStyle/>
          <a:p>
            <a:pPr algn="l"/>
            <a:r>
              <a:rPr sz="840" b="0" i="0">
                <a:solidFill>
                  <a:srgbClr val="3E506B"/>
                </a:solidFill>
                <a:latin typeface="Calibri"/>
              </a:rPr>
              <a:t>Every view carries a backing field naming its GOLD objects; '' means still on mock data, and it drives a DATA badge in the topbar “so nobody mistakes a mock for a wired view during a demo”.</a:t>
            </a:r>
          </a:p>
        </p:txBody>
      </p:sp>
      <p:sp>
        <p:nvSpPr>
          <p:cNvPr id="23" name="Rounded Rectangle 22"/>
          <p:cNvSpPr/>
          <p:nvPr/>
        </p:nvSpPr>
        <p:spPr>
          <a:xfrm>
            <a:off x="685800" y="4590288"/>
            <a:ext cx="10789920" cy="786384"/>
          </a:xfrm>
          <a:prstGeom prst="roundRect">
            <a:avLst/>
          </a:prstGeom>
          <a:solidFill>
            <a:srgbClr val="FFFFFF"/>
          </a:solidFill>
          <a:ln w="1524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590288"/>
            <a:ext cx="64008" cy="786384"/>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672583"/>
            <a:ext cx="10424160" cy="219456"/>
          </a:xfrm>
          <a:prstGeom prst="rect">
            <a:avLst/>
          </a:prstGeom>
          <a:noFill/>
        </p:spPr>
        <p:txBody>
          <a:bodyPr wrap="square" lIns="0" rIns="0" tIns="0" bIns="0" anchor="t">
            <a:spAutoFit/>
          </a:bodyPr>
          <a:lstStyle/>
          <a:p>
            <a:pPr algn="l"/>
            <a:r>
              <a:rPr sz="1050" b="1" i="0">
                <a:solidFill>
                  <a:srgbClr val="11253F"/>
                </a:solidFill>
                <a:latin typeface="Calibri"/>
              </a:rPr>
              <a:t>The ML statistical machinery is real</a:t>
            </a:r>
          </a:p>
        </p:txBody>
      </p:sp>
      <p:sp>
        <p:nvSpPr>
          <p:cNvPr id="26" name="TextBox 25"/>
          <p:cNvSpPr txBox="1"/>
          <p:nvPr/>
        </p:nvSpPr>
        <p:spPr>
          <a:xfrm>
            <a:off x="896112" y="4910327"/>
            <a:ext cx="10424160" cy="420624"/>
          </a:xfrm>
          <a:prstGeom prst="rect">
            <a:avLst/>
          </a:prstGeom>
          <a:noFill/>
        </p:spPr>
        <p:txBody>
          <a:bodyPr wrap="square" lIns="0" rIns="0" tIns="0" bIns="0" anchor="t">
            <a:spAutoFit/>
          </a:bodyPr>
          <a:lstStyle/>
          <a:p>
            <a:pPr algn="l"/>
            <a:r>
              <a:rPr sz="840" b="0" i="0">
                <a:solidFill>
                  <a:srgbClr val="3E506B"/>
                </a:solidFill>
                <a:latin typeface="Calibri"/>
              </a:rPr>
              <a:t>M1 segment-pooled OLS panel with customer fixed effects and macro covariates; M2 cross-elasticity matrix at Usage-Group grain; M3 XGBoost volume-loss classifier on 60-day pre/post windows. Structurally disconnected from the UI — not fake.</a:t>
            </a:r>
          </a:p>
        </p:txBody>
      </p:sp>
      <p:sp>
        <p:nvSpPr>
          <p:cNvPr id="27" name="Rounded Rectangle 26"/>
          <p:cNvSpPr/>
          <p:nvPr/>
        </p:nvSpPr>
        <p:spPr>
          <a:xfrm>
            <a:off x="685800" y="5440679"/>
            <a:ext cx="10789920" cy="786384"/>
          </a:xfrm>
          <a:prstGeom prst="roundRect">
            <a:avLst/>
          </a:prstGeom>
          <a:solidFill>
            <a:srgbClr val="FFFFFF"/>
          </a:solidFill>
          <a:ln w="15240">
            <a:solidFill>
              <a:srgbClr val="1F9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5440679"/>
            <a:ext cx="64008" cy="786384"/>
          </a:xfrm>
          <a:prstGeom prst="rect">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2" y="5522975"/>
            <a:ext cx="10424160" cy="219456"/>
          </a:xfrm>
          <a:prstGeom prst="rect">
            <a:avLst/>
          </a:prstGeom>
          <a:noFill/>
        </p:spPr>
        <p:txBody>
          <a:bodyPr wrap="square" lIns="0" rIns="0" tIns="0" bIns="0" anchor="t">
            <a:spAutoFit/>
          </a:bodyPr>
          <a:lstStyle/>
          <a:p>
            <a:pPr algn="l"/>
            <a:r>
              <a:rPr sz="1050" b="1" i="0">
                <a:solidFill>
                  <a:srgbClr val="11253F"/>
                </a:solidFill>
                <a:latin typeface="Calibri"/>
              </a:rPr>
              <a:t>Performance problems were measured, then fixed</a:t>
            </a:r>
          </a:p>
        </p:txBody>
      </p:sp>
      <p:sp>
        <p:nvSpPr>
          <p:cNvPr id="30" name="TextBox 29"/>
          <p:cNvSpPr txBox="1"/>
          <p:nvPr/>
        </p:nvSpPr>
        <p:spPr>
          <a:xfrm>
            <a:off x="896112" y="5760719"/>
            <a:ext cx="10424160" cy="420624"/>
          </a:xfrm>
          <a:prstGeom prst="rect">
            <a:avLst/>
          </a:prstGeom>
          <a:noFill/>
        </p:spPr>
        <p:txBody>
          <a:bodyPr wrap="square" lIns="0" rIns="0" tIns="0" bIns="0" anchor="t">
            <a:spAutoFit/>
          </a:bodyPr>
          <a:lstStyle/>
          <a:p>
            <a:pPr algn="l"/>
            <a:r>
              <a:rPr sz="840" b="0" i="0">
                <a:solidFill>
                  <a:srgbClr val="3E506B"/>
                </a:solidFill>
                <a:latin typeface="Calibri"/>
              </a:rPr>
              <a:t>D28: a single pass through 14 nav items issued 35 requests averaging 21.8s. D29: two contract endpoints returned 42 MB for a few hundred KB of information. Both fixed with a promise-keyed session cache and purpose-built endpoints (210× reduction).</a:t>
            </a:r>
          </a:p>
        </p:txBody>
      </p:sp>
      <p:sp>
        <p:nvSpPr>
          <p:cNvPr id="31" name="TextBox 30"/>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Andrew Carson's audit summary: “This app is very, very good… one of the best prototypes I've ever seen.”</a:t>
            </a:r>
          </a:p>
        </p:txBody>
      </p:sp>
      <p:sp>
        <p:nvSpPr>
          <p:cNvPr id="32" name="TextBox 31"/>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932688"/>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932688"/>
            <a:ext cx="12191695" cy="41148"/>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058400" cy="201168"/>
          </a:xfrm>
          <a:prstGeom prst="rect">
            <a:avLst/>
          </a:prstGeom>
          <a:noFill/>
        </p:spPr>
        <p:txBody>
          <a:bodyPr wrap="square" lIns="0" rIns="0" tIns="0" bIns="0" anchor="t">
            <a:spAutoFit/>
          </a:bodyPr>
          <a:lstStyle/>
          <a:p>
            <a:pPr algn="l"/>
            <a:r>
              <a:rPr sz="950" b="1" i="0">
                <a:solidFill>
                  <a:srgbClr val="29B5E8"/>
                </a:solidFill>
                <a:latin typeface="Calibri"/>
              </a:rPr>
              <a:t>SLIDE 11 — CORRECTIONS TO EARLIER DOCUMENTS</a:t>
            </a:r>
          </a:p>
        </p:txBody>
      </p:sp>
      <p:sp>
        <p:nvSpPr>
          <p:cNvPr id="5" name="TextBox 4"/>
          <p:cNvSpPr txBox="1"/>
          <p:nvPr/>
        </p:nvSpPr>
        <p:spPr>
          <a:xfrm>
            <a:off x="502920" y="329184"/>
            <a:ext cx="10607040" cy="384048"/>
          </a:xfrm>
          <a:prstGeom prst="rect">
            <a:avLst/>
          </a:prstGeom>
          <a:noFill/>
        </p:spPr>
        <p:txBody>
          <a:bodyPr wrap="square" lIns="0" rIns="0" tIns="0" bIns="0" anchor="t">
            <a:spAutoFit/>
          </a:bodyPr>
          <a:lstStyle/>
          <a:p>
            <a:pPr algn="l"/>
            <a:r>
              <a:rPr sz="2200" b="1" i="0">
                <a:solidFill>
                  <a:srgbClr val="FFFFFF"/>
                </a:solidFill>
                <a:latin typeface="Calibri"/>
              </a:rPr>
              <a:t>Three things I had stated or repeated that the code disproves</a:t>
            </a:r>
          </a:p>
        </p:txBody>
      </p:sp>
      <p:sp>
        <p:nvSpPr>
          <p:cNvPr id="6" name="TextBox 5"/>
          <p:cNvSpPr txBox="1"/>
          <p:nvPr/>
        </p:nvSpPr>
        <p:spPr>
          <a:xfrm>
            <a:off x="502920" y="694944"/>
            <a:ext cx="11155680" cy="201168"/>
          </a:xfrm>
          <a:prstGeom prst="rect">
            <a:avLst/>
          </a:prstGeom>
          <a:noFill/>
        </p:spPr>
        <p:txBody>
          <a:bodyPr wrap="square" lIns="0" rIns="0" tIns="0" bIns="0" anchor="t">
            <a:spAutoFit/>
          </a:bodyPr>
          <a:lstStyle/>
          <a:p>
            <a:pPr algn="l"/>
            <a:r>
              <a:rPr sz="1000" b="0" i="0">
                <a:solidFill>
                  <a:srgbClr val="8A99AD"/>
                </a:solidFill>
                <a:latin typeface="Calibri"/>
              </a:rPr>
              <a:t>Recorded so the errors do not propagate further.</a:t>
            </a:r>
          </a:p>
        </p:txBody>
      </p:sp>
      <p:sp>
        <p:nvSpPr>
          <p:cNvPr id="7" name="Rounded Rectangle 6"/>
          <p:cNvSpPr/>
          <p:nvPr/>
        </p:nvSpPr>
        <p:spPr>
          <a:xfrm>
            <a:off x="685800" y="1243584"/>
            <a:ext cx="10789920" cy="1426464"/>
          </a:xfrm>
          <a:prstGeom prst="roundRect">
            <a:avLst/>
          </a:prstGeom>
          <a:solidFill>
            <a:srgbClr val="FFFFFF"/>
          </a:solidFill>
          <a:ln w="1651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243584"/>
            <a:ext cx="64008" cy="1426464"/>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35024"/>
            <a:ext cx="10332720" cy="219456"/>
          </a:xfrm>
          <a:prstGeom prst="rect">
            <a:avLst/>
          </a:prstGeom>
          <a:noFill/>
        </p:spPr>
        <p:txBody>
          <a:bodyPr wrap="square" lIns="0" rIns="0" tIns="0" bIns="0" anchor="t">
            <a:spAutoFit/>
          </a:bodyPr>
          <a:lstStyle/>
          <a:p>
            <a:pPr algn="l"/>
            <a:r>
              <a:rPr sz="1019" b="1" i="0">
                <a:solidFill>
                  <a:srgbClr val="11253F"/>
                </a:solidFill>
                <a:latin typeface="Calibri"/>
              </a:rPr>
              <a:t>CLAIMED:   “ARKEMA_PRICING_DB has no CREATE DATABASE in the scripts”</a:t>
            </a:r>
          </a:p>
        </p:txBody>
      </p:sp>
      <p:sp>
        <p:nvSpPr>
          <p:cNvPr id="10" name="TextBox 9"/>
          <p:cNvSpPr txBox="1"/>
          <p:nvPr/>
        </p:nvSpPr>
        <p:spPr>
          <a:xfrm>
            <a:off x="896112" y="1572768"/>
            <a:ext cx="10332720" cy="182880"/>
          </a:xfrm>
          <a:prstGeom prst="rect">
            <a:avLst/>
          </a:prstGeom>
          <a:noFill/>
        </p:spPr>
        <p:txBody>
          <a:bodyPr wrap="square" lIns="0" rIns="0" tIns="0" bIns="0" anchor="t">
            <a:spAutoFit/>
          </a:bodyPr>
          <a:lstStyle/>
          <a:p>
            <a:pPr algn="l"/>
            <a:r>
              <a:rPr sz="780" b="0" i="1">
                <a:solidFill>
                  <a:srgbClr val="8A99AD"/>
                </a:solidFill>
                <a:latin typeface="Calibri"/>
              </a:rPr>
              <a:t>in 20260915_ProjectPlan.md §2, repeated in 20260918_GrantsNeeded.md §3</a:t>
            </a:r>
          </a:p>
        </p:txBody>
      </p:sp>
      <p:sp>
        <p:nvSpPr>
          <p:cNvPr id="11" name="TextBox 10"/>
          <p:cNvSpPr txBox="1"/>
          <p:nvPr/>
        </p:nvSpPr>
        <p:spPr>
          <a:xfrm>
            <a:off x="896112" y="1792224"/>
            <a:ext cx="5074920" cy="786384"/>
          </a:xfrm>
          <a:prstGeom prst="rect">
            <a:avLst/>
          </a:prstGeom>
          <a:noFill/>
        </p:spPr>
        <p:txBody>
          <a:bodyPr wrap="square" lIns="0" rIns="0" tIns="0" bIns="0" anchor="t">
            <a:spAutoFit/>
          </a:bodyPr>
          <a:lstStyle/>
          <a:p>
            <a:pPr algn="l"/>
            <a:r>
              <a:rPr sz="830" b="0" i="0">
                <a:solidFill>
                  <a:srgbClr val="11253F"/>
                </a:solidFill>
                <a:latin typeface="Calibri"/>
              </a:rPr>
              <a:t>ACTUAL</a:t>
            </a:r>
          </a:p>
          <a:p>
            <a:pPr algn="l"/>
            <a:r>
              <a:rPr sz="830" b="0" i="0">
                <a:solidFill>
                  <a:srgbClr val="11253F"/>
                </a:solidFill>
                <a:latin typeface="Calibri"/>
              </a:rPr>
              <a:t>FALSE. ddl/001_database.sql contains CREATE DATABASE IF NOT EXISTS ARKEMA_PRICING_DB. The audit's finding was about ARKEMA_PRICING_DB_SCALE — the scale/ tree, now out of scope.</a:t>
            </a:r>
          </a:p>
        </p:txBody>
      </p:sp>
      <p:sp>
        <p:nvSpPr>
          <p:cNvPr id="12" name="TextBox 11"/>
          <p:cNvSpPr txBox="1"/>
          <p:nvPr/>
        </p:nvSpPr>
        <p:spPr>
          <a:xfrm>
            <a:off x="6263640" y="1792224"/>
            <a:ext cx="5029200" cy="786384"/>
          </a:xfrm>
          <a:prstGeom prst="rect">
            <a:avLst/>
          </a:prstGeom>
          <a:noFill/>
        </p:spPr>
        <p:txBody>
          <a:bodyPr wrap="square" lIns="0" rIns="0" tIns="0" bIns="0" anchor="t">
            <a:spAutoFit/>
          </a:bodyPr>
          <a:lstStyle/>
          <a:p>
            <a:pPr algn="l"/>
            <a:r>
              <a:rPr sz="830" b="0" i="0">
                <a:solidFill>
                  <a:srgbClr val="3E506B"/>
                </a:solidFill>
                <a:latin typeface="Calibri"/>
              </a:rPr>
              <a:t>IMPACT</a:t>
            </a:r>
          </a:p>
          <a:p>
            <a:pPr algn="l"/>
            <a:r>
              <a:rPr sz="830" b="0" i="0">
                <a:solidFill>
                  <a:srgbClr val="3E506B"/>
                </a:solidFill>
                <a:latin typeface="Calibri"/>
              </a:rPr>
              <a:t>I over-stated a gap. The DDL is reproducible from empty. Grants doc needs correcting.</a:t>
            </a:r>
          </a:p>
        </p:txBody>
      </p:sp>
      <p:sp>
        <p:nvSpPr>
          <p:cNvPr id="13" name="Rounded Rectangle 12"/>
          <p:cNvSpPr/>
          <p:nvPr/>
        </p:nvSpPr>
        <p:spPr>
          <a:xfrm>
            <a:off x="685800" y="2761488"/>
            <a:ext cx="10789920" cy="1426464"/>
          </a:xfrm>
          <a:prstGeom prst="roundRect">
            <a:avLst/>
          </a:prstGeom>
          <a:solidFill>
            <a:srgbClr val="FFFFFF"/>
          </a:solidFill>
          <a:ln w="1651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761488"/>
            <a:ext cx="64008" cy="1426464"/>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852928"/>
            <a:ext cx="10332720" cy="219456"/>
          </a:xfrm>
          <a:prstGeom prst="rect">
            <a:avLst/>
          </a:prstGeom>
          <a:noFill/>
        </p:spPr>
        <p:txBody>
          <a:bodyPr wrap="square" lIns="0" rIns="0" tIns="0" bIns="0" anchor="t">
            <a:spAutoFit/>
          </a:bodyPr>
          <a:lstStyle/>
          <a:p>
            <a:pPr algn="l"/>
            <a:r>
              <a:rPr sz="1019" b="1" i="0">
                <a:solidFill>
                  <a:srgbClr val="11253F"/>
                </a:solidFill>
                <a:latin typeface="Calibri"/>
              </a:rPr>
              <a:t>CLAIMED:   The semantic model is a native SEMANTIC VIEW object</a:t>
            </a:r>
          </a:p>
        </p:txBody>
      </p:sp>
      <p:sp>
        <p:nvSpPr>
          <p:cNvPr id="16" name="TextBox 15"/>
          <p:cNvSpPr txBox="1"/>
          <p:nvPr/>
        </p:nvSpPr>
        <p:spPr>
          <a:xfrm>
            <a:off x="896112" y="3090672"/>
            <a:ext cx="10332720" cy="182880"/>
          </a:xfrm>
          <a:prstGeom prst="rect">
            <a:avLst/>
          </a:prstGeom>
          <a:noFill/>
        </p:spPr>
        <p:txBody>
          <a:bodyPr wrap="square" lIns="0" rIns="0" tIns="0" bIns="0" anchor="t">
            <a:spAutoFit/>
          </a:bodyPr>
          <a:lstStyle/>
          <a:p>
            <a:pPr algn="l"/>
            <a:r>
              <a:rPr sz="780" b="0" i="1">
                <a:solidFill>
                  <a:srgbClr val="8A99AD"/>
                </a:solidFill>
                <a:latin typeface="Calibri"/>
              </a:rPr>
              <a:t>in my first draft of the grants document</a:t>
            </a:r>
          </a:p>
        </p:txBody>
      </p:sp>
      <p:sp>
        <p:nvSpPr>
          <p:cNvPr id="17" name="TextBox 16"/>
          <p:cNvSpPr txBox="1"/>
          <p:nvPr/>
        </p:nvSpPr>
        <p:spPr>
          <a:xfrm>
            <a:off x="896112" y="3310128"/>
            <a:ext cx="5074920" cy="786384"/>
          </a:xfrm>
          <a:prstGeom prst="rect">
            <a:avLst/>
          </a:prstGeom>
          <a:noFill/>
        </p:spPr>
        <p:txBody>
          <a:bodyPr wrap="square" lIns="0" rIns="0" tIns="0" bIns="0" anchor="t">
            <a:spAutoFit/>
          </a:bodyPr>
          <a:lstStyle/>
          <a:p>
            <a:pPr algn="l"/>
            <a:r>
              <a:rPr sz="830" b="0" i="0">
                <a:solidFill>
                  <a:srgbClr val="11253F"/>
                </a:solidFill>
                <a:latin typeface="Calibri"/>
              </a:rPr>
              <a:t>ACTUAL</a:t>
            </a:r>
          </a:p>
          <a:p>
            <a:pPr algn="l"/>
            <a:r>
              <a:rPr sz="830" b="0" i="0">
                <a:solidFill>
                  <a:srgbClr val="11253F"/>
                </a:solidFill>
                <a:latin typeface="Calibri"/>
              </a:rPr>
              <a:t>It is a YAML file on the MART.SEMANTIC_MODELS stage. GRANT SELECT ON SEMANTIC VIEW does not apply; READ / WRITE on the stage is what is required.</a:t>
            </a:r>
          </a:p>
        </p:txBody>
      </p:sp>
      <p:sp>
        <p:nvSpPr>
          <p:cNvPr id="18" name="TextBox 17"/>
          <p:cNvSpPr txBox="1"/>
          <p:nvPr/>
        </p:nvSpPr>
        <p:spPr>
          <a:xfrm>
            <a:off x="6263640" y="3310128"/>
            <a:ext cx="5029200" cy="786384"/>
          </a:xfrm>
          <a:prstGeom prst="rect">
            <a:avLst/>
          </a:prstGeom>
          <a:noFill/>
        </p:spPr>
        <p:txBody>
          <a:bodyPr wrap="square" lIns="0" rIns="0" tIns="0" bIns="0" anchor="t">
            <a:spAutoFit/>
          </a:bodyPr>
          <a:lstStyle/>
          <a:p>
            <a:pPr algn="l"/>
            <a:r>
              <a:rPr sz="830" b="0" i="0">
                <a:solidFill>
                  <a:srgbClr val="3E506B"/>
                </a:solidFill>
                <a:latin typeface="Calibri"/>
              </a:rPr>
              <a:t>IMPACT</a:t>
            </a:r>
          </a:p>
          <a:p>
            <a:pPr algn="l"/>
            <a:r>
              <a:rPr sz="830" b="0" i="0">
                <a:solidFill>
                  <a:srgbClr val="3E506B"/>
                </a:solidFill>
                <a:latin typeface="Calibri"/>
              </a:rPr>
              <a:t>Already corrected in 20260918_GrantsNeeded.md §1a / §6a.</a:t>
            </a:r>
          </a:p>
        </p:txBody>
      </p:sp>
      <p:sp>
        <p:nvSpPr>
          <p:cNvPr id="19" name="Rounded Rectangle 18"/>
          <p:cNvSpPr/>
          <p:nvPr/>
        </p:nvSpPr>
        <p:spPr>
          <a:xfrm>
            <a:off x="685800" y="4279392"/>
            <a:ext cx="10789920" cy="1426464"/>
          </a:xfrm>
          <a:prstGeom prst="roundRect">
            <a:avLst/>
          </a:prstGeom>
          <a:solidFill>
            <a:srgbClr val="FFFFFF"/>
          </a:solidFill>
          <a:ln w="1651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279392"/>
            <a:ext cx="64008" cy="1426464"/>
          </a:xfrm>
          <a:prstGeom prst="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370831"/>
            <a:ext cx="10332720" cy="219456"/>
          </a:xfrm>
          <a:prstGeom prst="rect">
            <a:avLst/>
          </a:prstGeom>
          <a:noFill/>
        </p:spPr>
        <p:txBody>
          <a:bodyPr wrap="square" lIns="0" rIns="0" tIns="0" bIns="0" anchor="t">
            <a:spAutoFit/>
          </a:bodyPr>
          <a:lstStyle/>
          <a:p>
            <a:pPr algn="l"/>
            <a:r>
              <a:rPr sz="1019" b="1" i="0">
                <a:solidFill>
                  <a:srgbClr val="11253F"/>
                </a:solidFill>
                <a:latin typeface="Calibri"/>
              </a:rPr>
              <a:t>CLAIMED:   Deployment targets ARKEMA_PRICING_DB</a:t>
            </a:r>
          </a:p>
        </p:txBody>
      </p:sp>
      <p:sp>
        <p:nvSpPr>
          <p:cNvPr id="22" name="TextBox 21"/>
          <p:cNvSpPr txBox="1"/>
          <p:nvPr/>
        </p:nvSpPr>
        <p:spPr>
          <a:xfrm>
            <a:off x="896112" y="4608576"/>
            <a:ext cx="10332720" cy="182880"/>
          </a:xfrm>
          <a:prstGeom prst="rect">
            <a:avLst/>
          </a:prstGeom>
          <a:noFill/>
        </p:spPr>
        <p:txBody>
          <a:bodyPr wrap="square" lIns="0" rIns="0" tIns="0" bIns="0" anchor="t">
            <a:spAutoFit/>
          </a:bodyPr>
          <a:lstStyle/>
          <a:p>
            <a:pPr algn="l"/>
            <a:r>
              <a:rPr sz="780" b="0" i="1">
                <a:solidFill>
                  <a:srgbClr val="8A99AD"/>
                </a:solidFill>
                <a:latin typeface="Calibri"/>
              </a:rPr>
              <a:t>in all documents to date</a:t>
            </a:r>
          </a:p>
        </p:txBody>
      </p:sp>
      <p:sp>
        <p:nvSpPr>
          <p:cNvPr id="23" name="TextBox 22"/>
          <p:cNvSpPr txBox="1"/>
          <p:nvPr/>
        </p:nvSpPr>
        <p:spPr>
          <a:xfrm>
            <a:off x="896112" y="4828031"/>
            <a:ext cx="5074920" cy="786384"/>
          </a:xfrm>
          <a:prstGeom prst="rect">
            <a:avLst/>
          </a:prstGeom>
          <a:noFill/>
        </p:spPr>
        <p:txBody>
          <a:bodyPr wrap="square" lIns="0" rIns="0" tIns="0" bIns="0" anchor="t">
            <a:spAutoFit/>
          </a:bodyPr>
          <a:lstStyle/>
          <a:p>
            <a:pPr algn="l"/>
            <a:r>
              <a:rPr sz="830" b="0" i="0">
                <a:solidFill>
                  <a:srgbClr val="11253F"/>
                </a:solidFill>
                <a:latin typeface="Calibri"/>
              </a:rPr>
              <a:t>ACTUAL</a:t>
            </a:r>
          </a:p>
          <a:p>
            <a:pPr algn="l"/>
            <a:r>
              <a:rPr sz="830" b="0" i="0">
                <a:solidFill>
                  <a:srgbClr val="11253F"/>
                </a:solidFill>
                <a:latin typeface="Calibri"/>
              </a:rPr>
              <a:t>There are TWO target databases. ARKEMA_PRICING_MVP is described in its own header as the PS handover artifact, and carries 3× the DDL.</a:t>
            </a:r>
          </a:p>
        </p:txBody>
      </p:sp>
      <p:sp>
        <p:nvSpPr>
          <p:cNvPr id="24" name="TextBox 23"/>
          <p:cNvSpPr txBox="1"/>
          <p:nvPr/>
        </p:nvSpPr>
        <p:spPr>
          <a:xfrm>
            <a:off x="6263640" y="4828031"/>
            <a:ext cx="5029200" cy="786384"/>
          </a:xfrm>
          <a:prstGeom prst="rect">
            <a:avLst/>
          </a:prstGeom>
          <a:noFill/>
        </p:spPr>
        <p:txBody>
          <a:bodyPr wrap="square" lIns="0" rIns="0" tIns="0" bIns="0" anchor="t">
            <a:spAutoFit/>
          </a:bodyPr>
          <a:lstStyle/>
          <a:p>
            <a:pPr algn="l"/>
            <a:r>
              <a:rPr sz="830" b="0" i="0">
                <a:solidFill>
                  <a:srgbClr val="3E506B"/>
                </a:solidFill>
                <a:latin typeface="Calibri"/>
              </a:rPr>
              <a:t>IMPACT</a:t>
            </a:r>
          </a:p>
          <a:p>
            <a:pPr algn="l"/>
            <a:r>
              <a:rPr sz="830" b="0" i="0">
                <a:solidFill>
                  <a:srgbClr val="3E506B"/>
                </a:solidFill>
                <a:latin typeface="Calibri"/>
              </a:rPr>
              <a:t>The grants doc covers only ARKEMA_PRICING_DB. Needs a second database — or a decision.</a:t>
            </a:r>
          </a:p>
        </p:txBody>
      </p:sp>
      <p:sp>
        <p:nvSpPr>
          <p:cNvPr id="25" name="Rounded Rectangle 24"/>
          <p:cNvSpPr/>
          <p:nvPr/>
        </p:nvSpPr>
        <p:spPr>
          <a:xfrm>
            <a:off x="685800" y="5833872"/>
            <a:ext cx="10789920" cy="512064"/>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943600"/>
            <a:ext cx="10424160" cy="310896"/>
          </a:xfrm>
          <a:prstGeom prst="rect">
            <a:avLst/>
          </a:prstGeom>
          <a:noFill/>
        </p:spPr>
        <p:txBody>
          <a:bodyPr wrap="square" lIns="0" rIns="0" tIns="0" bIns="0" anchor="t">
            <a:spAutoFit/>
          </a:bodyPr>
          <a:lstStyle/>
          <a:p>
            <a:pPr algn="l"/>
            <a:r>
              <a:rPr sz="940" b="0" i="0">
                <a:solidFill>
                  <a:srgbClr val="FFFFFF"/>
                </a:solidFill>
                <a:latin typeface="Calibri"/>
              </a:rPr>
              <a:t>The repo's own docs/ARCHITECTURE.md is 77 lines and describes only Variant A — no MVP database, no medallion layers, no MVP router.</a:t>
            </a:r>
          </a:p>
          <a:p>
            <a:pPr algn="l"/>
            <a:r>
              <a:rPr sz="940" b="0" i="0">
                <a:solidFill>
                  <a:srgbClr val="FFFFFF"/>
                </a:solidFill>
                <a:latin typeface="Calibri"/>
              </a:rPr>
              <a:t>Not wrong so much as badly out of date, which is why this architecture was built from the code.</a:t>
            </a:r>
          </a:p>
        </p:txBody>
      </p:sp>
      <p:sp>
        <p:nvSpPr>
          <p:cNvPr id="27" name="TextBox 26"/>
          <p:cNvSpPr txBox="1"/>
          <p:nvPr/>
        </p:nvSpPr>
        <p:spPr>
          <a:xfrm>
            <a:off x="502920" y="6473952"/>
            <a:ext cx="10058400" cy="219456"/>
          </a:xfrm>
          <a:prstGeom prst="rect">
            <a:avLst/>
          </a:prstGeom>
          <a:noFill/>
        </p:spPr>
        <p:txBody>
          <a:bodyPr wrap="square" lIns="0" rIns="0" tIns="0" bIns="0" anchor="t">
            <a:spAutoFit/>
          </a:bodyPr>
          <a:lstStyle/>
          <a:p>
            <a:pPr algn="l"/>
            <a:r>
              <a:rPr sz="800" b="0" i="1">
                <a:solidFill>
                  <a:srgbClr val="8A99AD"/>
                </a:solidFill>
                <a:latin typeface="Calibri"/>
              </a:rPr>
              <a:t>Every figure in this deck was measured from the repository on Sep 18, 2026.</a:t>
            </a:r>
          </a:p>
        </p:txBody>
      </p:sp>
      <p:sp>
        <p:nvSpPr>
          <p:cNvPr id="28" name="TextBox 27"/>
          <p:cNvSpPr txBox="1"/>
          <p:nvPr/>
        </p:nvSpPr>
        <p:spPr>
          <a:xfrm>
            <a:off x="11231575" y="6473952"/>
            <a:ext cx="457200" cy="219456"/>
          </a:xfrm>
          <a:prstGeom prst="rect">
            <a:avLst/>
          </a:prstGeom>
          <a:noFill/>
        </p:spPr>
        <p:txBody>
          <a:bodyPr wrap="square" lIns="0" rIns="0" tIns="0" bIns="0" anchor="t">
            <a:spAutoFit/>
          </a:bodyPr>
          <a:lstStyle/>
          <a:p>
            <a:pPr algn="r"/>
            <a:r>
              <a:rPr sz="900" b="0" i="0">
                <a:solidFill>
                  <a:srgbClr val="8A99A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prstGeom>
          <a:solidFill>
            <a:srgbClr val="11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46304" cy="6858000"/>
          </a:xfrm>
          <a:prstGeom prst="round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88720"/>
            <a:ext cx="10058400" cy="274320"/>
          </a:xfrm>
          <a:prstGeom prst="rect">
            <a:avLst/>
          </a:prstGeom>
          <a:noFill/>
        </p:spPr>
        <p:txBody>
          <a:bodyPr wrap="square" lIns="0" rIns="0" tIns="0" bIns="0" anchor="t">
            <a:spAutoFit/>
          </a:bodyPr>
          <a:lstStyle/>
          <a:p>
            <a:pPr algn="l"/>
            <a:r>
              <a:rPr sz="1100" b="1" i="0">
                <a:solidFill>
                  <a:srgbClr val="29B5E8"/>
                </a:solidFill>
                <a:latin typeface="Calibri"/>
              </a:rPr>
              <a:t>SUMMARY</a:t>
            </a:r>
          </a:p>
        </p:txBody>
      </p:sp>
      <p:sp>
        <p:nvSpPr>
          <p:cNvPr id="5" name="TextBox 4"/>
          <p:cNvSpPr txBox="1"/>
          <p:nvPr/>
        </p:nvSpPr>
        <p:spPr>
          <a:xfrm>
            <a:off x="1005840" y="1572768"/>
            <a:ext cx="10241280" cy="548640"/>
          </a:xfrm>
          <a:prstGeom prst="rect">
            <a:avLst/>
          </a:prstGeom>
          <a:noFill/>
        </p:spPr>
        <p:txBody>
          <a:bodyPr wrap="square" lIns="0" rIns="0" tIns="0" bIns="0" anchor="t">
            <a:spAutoFit/>
          </a:bodyPr>
          <a:lstStyle/>
          <a:p>
            <a:pPr algn="l"/>
            <a:r>
              <a:rPr sz="3400" b="1" i="0">
                <a:solidFill>
                  <a:srgbClr val="FFFFFF"/>
                </a:solidFill>
                <a:latin typeface="Calibri"/>
              </a:rPr>
              <a:t>What this changes</a:t>
            </a:r>
          </a:p>
        </p:txBody>
      </p:sp>
      <p:sp>
        <p:nvSpPr>
          <p:cNvPr id="6" name="Rectangle 5"/>
          <p:cNvSpPr/>
          <p:nvPr/>
        </p:nvSpPr>
        <p:spPr>
          <a:xfrm>
            <a:off x="1005840" y="2468880"/>
            <a:ext cx="50292" cy="713232"/>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2487168"/>
            <a:ext cx="9692640" cy="237744"/>
          </a:xfrm>
          <a:prstGeom prst="rect">
            <a:avLst/>
          </a:prstGeom>
          <a:noFill/>
        </p:spPr>
        <p:txBody>
          <a:bodyPr wrap="square" lIns="0" rIns="0" tIns="0" bIns="0" anchor="t">
            <a:spAutoFit/>
          </a:bodyPr>
          <a:lstStyle/>
          <a:p>
            <a:pPr algn="l"/>
            <a:r>
              <a:rPr sz="1300" b="1" i="0">
                <a:solidFill>
                  <a:srgbClr val="FFFFFF"/>
                </a:solidFill>
                <a:latin typeface="Calibri"/>
              </a:rPr>
              <a:t>Two applications, not one.</a:t>
            </a:r>
          </a:p>
        </p:txBody>
      </p:sp>
      <p:sp>
        <p:nvSpPr>
          <p:cNvPr id="8" name="TextBox 7"/>
          <p:cNvSpPr txBox="1"/>
          <p:nvPr/>
        </p:nvSpPr>
        <p:spPr>
          <a:xfrm>
            <a:off x="1261872" y="2743200"/>
            <a:ext cx="9692640" cy="457200"/>
          </a:xfrm>
          <a:prstGeom prst="rect">
            <a:avLst/>
          </a:prstGeom>
          <a:noFill/>
        </p:spPr>
        <p:txBody>
          <a:bodyPr wrap="square" lIns="0" rIns="0" tIns="0" bIns="0" anchor="t">
            <a:spAutoFit/>
          </a:bodyPr>
          <a:lstStyle/>
          <a:p>
            <a:pPr algn="l"/>
            <a:r>
              <a:rPr sz="980" b="0" i="0">
                <a:solidFill>
                  <a:srgbClr val="8A99AD"/>
                </a:solidFill>
                <a:latin typeface="Calibri"/>
              </a:rPr>
              <a:t>arc/ holds Variant A (ARKEMA_PRICING_DB, POC, has the AI + ML) and Variant B (ARKEMA_PRICING_MVP, medallion, 3× the DDL, built to the authoritative PRD). Neither covers the full PRD.</a:t>
            </a:r>
          </a:p>
        </p:txBody>
      </p:sp>
      <p:sp>
        <p:nvSpPr>
          <p:cNvPr id="9" name="Rectangle 8"/>
          <p:cNvSpPr/>
          <p:nvPr/>
        </p:nvSpPr>
        <p:spPr>
          <a:xfrm>
            <a:off x="1005840" y="3291840"/>
            <a:ext cx="50292" cy="713232"/>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3310128"/>
            <a:ext cx="9692640" cy="237744"/>
          </a:xfrm>
          <a:prstGeom prst="rect">
            <a:avLst/>
          </a:prstGeom>
          <a:noFill/>
        </p:spPr>
        <p:txBody>
          <a:bodyPr wrap="square" lIns="0" rIns="0" tIns="0" bIns="0" anchor="t">
            <a:spAutoFit/>
          </a:bodyPr>
          <a:lstStyle/>
          <a:p>
            <a:pPr algn="l"/>
            <a:r>
              <a:rPr sz="1300" b="1" i="0">
                <a:solidFill>
                  <a:srgbClr val="FFFFFF"/>
                </a:solidFill>
                <a:latin typeface="Calibri"/>
              </a:rPr>
              <a:t>The variant decision gates the workstream.</a:t>
            </a:r>
          </a:p>
        </p:txBody>
      </p:sp>
      <p:sp>
        <p:nvSpPr>
          <p:cNvPr id="11" name="TextBox 10"/>
          <p:cNvSpPr txBox="1"/>
          <p:nvPr/>
        </p:nvSpPr>
        <p:spPr>
          <a:xfrm>
            <a:off x="1261872" y="3566160"/>
            <a:ext cx="9692640" cy="457200"/>
          </a:xfrm>
          <a:prstGeom prst="rect">
            <a:avLst/>
          </a:prstGeom>
          <a:noFill/>
        </p:spPr>
        <p:txBody>
          <a:bodyPr wrap="square" lIns="0" rIns="0" tIns="0" bIns="0" anchor="t">
            <a:spAutoFit/>
          </a:bodyPr>
          <a:lstStyle/>
          <a:p>
            <a:pPr algn="l"/>
            <a:r>
              <a:rPr sz="980" b="0" i="0">
                <a:solidFill>
                  <a:srgbClr val="8A99AD"/>
                </a:solidFill>
                <a:latin typeface="Calibri"/>
              </a:rPr>
              <a:t>It determines the grant request, the UAT scope, and whether F8 GenAI is deliverable at all. Needs Rishabh before his editing cutoff.</a:t>
            </a:r>
          </a:p>
        </p:txBody>
      </p:sp>
      <p:sp>
        <p:nvSpPr>
          <p:cNvPr id="12" name="Rectangle 11"/>
          <p:cNvSpPr/>
          <p:nvPr/>
        </p:nvSpPr>
        <p:spPr>
          <a:xfrm>
            <a:off x="1005840" y="4114800"/>
            <a:ext cx="50292" cy="713232"/>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61872" y="4133087"/>
            <a:ext cx="9692640" cy="237744"/>
          </a:xfrm>
          <a:prstGeom prst="rect">
            <a:avLst/>
          </a:prstGeom>
          <a:noFill/>
        </p:spPr>
        <p:txBody>
          <a:bodyPr wrap="square" lIns="0" rIns="0" tIns="0" bIns="0" anchor="t">
            <a:spAutoFit/>
          </a:bodyPr>
          <a:lstStyle/>
          <a:p>
            <a:pPr algn="l"/>
            <a:r>
              <a:rPr sz="1300" b="1" i="0">
                <a:solidFill>
                  <a:srgbClr val="FFFFFF"/>
                </a:solidFill>
                <a:latin typeface="Calibri"/>
              </a:rPr>
              <a:t>The grants document needs a second database.</a:t>
            </a:r>
          </a:p>
        </p:txBody>
      </p:sp>
      <p:sp>
        <p:nvSpPr>
          <p:cNvPr id="14" name="TextBox 13"/>
          <p:cNvSpPr txBox="1"/>
          <p:nvPr/>
        </p:nvSpPr>
        <p:spPr>
          <a:xfrm>
            <a:off x="1261872" y="4389120"/>
            <a:ext cx="9692640" cy="457200"/>
          </a:xfrm>
          <a:prstGeom prst="rect">
            <a:avLst/>
          </a:prstGeom>
          <a:noFill/>
        </p:spPr>
        <p:txBody>
          <a:bodyPr wrap="square" lIns="0" rIns="0" tIns="0" bIns="0" anchor="t">
            <a:spAutoFit/>
          </a:bodyPr>
          <a:lstStyle/>
          <a:p>
            <a:pPr algn="l"/>
            <a:r>
              <a:rPr sz="980" b="0" i="0">
                <a:solidFill>
                  <a:srgbClr val="8A99AD"/>
                </a:solidFill>
                <a:latin typeface="Calibri"/>
              </a:rPr>
              <a:t>20260918_GrantsNeeded.md currently covers ARKEMA_PRICING_DB only.</a:t>
            </a:r>
          </a:p>
        </p:txBody>
      </p:sp>
      <p:sp>
        <p:nvSpPr>
          <p:cNvPr id="15" name="Rectangle 14"/>
          <p:cNvSpPr/>
          <p:nvPr/>
        </p:nvSpPr>
        <p:spPr>
          <a:xfrm>
            <a:off x="1005840" y="4937760"/>
            <a:ext cx="50292" cy="713232"/>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4956048"/>
            <a:ext cx="9692640" cy="237744"/>
          </a:xfrm>
          <a:prstGeom prst="rect">
            <a:avLst/>
          </a:prstGeom>
          <a:noFill/>
        </p:spPr>
        <p:txBody>
          <a:bodyPr wrap="square" lIns="0" rIns="0" tIns="0" bIns="0" anchor="t">
            <a:spAutoFit/>
          </a:bodyPr>
          <a:lstStyle/>
          <a:p>
            <a:pPr algn="l"/>
            <a:r>
              <a:rPr sz="1300" b="1" i="0">
                <a:solidFill>
                  <a:srgbClr val="FFFFFF"/>
                </a:solidFill>
                <a:latin typeface="Calibri"/>
              </a:rPr>
              <a:t>Three audit findings are confirmed independently.</a:t>
            </a:r>
          </a:p>
        </p:txBody>
      </p:sp>
      <p:sp>
        <p:nvSpPr>
          <p:cNvPr id="17" name="TextBox 16"/>
          <p:cNvSpPr txBox="1"/>
          <p:nvPr/>
        </p:nvSpPr>
        <p:spPr>
          <a:xfrm>
            <a:off x="1261872" y="5212080"/>
            <a:ext cx="9692640" cy="457200"/>
          </a:xfrm>
          <a:prstGeom prst="rect">
            <a:avLst/>
          </a:prstGeom>
          <a:noFill/>
        </p:spPr>
        <p:txBody>
          <a:bodyPr wrap="square" lIns="0" rIns="0" tIns="0" bIns="0" anchor="t">
            <a:spAutoFit/>
          </a:bodyPr>
          <a:lstStyle/>
          <a:p>
            <a:pPr algn="l"/>
            <a:r>
              <a:rPr sz="980" b="0" i="0">
                <a:solidFill>
                  <a:srgbClr val="8A99AD"/>
                </a:solidFill>
                <a:latin typeface="Calibri"/>
              </a:rPr>
              <a:t>No server-side auth; the ML retrain chain is inert; and the “numbers are not reliable” problem is already measured in MVP-BRIDGE DR-17 / DR-18.</a:t>
            </a:r>
          </a:p>
        </p:txBody>
      </p:sp>
      <p:sp>
        <p:nvSpPr>
          <p:cNvPr id="18" name="TextBox 17"/>
          <p:cNvSpPr txBox="1"/>
          <p:nvPr/>
        </p:nvSpPr>
        <p:spPr>
          <a:xfrm>
            <a:off x="1005840" y="6053328"/>
            <a:ext cx="10058400" cy="219456"/>
          </a:xfrm>
          <a:prstGeom prst="rect">
            <a:avLst/>
          </a:prstGeom>
          <a:noFill/>
        </p:spPr>
        <p:txBody>
          <a:bodyPr wrap="square" lIns="0" rIns="0" tIns="0" bIns="0" anchor="t">
            <a:spAutoFit/>
          </a:bodyPr>
          <a:lstStyle/>
          <a:p>
            <a:pPr algn="l"/>
            <a:r>
              <a:rPr sz="900" b="0" i="0">
                <a:solidFill>
                  <a:srgbClr val="29B5E8"/>
                </a:solidFill>
                <a:latin typeface="Calibri"/>
              </a:rPr>
              <a:t>Detail:  20260918_Architecture.md      ·      Grants:  20260918_GrantsNeeded.md      ·      Plan:  20260915_ProjectPlan.md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